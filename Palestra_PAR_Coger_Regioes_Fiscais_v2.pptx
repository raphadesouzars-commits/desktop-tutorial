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e contextualização" id="{627fe3c6-080b-41b6-71b8-e88775458505}">
          <p14:sldIdLst>
            <p14:sldId id="256"/>
            <p14:sldId id="257"/>
          </p14:sldIdLst>
        </p14:section>
        <p14:section name="Marco legal" id="{f4c72cff-ff2c-21de-91a6-71c82caa22b4}">
          <p14:sldIdLst>
            <p14:sldId id="258"/>
            <p14:sldId id="259"/>
            <p14:sldId id="260"/>
            <p14:sldId id="261"/>
            <p14:sldId id="262"/>
            <p14:sldId id="263"/>
            <p14:sldId id="264"/>
            <p14:sldId id="265"/>
            <p14:sldId id="266"/>
            <p14:sldId id="267"/>
          </p14:sldIdLst>
        </p14:section>
        <p14:section name="O que é o PAR na prática" id="{84050139-5330-0006-8c23-51374ecf86ad}">
          <p14:sldIdLst>
            <p14:sldId id="268"/>
            <p14:sldId id="269"/>
            <p14:sldId id="270"/>
          </p14:sldIdLst>
        </p14:section>
        <p14:section name="Dosimetria da sanção" id="{c8fd1832-b83f-b750-b031-8217ad0cf76f}">
          <p14:sldIdLst>
            <p14:sldId id="271"/>
            <p14:sldId id="272"/>
            <p14:sldId id="273"/>
            <p14:sldId id="274"/>
            <p14:sldId id="275"/>
            <p14:sldId id="276"/>
            <p14:sldId id="277"/>
            <p14:sldId id="278"/>
            <p14:sldId id="279"/>
          </p14:sldIdLst>
        </p14:section>
        <p14:section name="Resultados e atuação da Coger" id="{9e5ea758-ccc9-a9d2-930f-3ecf231bd8a9}">
          <p14:sldIdLst>
            <p14:sldId id="280"/>
            <p14:sldId id="281"/>
            <p14:sldId id="282"/>
            <p14:sldId id="283"/>
            <p14:sldId id="284"/>
          </p14:sldIdLst>
        </p14:section>
        <p14:section name="Conformidade e sinergias" id="{f00941fb-8670-888d-2c7a-fa988e028472}">
          <p14:sldIdLst>
            <p14:sldId id="285"/>
            <p14:sldId id="286"/>
            <p14:sldId id="287"/>
            <p14:sldId id="288"/>
            <p14:sldId id="289"/>
            <p14:sldId id="290"/>
            <p14:sldId id="291"/>
            <p14:sldId id="292"/>
            <p14:sldId id="293"/>
            <p14:sldId id="294"/>
            <p14:sldId id="295"/>
            <p14:sldId id="296"/>
            <p14:sldId id="297"/>
            <p14:sldId id="298"/>
          </p14:sldIdLst>
        </p14:section>
        <p14:section name="Caminhos de colaboração" id="{455b34e7-17ab-9ed8-f86d-1d38c95224fd}">
          <p14:sldIdLst>
            <p14:sldId id="299"/>
            <p14:sldId id="300"/>
            <p14:sldId id="301"/>
            <p14:sldId id="302"/>
          </p14:sldIdLst>
        </p14:section>
        <p14:section name="Perguntas e debate" id="{8580eb7e-a361-b292-3e65-893382d99513}">
          <p14:sldIdLst>
            <p14:sldId id="303"/>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Bom dia/tarde a todos. Hoje vamos falar sobre um instrumento que, embora exista desde 2013, ainda é pouco conhecido fora do universo correcional: o PAR — o processo pelo qual a administração pública responsabiliza empresas por atos de corrupção contra ela praticados. A ideia é sair daqui com uma visão clara do que é, como funciona, de onde vem, e por que ele importa também para quem atua na ponta, nesta Região Fiscal. Ao longo da apresentação, vou trazer duas camadas de reflexão: uma institucional, sobre como o PAR dialoga com os programas de conformidade da RFB, e outra bem prática, sobre como e quando representar à Coger — foco de boa parte do que veremos hoje.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se fala em Corregedoria, o primeiro pensamento costuma ser apuração de conduta de servidores. Mas a Coger também apura responsabilidade administrativa de empresas que praticam atos lesivos contra a administração pública. Essa atuação dialoga com toda a política de integridade da RFB — inclusive, como veremos, com o trabalho que Difis, Dipol, Diana e Espei já fazem no dia a dia desta Região.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Lei nº 12.846, de 1º de agosto de 2013, a Lei Anticorrupção, nasceu em um momento histórico específico: forte cobrança social por transparência, em meio às manifestações de 2013. Até então, faltava um instrumento para responsabilizar diretamente a pessoa jurídica. [Ao mostrar a linha do tempo] Esses são os marcos normativos que vamos percorrer ao longo da apresentação — vale guardar essa sequência como referência.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Brasil não inventou essa lógica isoladamente. Desde 1997, o país é signatário da Convenção Anticorrupção da OCDE, internalizada pelo Decreto nº 3.678, de 30 de novembro de 2000. Os Estados Unidos tinham, desde 1977, o FCPA, referência mundial. A Lei nº 12.846, de 2013, veio alinhar o Brasil a um movimento internacional que já vinha se consolidando havia décadas.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conceito mais importante para entender o PAR é a responsabilização objetiva. Não é necessário provar dolo ou culpa da empresa — a responsabilidade decorre do próprio fato de o ato lesivo ter sido praticado em seu benefício, ainda que por terceiros. É uma inovação que gera debate doutrinário, como veremos adiante. Esse ponto também importa para quem for representar à Coger: não é preciso comprovar a intenção da empresa, apenas descrever o fato e o benefício que ele gerou.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quase dez anos, a lei foi regulamentada pelo Decreto nº 8.420, de 2015. Em 2022, foi substituído pelo Decreto nº 11.129, de 11 de julho de 2022, que trouxe mais objetividade à dosimetria da multa — essencial, inclusive, para o desenvolvimento da Calculadora de Sanções da Coger.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artigo 5º não é uma lista aleatória — reflete uma arquitetura pensada pelo legislador, agrupando condutas que tutelam bens jurídicos distintos: da moralidade da função pública, no inciso I, à isonomia licitatória, no inciso IV, passando pela transparência, nos incisos II e III, e pelo poder de polícia do Estado, no inciso V. A doutrina majoritária trata esse rol como taxativo — não cabe enquadrar por analogia uma conduta que não se enquadre literalmente em um desses incisos. Guardem essa estrutura em quatro grupos: é exatamente o que vai nos ajudar, mais à frente, a mapear qual divisão desta Região tende a identificar cada tipo de indício no seu trabalho ordinário.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incisos II e III trazem a expressão "comprovadamente", que não aparece nos incisos I, IV e V. Para a CGU, é apenas exigência de prova do fato em si, sem alterar a natureza objetiva da responsabilidade. Já parte da doutrina argumenta que essa exigência aproxima esses incisos de um standard probatório mais rigoroso, quase subjetivo.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comum confundir o PAR com outros instrumentos. A Lei de Improbidade, Lei nº 8.429, de 1992, com as alterações da Lei nº 14.230, de 25 de outubro de 2021, atinge agentes públicos e terceiros, mas exige dolo. O TCU atua sobre dano ao erário. O processo penal recai, em regra, sobre pessoas físicas. O PAR é o único com responsabilização objetiva da pessoa jurídica.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Pode uma mesma empresa responder simultaneamente pela Lei Anticorrupção e pela Lei de Improbidade? Durante anos, isso foi um debate aberto na doutrina e na jurisprudência.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debate foi, em grande medida, pacificado pela Lei nº 14.230, de 25 de outubro de 2021, que inseriu o parágrafo 2º ao artigo 3º da LIA, vedando expressamente a cumulação de sanções contra pessoa jurídica já sancionada com base na Lei nº 12.846, de 2013, pelo mesmo fato.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precedentes valem destaque. No STJ, o Recurso Especial 1.803.585-RN reforça a independência entre as esferas administrativa e judicial. No TCU, o Acórdão 225/2015-Plenário trata da interface entre a apuração de dano ao erário e os acordos de leniência da Lei Anticorrupção.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PAR segue um fluxo bem definido, com prazo legal de referência de 180 dias. Não vou me deter no detalhe de cada etapa interna — a condução do processo é atribuição própria da Coger. O que importa para vocês é o que acontece logo na entrada, com a Investigação Preliminar, e o que está em jogo ao final, com CEIS e CNEP.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instaurar o processo, a administração pode realizar investigação preliminar sigilosa, para não expor a empresa a um processo público sem indícios mínimos consistentes. Isso importa para quem for representar à Coger: o sigilo dessa fase significa que um indício encaminhado, mesmo que ao final não se confirme, não expõe publicamente nem a empresa, nem a divisão que o identificou. Vou retomar esse ponto no Bloco 7, quando falarmos sobre como representar na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comum dizer que a lei "criou" o CEIS — não é exatamente isso. O CEIS já existia, criado administrativamente pela CGU em 2008. A lei tornou obrigatório o registro no artigo 23. Já o CNEP foi efetivamente instituído pela própria lei. Vale terem em mente esse efeito final: é isso que está em jogo quando um indício identificado por vocês chega até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multa tem como base o faturamento bruto no último exercício anterior à instauração, entre 0,1% 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bloco de não incidência evita que uma mesma circunstância seja contabilizada duas vezes, distorcendo o resultado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os agravantes: reincidência, interrupção de serviço público essencial em razão do ato, tolerância ou participação da alta administração.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Comunicação espontânea antes da instauração, colaboração efetiva, cessação da prática ilícita — fatores que conectam diretamente com a lógica de conformidade que veremos no bloco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[Inserir 1-2 casos ilustrativos, sem identificar 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art. 23, V, do Decreto nº 11.129, de 2022, prevê redução de até 5% da multa por Programa de Integridade eficaz, avaliado em três eixos: comprometimento da organização, mecanismos e procedimentos, e atuação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Portaria Conjunta CGU/STPC nº 6, de 9 de setembro de 2022, estabeleceu que, quando o resultado da planilha atinge 1% ou mais, esse percentual deve ser multiplicado por 1,25 — ajuste ao novo teto de 5%. Esse detalhe é frequentemente esquecido, e é por isso que a Calculadora de Sanções aplica esse fator automaticamente. [FRASE-SEMENTE — dizer com ênfase e pausa]: "Vale registrar algo para guardarmos: esse fluxo de informação anda hoje em uma única via — é a governança da empresa, apurada dentro do PAR, que reduz a sanção. Mais à frente, quando falarmos dos programas de conformidade da RFB, vou voltar a essa observação."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Diante dessa complexidade, a Coger desenvolveu a Calculadora de Sanções, com 14 passos sequenciais. Não faremos demonstração ao vivo, mas quero que entendam 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lógica segue a estrutura da norma: define-se a base, aplicam-se individualmente os fatores de ajuste, e por fim os limites até o valor final consolidado.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[Linha do tempo com dados reais; priorizar recorte regional se houver.]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indicadores-chave; priorizar recorte regional.]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[Priorizar caso desta RF, se existir e puder ser citado de forma anonimizada.]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reconhecer os desafios: complexidade probatória em grupos econômicos multinacionais, capacitação continuada, e padronização metodológica.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trabalho foi submetido ao Concurso de Boas Práticas Correcionais da CGU/CRG.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PAR não é um instrumento isolado da Coger — integra uma política mais ampla da RFB. De um lado, a atuação repressiva e corretiva; de outro, uma série de programas que atuam preventivamente.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Até 2026, Confia, Sintonia e OEA existiam basicamente por portaria e instrução normativa. Isso mudou com a Lei Complementar nº 225, de 8 de janeiro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Confia eleva a relação entre fisco e contribuinte a um patamar de diálogo direto.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Enquanto o Confia é restrito a grandes contribuintes, o Sintonia alcança todos, com classificação objetiva e transparente.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OEA é o programa de conformidade mais consolidado da RFB, com reformulação em curso para níveis diferenciados.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Receita de Consenso evita a judicialização de conflitos antes que se tornem litígio 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[RESGATE DA SEMENTE]: "Lembram que, lá na dosimetria, eu disse que esse fluxo de informação era de mão única? Assim como o Programa de Integridade reduz a multa no PAR, o histórico de boa governança abre as portas dos programas de conformidade. Mas note: em ambos os casos, a via ainda corre no mesmo sentido — da governança para o benefício."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Confia, um PAR concluído por fraude tributária atinge o pré-requisito de "sistema de gestão em vigor". No OEA, a correlação é mais direta quando envolve comércio exterior. No Sintonia, nenhum dos pilares atuais contempla resultado de 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própria LC nº 225, de 2026, trouxe um contraponto repressivo específico — o Devedor Contumaz — dentro da política de conformidade. Isso me leva à reflexão com a qual quero fechar a parte institucional deste bloco.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o Devedor Contumaz mostra que a RFB já reconhece um critério repressivo próprio dentro da política de conformidade, por que o PAR ainda não dialoga formalmente com Confia, Sintonia e OEA? Não estou propondo um critério fechado — é uma reflexão institucional, um convite ao debate, que levo aos órgãos centrais. Quero agora descer para um terreno bem mais concreto: quatro frentes operacionais onde a sinergia com a Coger já poderia começar amanhã, aqui nesta Região.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dia a dia da fiscalização, vocês frequentemente esbarram em situações que vão além do objeto estrito da autuação tributária. Não estou pedindo que a fiscalização mude seu foco — só que, quando esse tipo de indício aparecer, exista um caminho simples e conhecido para encaminhá-lo.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Quem acompanha de perto a condução de um pregão ou a execução de um contrato tem uma visão privilegiada para perceber sinais que, isoladamente, passariam despercebidos.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Diana frequentemente identifica, na análise de canal vermelho ou em procedimentos de fiscalização aduaneira especial, elementos que hoje se esgotam na consequência aduaneira, sem avaliação do ato lesivo autônomo associado. Um canal com a Coger permite tratar essas duas esferas de forma coordenada — sem prejuízo da independência entre 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as quatro sinergias que trago hoje, a da Espei é talvez a mais direta de todas. Um relatório de inteligência e investigação, por definição, já reúne elementos de autoria e materialidade — muitas vezes é praticamente o insumo que a Coger precisaria para avaliar a abertura de uma Investigação Preliminar. O que falta não é capacidade técnica — é um canal formal e conhecido até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slide mais prático de toda a apresentação. Uma representação não precisa ser um trabalho de investigação pronto — precisa apenas descrever o fato, indicar o inciso do art. 5º que parece se aplicar, anexar o que já estiver disponível, e identificar a empresa. A partir daí, é trabalho da Coger. E, como vimos no Bloco 3, o sigilo da Investigação Preliminar protege tanto a divisão que representou quanto a empresa envolvida.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sinergias que trouxe — fiscalização, licitações, aduana e inteligência — não avançam se ficarem apenas na reflexão. Deixo um convite concreto: que Difis, Dipol, Diana e Espei desta Região indiquem, cada uma, um ponto de contato para a Coger.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objetivo da Coger, ao atuar no PAR, não é punir por punir — é fortalecer a integridade do ambiente de negócios.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Encerro com uma mensagem simples: o PAR não deve ser visto como instrumento isolado da Coger, mas como parte de um ecossistema maior de integridade que a RFB vem construindo — do qual a fiscalização, a logística, a aduana e a inteligência desta Região também fazem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Abro agora para perguntas e comentários — inclusive sobre o canal de comunicação que acabei de propor.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Muito obrigado(a) pela atenção de todos. Estamos à disposição pelos canais institucionais da Coger.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U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8229600" cy="73152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URO">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7680960" cy="14630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731520" y="2880360"/>
            <a:ext cx="768096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Motivo"/>
          <p:cNvSpPr/>
          <p:nvPr/>
        </p:nvSpPr>
        <p:spPr>
          <a:xfrm>
            <a:off x="7406640" y="-822960"/>
            <a:ext cx="2926080" cy="2926080"/>
          </a:xfrm>
          <a:prstGeom prst="ellipse">
            <a:avLst/>
          </a:prstGeom>
          <a:solidFill>
            <a:schemeClr val="accent1">
              <a:alpha val="30000"/>
            </a:schemeClr>
          </a:solidFill>
          <a:ln w="12700">
            <a:solidFill>
              <a:schemeClr val="accent1">
                <a:alpha val="30000"/>
              </a:schemeClr>
            </a:solidFill>
            <a:prstDash val="solid"/>
          </a:ln>
        </p:spPr>
      </p:sp>
      <p:sp>
        <p:nvSpPr>
          <p:cNvPr id="4" name="Text 1"/>
          <p:cNvSpPr txBox="1"/>
          <p:nvPr/>
        </p:nvSpPr>
        <p:spPr>
          <a:xfrm>
            <a:off x="731520" y="640080"/>
            <a:ext cx="54864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PAR · COGER/RFB</a:t>
            </a:r>
            <a:endParaRPr lang="en-US" sz="1200" dirty="0"/>
          </a:p>
        </p:txBody>
      </p:sp>
      <p:sp>
        <p:nvSpPr>
          <p:cNvPr id="5" name="Text 0"/>
          <p:cNvSpPr/>
          <p:nvPr>
            <p:ph idx="100" type="title" hasCustomPrompt="1"/>
          </p:nvPr>
        </p:nvSpPr>
        <p:spPr>
          <a:xfrm>
            <a:off x="731520" y="1188720"/>
            <a:ext cx="7680960" cy="1463040"/>
          </a:xfrm>
          <a:prstGeom prst="rect">
            <a:avLst/>
          </a:prstGeom>
          <a:noFill/>
          <a:ln/>
        </p:spPr>
        <p:txBody>
          <a:bodyPr wrap="square" lIns="0" tIns="0" rIns="0" bIns="0" rtlCol="0" anchor="b"/>
          <a:lstStyle/>
          <a:p>
            <a:pPr indent="0" marL="0">
              <a:buNone/>
            </a:pPr>
            <a:r>
              <a:rPr lang="en-US" sz="3400" b="1" dirty="0">
                <a:solidFill>
                  <a:schemeClr val="bg1"/>
                </a:solidFill>
              </a:rPr>
              <a:t>O Processo Administrativo de Responsabilização (PAR) na RFB</a:t>
            </a:r>
            <a:endParaRPr lang="en-US" sz="3400" dirty="0"/>
          </a:p>
        </p:txBody>
      </p:sp>
      <p:sp>
        <p:nvSpPr>
          <p:cNvPr id="6" name="Text 0"/>
          <p:cNvSpPr/>
          <p:nvPr>
            <p:ph idx="101" type="body" hasCustomPrompt="1"/>
          </p:nvPr>
        </p:nvSpPr>
        <p:spPr>
          <a:xfrm>
            <a:off x="731520" y="2880360"/>
            <a:ext cx="7680960" cy="822960"/>
          </a:xfrm>
          <a:prstGeom prst="rect">
            <a:avLst/>
          </a:prstGeom>
          <a:noFill/>
          <a:ln/>
        </p:spPr>
        <p:txBody>
          <a:bodyPr wrap="square" lIns="0" tIns="0" rIns="0" bIns="0" rtlCol="0" anchor="t"/>
          <a:lstStyle/>
          <a:p>
            <a:pPr indent="0" marL="0">
              <a:buNone/>
            </a:pPr>
            <a:r>
              <a:rPr lang="en-US" sz="1800" dirty="0">
                <a:solidFill>
                  <a:schemeClr val="bg2"/>
                </a:solidFill>
              </a:rPr>
              <a:t>Atuação da Corregedoria (Coger) na apuração de responsabilidade de pessoas jurídicas</a:t>
            </a:r>
            <a:endParaRPr lang="en-US" sz="1800" dirty="0"/>
          </a:p>
        </p:txBody>
      </p:sp>
      <p:sp>
        <p:nvSpPr>
          <p:cNvPr id="7" name="Text 4"/>
          <p:cNvSpPr txBox="1"/>
          <p:nvPr/>
        </p:nvSpPr>
        <p:spPr>
          <a:xfrm>
            <a:off x="731520" y="4297680"/>
            <a:ext cx="7680960" cy="365760"/>
          </a:xfrm>
          <a:prstGeom prst="rect">
            <a:avLst/>
          </a:prstGeom>
          <a:noFill/>
          <a:ln/>
        </p:spPr>
        <p:txBody>
          <a:bodyPr wrap="square" lIns="0" tIns="0" rIns="0" bIns="0" rtlCol="0" anchor="ctr"/>
          <a:lstStyle/>
          <a:p>
            <a:pPr indent="0" marL="0">
              <a:buNone/>
            </a:pPr>
            <a:r>
              <a:rPr lang="en-US" sz="1200" dirty="0">
                <a:solidFill>
                  <a:schemeClr val="bg2"/>
                </a:solidFill>
              </a:rPr>
              <a:t>[Nome do palestrante] | Coger/RFB | [Nome da Região Fiscal] |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ABERTURA E CONTEXTUALIZAÇÃO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Por que a Coger fala sobre isso?</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Corregedoria: também responsável por apurar responsabilidade de pessoas jurídicas, não só de servidores</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dirty="0">
                <a:solidFill>
                  <a:schemeClr val="tx1"/>
                </a:solidFill>
              </a:rPr>
              <a:t>PAR integra o sistema nacional de combate à corrupção e de integridade pública</a:t>
            </a:r>
            <a:endParaRPr lang="en-US" sz="1800" dirty="0"/>
          </a:p>
        </p:txBody>
      </p:sp>
      <p:sp>
        <p:nvSpPr>
          <p:cNvPr id="13" name="Card 3"/>
          <p:cNvSpPr/>
          <p:nvPr/>
        </p:nvSpPr>
        <p:spPr>
          <a:xfrm>
            <a:off x="457200" y="3529584"/>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74446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7444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29584"/>
            <a:ext cx="7498080" cy="740664"/>
          </a:xfrm>
          <a:prstGeom prst="rect">
            <a:avLst/>
          </a:prstGeom>
          <a:noFill/>
          <a:ln/>
        </p:spPr>
        <p:txBody>
          <a:bodyPr wrap="square" lIns="0" tIns="0" rIns="0" bIns="0" rtlCol="0" anchor="ctr"/>
          <a:lstStyle/>
          <a:p>
            <a:pPr indent="0" marL="0">
              <a:buNone/>
            </a:pPr>
            <a:r>
              <a:rPr lang="en-US" sz="1800" dirty="0">
                <a:solidFill>
                  <a:schemeClr val="tx1"/>
                </a:solidFill>
              </a:rPr>
              <a:t>Conexão direta com a missão da RFB: relação íntegra entre fisco e contribuintes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 Lei Anticorrupção: contexto de criação</a:t>
            </a:r>
            <a:endParaRPr lang="en-US" sz="2400" dirty="0"/>
          </a:p>
        </p:txBody>
      </p:sp>
      <p:sp>
        <p:nvSpPr>
          <p:cNvPr id="5" name="Card 1"/>
          <p:cNvSpPr/>
          <p:nvPr/>
        </p:nvSpPr>
        <p:spPr>
          <a:xfrm>
            <a:off x="457200" y="1463040"/>
            <a:ext cx="3931920" cy="647700"/>
          </a:xfrm>
          <a:prstGeom prst="roundRect">
            <a:avLst>
              <a:gd name="adj" fmla="val 11294"/>
            </a:avLst>
          </a:prstGeom>
          <a:solidFill>
            <a:schemeClr val="bg2"/>
          </a:solidFill>
          <a:ln w="12700">
            <a:solidFill>
              <a:schemeClr val="bg2"/>
            </a:solidFill>
            <a:prstDash val="solid"/>
          </a:ln>
        </p:spPr>
      </p:sp>
      <p:sp>
        <p:nvSpPr>
          <p:cNvPr id="6" name="Badge 1"/>
          <p:cNvSpPr/>
          <p:nvPr/>
        </p:nvSpPr>
        <p:spPr>
          <a:xfrm>
            <a:off x="585216" y="163144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3144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3200400" cy="647700"/>
          </a:xfrm>
          <a:prstGeom prst="rect">
            <a:avLst/>
          </a:prstGeom>
          <a:noFill/>
          <a:ln/>
        </p:spPr>
        <p:txBody>
          <a:bodyPr wrap="square" lIns="0" tIns="0" rIns="0" bIns="0" rtlCol="0" anchor="ctr"/>
          <a:lstStyle/>
          <a:p>
            <a:pPr indent="0" marL="0">
              <a:buNone/>
            </a:pPr>
            <a:r>
              <a:rPr lang="en-US" sz="1500" dirty="0">
                <a:solidFill>
                  <a:schemeClr val="tx1"/>
                </a:solidFill>
              </a:rPr>
              <a:t>Lei nº 12.846, de 1º de agosto de 2013</a:t>
            </a:r>
            <a:endParaRPr lang="en-US" sz="1500" dirty="0"/>
          </a:p>
        </p:txBody>
      </p:sp>
      <p:sp>
        <p:nvSpPr>
          <p:cNvPr id="9" name="Card 2"/>
          <p:cNvSpPr/>
          <p:nvPr/>
        </p:nvSpPr>
        <p:spPr>
          <a:xfrm>
            <a:off x="457200" y="2274570"/>
            <a:ext cx="3931920" cy="1112520"/>
          </a:xfrm>
          <a:prstGeom prst="roundRect">
            <a:avLst>
              <a:gd name="adj" fmla="val 6575"/>
            </a:avLst>
          </a:prstGeom>
          <a:solidFill>
            <a:schemeClr val="bg2"/>
          </a:solidFill>
          <a:ln w="12700">
            <a:solidFill>
              <a:schemeClr val="bg2"/>
            </a:solidFill>
            <a:prstDash val="solid"/>
          </a:ln>
        </p:spPr>
      </p:sp>
      <p:sp>
        <p:nvSpPr>
          <p:cNvPr id="10" name="Badge 2"/>
          <p:cNvSpPr/>
          <p:nvPr/>
        </p:nvSpPr>
        <p:spPr>
          <a:xfrm>
            <a:off x="585216" y="267538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67538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74570"/>
            <a:ext cx="3200400" cy="1112520"/>
          </a:xfrm>
          <a:prstGeom prst="rect">
            <a:avLst/>
          </a:prstGeom>
          <a:noFill/>
          <a:ln/>
        </p:spPr>
        <p:txBody>
          <a:bodyPr wrap="square" lIns="0" tIns="0" rIns="0" bIns="0" rtlCol="0" anchor="ctr"/>
          <a:lstStyle/>
          <a:p>
            <a:pPr indent="0" marL="0">
              <a:buNone/>
            </a:pPr>
            <a:r>
              <a:rPr lang="en-US" sz="1500" dirty="0">
                <a:solidFill>
                  <a:schemeClr val="tx1"/>
                </a:solidFill>
              </a:rPr>
              <a:t>Editada no contexto pós-Jornadas de Junho de 2013, sob forte pressão social por combate à corrupção corporativa</a:t>
            </a:r>
            <a:endParaRPr lang="en-US" sz="1500" dirty="0"/>
          </a:p>
        </p:txBody>
      </p:sp>
      <p:sp>
        <p:nvSpPr>
          <p:cNvPr id="13" name="Card 3"/>
          <p:cNvSpPr/>
          <p:nvPr/>
        </p:nvSpPr>
        <p:spPr>
          <a:xfrm>
            <a:off x="457200" y="3550920"/>
            <a:ext cx="3931920" cy="1112520"/>
          </a:xfrm>
          <a:prstGeom prst="roundRect">
            <a:avLst>
              <a:gd name="adj" fmla="val 6575"/>
            </a:avLst>
          </a:prstGeom>
          <a:solidFill>
            <a:schemeClr val="bg2"/>
          </a:solidFill>
          <a:ln w="12700">
            <a:solidFill>
              <a:schemeClr val="bg2"/>
            </a:solidFill>
            <a:prstDash val="solid"/>
          </a:ln>
        </p:spPr>
      </p:sp>
      <p:sp>
        <p:nvSpPr>
          <p:cNvPr id="14" name="Badge 3"/>
          <p:cNvSpPr/>
          <p:nvPr/>
        </p:nvSpPr>
        <p:spPr>
          <a:xfrm>
            <a:off x="585216" y="3951732"/>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95173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50920"/>
            <a:ext cx="3200400" cy="1112520"/>
          </a:xfrm>
          <a:prstGeom prst="rect">
            <a:avLst/>
          </a:prstGeom>
          <a:noFill/>
          <a:ln/>
        </p:spPr>
        <p:txBody>
          <a:bodyPr wrap="square" lIns="0" tIns="0" rIns="0" bIns="0" rtlCol="0" anchor="ctr"/>
          <a:lstStyle/>
          <a:p>
            <a:pPr indent="0" marL="0">
              <a:buNone/>
            </a:pPr>
            <a:r>
              <a:rPr lang="en-US" sz="1500" dirty="0">
                <a:solidFill>
                  <a:schemeClr val="tx1"/>
                </a:solidFill>
              </a:rPr>
              <a:t>Primeira norma brasileira a responsabilizar objetivamente pessoas jurídicas por atos de corrupção</a:t>
            </a:r>
            <a:endParaRPr lang="en-US" sz="1500" dirty="0"/>
          </a:p>
        </p:txBody>
      </p:sp>
      <p:sp>
        <p:nvSpPr>
          <p:cNvPr id="17" name="Linha do tempo"/>
          <p:cNvSpPr/>
          <p:nvPr/>
        </p:nvSpPr>
        <p:spPr>
          <a:xfrm>
            <a:off x="4828032" y="1691640"/>
            <a:ext cx="0" cy="2560320"/>
          </a:xfrm>
          <a:prstGeom prst="line">
            <a:avLst/>
          </a:prstGeom>
          <a:noFill/>
          <a:ln w="19050">
            <a:solidFill>
              <a:schemeClr val="accent5"/>
            </a:solidFill>
            <a:prstDash val="solid"/>
          </a:ln>
        </p:spPr>
      </p:sp>
      <p:sp>
        <p:nvSpPr>
          <p:cNvPr id="18" name="Marco 1"/>
          <p:cNvSpPr/>
          <p:nvPr/>
        </p:nvSpPr>
        <p:spPr>
          <a:xfrm>
            <a:off x="4709160" y="1572768"/>
            <a:ext cx="237744" cy="237744"/>
          </a:xfrm>
          <a:prstGeom prst="ellipse">
            <a:avLst/>
          </a:prstGeom>
          <a:solidFill>
            <a:schemeClr val="accent1"/>
          </a:solidFill>
          <a:ln w="19050">
            <a:solidFill>
              <a:schemeClr val="bg1"/>
            </a:solidFill>
            <a:prstDash val="solid"/>
          </a:ln>
        </p:spPr>
      </p:sp>
      <p:sp>
        <p:nvSpPr>
          <p:cNvPr id="19" name="Text 16"/>
          <p:cNvSpPr txBox="1"/>
          <p:nvPr/>
        </p:nvSpPr>
        <p:spPr>
          <a:xfrm>
            <a:off x="5074920" y="1463040"/>
            <a:ext cx="3657600" cy="457200"/>
          </a:xfrm>
          <a:prstGeom prst="rect">
            <a:avLst/>
          </a:prstGeom>
          <a:noFill/>
          <a:ln/>
        </p:spPr>
        <p:txBody>
          <a:bodyPr wrap="square" lIns="0" tIns="0" rIns="0" bIns="0" rtlCol="0" anchor="ctr"/>
          <a:lstStyle/>
          <a:p>
            <a:pPr indent="0" marL="0">
              <a:buNone/>
            </a:pPr>
            <a:r>
              <a:rPr lang="en-US" sz="1050" b="1" dirty="0">
                <a:solidFill>
                  <a:schemeClr val="accent1"/>
                </a:solidFill>
              </a:rPr>
              <a:t>2013  </a:t>
            </a:r>
            <a:pPr indent="0" marL="0">
              <a:buNone/>
            </a:pPr>
            <a:r>
              <a:rPr lang="en-US" sz="1050" dirty="0">
                <a:solidFill>
                  <a:schemeClr val="tx1"/>
                </a:solidFill>
              </a:rPr>
              <a:t>Lei nº 12.846, de 1º de agosto de 2013 — marco fundador</a:t>
            </a:r>
            <a:endParaRPr lang="en-US" sz="1050" dirty="0"/>
          </a:p>
        </p:txBody>
      </p:sp>
      <p:sp>
        <p:nvSpPr>
          <p:cNvPr id="20" name="Marco 2"/>
          <p:cNvSpPr/>
          <p:nvPr/>
        </p:nvSpPr>
        <p:spPr>
          <a:xfrm>
            <a:off x="4709160" y="2084832"/>
            <a:ext cx="237744" cy="237744"/>
          </a:xfrm>
          <a:prstGeom prst="ellipse">
            <a:avLst/>
          </a:prstGeom>
          <a:solidFill>
            <a:schemeClr val="accent1"/>
          </a:solidFill>
          <a:ln w="19050">
            <a:solidFill>
              <a:schemeClr val="bg1"/>
            </a:solidFill>
            <a:prstDash val="solid"/>
          </a:ln>
        </p:spPr>
      </p:sp>
      <p:sp>
        <p:nvSpPr>
          <p:cNvPr id="21" name="Text 18"/>
          <p:cNvSpPr txBox="1"/>
          <p:nvPr/>
        </p:nvSpPr>
        <p:spPr>
          <a:xfrm>
            <a:off x="5074920" y="1975104"/>
            <a:ext cx="3657600" cy="457200"/>
          </a:xfrm>
          <a:prstGeom prst="rect">
            <a:avLst/>
          </a:prstGeom>
          <a:noFill/>
          <a:ln/>
        </p:spPr>
        <p:txBody>
          <a:bodyPr wrap="square" lIns="0" tIns="0" rIns="0" bIns="0" rtlCol="0" anchor="ctr"/>
          <a:lstStyle/>
          <a:p>
            <a:pPr indent="0" marL="0">
              <a:buNone/>
            </a:pPr>
            <a:r>
              <a:rPr lang="en-US" sz="1050" b="1" dirty="0">
                <a:solidFill>
                  <a:schemeClr val="accent1"/>
                </a:solidFill>
              </a:rPr>
              <a:t>2015  </a:t>
            </a:r>
            <a:pPr indent="0" marL="0">
              <a:buNone/>
            </a:pPr>
            <a:r>
              <a:rPr lang="en-US" sz="1050" dirty="0">
                <a:solidFill>
                  <a:schemeClr val="tx1"/>
                </a:solidFill>
              </a:rPr>
              <a:t>Decreto nº 8.420, de 18 de março de 2015 — primeira regulamentação</a:t>
            </a:r>
            <a:endParaRPr lang="en-US" sz="1050" dirty="0"/>
          </a:p>
        </p:txBody>
      </p:sp>
      <p:sp>
        <p:nvSpPr>
          <p:cNvPr id="22" name="Marco 3"/>
          <p:cNvSpPr/>
          <p:nvPr/>
        </p:nvSpPr>
        <p:spPr>
          <a:xfrm>
            <a:off x="4709160" y="2596896"/>
            <a:ext cx="237744" cy="237744"/>
          </a:xfrm>
          <a:prstGeom prst="ellipse">
            <a:avLst/>
          </a:prstGeom>
          <a:solidFill>
            <a:schemeClr val="accent1"/>
          </a:solidFill>
          <a:ln w="19050">
            <a:solidFill>
              <a:schemeClr val="bg1"/>
            </a:solidFill>
            <a:prstDash val="solid"/>
          </a:ln>
        </p:spPr>
      </p:sp>
      <p:sp>
        <p:nvSpPr>
          <p:cNvPr id="23" name="Text 20"/>
          <p:cNvSpPr txBox="1"/>
          <p:nvPr/>
        </p:nvSpPr>
        <p:spPr>
          <a:xfrm>
            <a:off x="5074920" y="2487168"/>
            <a:ext cx="3657600" cy="457200"/>
          </a:xfrm>
          <a:prstGeom prst="rect">
            <a:avLst/>
          </a:prstGeom>
          <a:noFill/>
          <a:ln/>
        </p:spPr>
        <p:txBody>
          <a:bodyPr wrap="square" lIns="0" tIns="0" rIns="0" bIns="0" rtlCol="0" anchor="ctr"/>
          <a:lstStyle/>
          <a:p>
            <a:pPr indent="0" marL="0">
              <a:buNone/>
            </a:pPr>
            <a:r>
              <a:rPr lang="en-US" sz="1050" b="1" dirty="0">
                <a:solidFill>
                  <a:schemeClr val="accent1"/>
                </a:solidFill>
              </a:rPr>
              <a:t>2021  </a:t>
            </a:r>
            <a:pPr indent="0" marL="0">
              <a:buNone/>
            </a:pPr>
            <a:r>
              <a:rPr lang="en-US" sz="1050" dirty="0">
                <a:solidFill>
                  <a:schemeClr val="tx1"/>
                </a:solidFill>
              </a:rPr>
              <a:t>Lei nº 14.230, de 25 de outubro de 2021 — veda cumulação de sanções LAC/LIA</a:t>
            </a:r>
            <a:endParaRPr lang="en-US" sz="1050" dirty="0"/>
          </a:p>
        </p:txBody>
      </p:sp>
      <p:sp>
        <p:nvSpPr>
          <p:cNvPr id="24" name="Marco 4"/>
          <p:cNvSpPr/>
          <p:nvPr/>
        </p:nvSpPr>
        <p:spPr>
          <a:xfrm>
            <a:off x="4709160" y="3108960"/>
            <a:ext cx="237744" cy="237744"/>
          </a:xfrm>
          <a:prstGeom prst="ellipse">
            <a:avLst/>
          </a:prstGeom>
          <a:solidFill>
            <a:schemeClr val="accent1"/>
          </a:solidFill>
          <a:ln w="19050">
            <a:solidFill>
              <a:schemeClr val="bg1"/>
            </a:solidFill>
            <a:prstDash val="solid"/>
          </a:ln>
        </p:spPr>
      </p:sp>
      <p:sp>
        <p:nvSpPr>
          <p:cNvPr id="25" name="Text 22"/>
          <p:cNvSpPr txBox="1"/>
          <p:nvPr/>
        </p:nvSpPr>
        <p:spPr>
          <a:xfrm>
            <a:off x="5074920" y="2999232"/>
            <a:ext cx="3657600" cy="457200"/>
          </a:xfrm>
          <a:prstGeom prst="rect">
            <a:avLst/>
          </a:prstGeom>
          <a:noFill/>
          <a:ln/>
        </p:spPr>
        <p:txBody>
          <a:bodyPr wrap="square" lIns="0" tIns="0" rIns="0" bIns="0" rtlCol="0" anchor="ctr"/>
          <a:lstStyle/>
          <a:p>
            <a:pPr indent="0" marL="0">
              <a:buNone/>
            </a:pPr>
            <a:r>
              <a:rPr lang="en-US" sz="1050" b="1" dirty="0">
                <a:solidFill>
                  <a:schemeClr val="accent1"/>
                </a:solidFill>
              </a:rPr>
              <a:t>2022  </a:t>
            </a:r>
            <a:pPr indent="0" marL="0">
              <a:buNone/>
            </a:pPr>
            <a:r>
              <a:rPr lang="en-US" sz="1050" dirty="0">
                <a:solidFill>
                  <a:schemeClr val="tx1"/>
                </a:solidFill>
              </a:rPr>
              <a:t>Decreto nº 11.129, de 11 de julho de 2022 — nova regulamentação</a:t>
            </a:r>
            <a:endParaRPr lang="en-US" sz="1050" dirty="0"/>
          </a:p>
        </p:txBody>
      </p:sp>
      <p:sp>
        <p:nvSpPr>
          <p:cNvPr id="26" name="Marco 5"/>
          <p:cNvSpPr/>
          <p:nvPr/>
        </p:nvSpPr>
        <p:spPr>
          <a:xfrm>
            <a:off x="4709160" y="3621024"/>
            <a:ext cx="237744" cy="237744"/>
          </a:xfrm>
          <a:prstGeom prst="ellipse">
            <a:avLst/>
          </a:prstGeom>
          <a:solidFill>
            <a:schemeClr val="accent1"/>
          </a:solidFill>
          <a:ln w="19050">
            <a:solidFill>
              <a:schemeClr val="bg1"/>
            </a:solidFill>
            <a:prstDash val="solid"/>
          </a:ln>
        </p:spPr>
      </p:sp>
      <p:sp>
        <p:nvSpPr>
          <p:cNvPr id="27" name="Text 24"/>
          <p:cNvSpPr txBox="1"/>
          <p:nvPr/>
        </p:nvSpPr>
        <p:spPr>
          <a:xfrm>
            <a:off x="5074920" y="3511296"/>
            <a:ext cx="3657600" cy="457200"/>
          </a:xfrm>
          <a:prstGeom prst="rect">
            <a:avLst/>
          </a:prstGeom>
          <a:noFill/>
          <a:ln/>
        </p:spPr>
        <p:txBody>
          <a:bodyPr wrap="square" lIns="0" tIns="0" rIns="0" bIns="0" rtlCol="0" anchor="ctr"/>
          <a:lstStyle/>
          <a:p>
            <a:pPr indent="0" marL="0">
              <a:buNone/>
            </a:pPr>
            <a:r>
              <a:rPr lang="en-US" sz="1050" b="1" dirty="0">
                <a:solidFill>
                  <a:schemeClr val="accent1"/>
                </a:solidFill>
              </a:rPr>
              <a:t>2022  </a:t>
            </a:r>
            <a:pPr indent="0" marL="0">
              <a:buNone/>
            </a:pPr>
            <a:r>
              <a:rPr lang="en-US" sz="1050" dirty="0">
                <a:solidFill>
                  <a:schemeClr val="tx1"/>
                </a:solidFill>
              </a:rPr>
              <a:t>Portaria Conjunta CGU/STPC nº 6, de 9 de setembro de 2022 — multiplicador de integridade</a:t>
            </a:r>
            <a:endParaRPr lang="en-US" sz="1050" dirty="0"/>
          </a:p>
        </p:txBody>
      </p:sp>
      <p:sp>
        <p:nvSpPr>
          <p:cNvPr id="28" name="Marco 6"/>
          <p:cNvSpPr/>
          <p:nvPr/>
        </p:nvSpPr>
        <p:spPr>
          <a:xfrm>
            <a:off x="4709160" y="4133088"/>
            <a:ext cx="237744" cy="237744"/>
          </a:xfrm>
          <a:prstGeom prst="ellipse">
            <a:avLst/>
          </a:prstGeom>
          <a:solidFill>
            <a:schemeClr val="accent2"/>
          </a:solidFill>
          <a:ln w="19050">
            <a:solidFill>
              <a:schemeClr val="bg1"/>
            </a:solidFill>
            <a:prstDash val="solid"/>
          </a:ln>
        </p:spPr>
      </p:sp>
      <p:sp>
        <p:nvSpPr>
          <p:cNvPr id="29" name="Text 26"/>
          <p:cNvSpPr txBox="1"/>
          <p:nvPr/>
        </p:nvSpPr>
        <p:spPr>
          <a:xfrm>
            <a:off x="5074920" y="4023360"/>
            <a:ext cx="3657600" cy="457200"/>
          </a:xfrm>
          <a:prstGeom prst="rect">
            <a:avLst/>
          </a:prstGeom>
          <a:noFill/>
          <a:ln/>
        </p:spPr>
        <p:txBody>
          <a:bodyPr wrap="square" lIns="0" tIns="0" rIns="0" bIns="0" rtlCol="0" anchor="ctr"/>
          <a:lstStyle/>
          <a:p>
            <a:pPr indent="0" marL="0">
              <a:buNone/>
            </a:pPr>
            <a:r>
              <a:rPr lang="en-US" sz="1050" b="1" dirty="0">
                <a:solidFill>
                  <a:schemeClr val="accent1"/>
                </a:solidFill>
              </a:rPr>
              <a:t>Hoje  </a:t>
            </a:r>
            <a:pPr indent="0" marL="0">
              <a:buNone/>
            </a:pPr>
            <a:r>
              <a:rPr lang="en-US" sz="1050" dirty="0">
                <a:solidFill>
                  <a:schemeClr val="tx1"/>
                </a:solidFill>
              </a:rPr>
              <a:t>Atuação consolidada da Coger/RFB, com metodologia própria de dosimetria</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Pressão internacional e evolução do combate à corrupção corporativa</a:t>
            </a:r>
            <a:endParaRPr lang="en-US" sz="2400" dirty="0"/>
          </a:p>
        </p:txBody>
      </p:sp>
      <p:sp>
        <p:nvSpPr>
          <p:cNvPr id="5" name="Card 1"/>
          <p:cNvSpPr/>
          <p:nvPr/>
        </p:nvSpPr>
        <p:spPr>
          <a:xfrm>
            <a:off x="457200" y="1463040"/>
            <a:ext cx="8229600" cy="1298448"/>
          </a:xfrm>
          <a:prstGeom prst="roundRect">
            <a:avLst>
              <a:gd name="adj" fmla="val 5634"/>
            </a:avLst>
          </a:prstGeom>
          <a:solidFill>
            <a:schemeClr val="bg2"/>
          </a:solidFill>
          <a:ln w="12700">
            <a:solidFill>
              <a:schemeClr val="bg2"/>
            </a:solidFill>
            <a:prstDash val="solid"/>
          </a:ln>
        </p:spPr>
      </p:sp>
      <p:sp>
        <p:nvSpPr>
          <p:cNvPr id="6" name="Badge 1"/>
          <p:cNvSpPr/>
          <p:nvPr/>
        </p:nvSpPr>
        <p:spPr>
          <a:xfrm>
            <a:off x="585216" y="1956816"/>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95681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1298448"/>
          </a:xfrm>
          <a:prstGeom prst="rect">
            <a:avLst/>
          </a:prstGeom>
          <a:noFill/>
          <a:ln/>
        </p:spPr>
        <p:txBody>
          <a:bodyPr wrap="square" lIns="0" tIns="0" rIns="0" bIns="0" rtlCol="0" anchor="ctr"/>
          <a:lstStyle/>
          <a:p>
            <a:pPr indent="0" marL="0">
              <a:buNone/>
            </a:pPr>
            <a:r>
              <a:rPr lang="en-US" sz="1800" dirty="0">
                <a:solidFill>
                  <a:schemeClr val="tx1"/>
                </a:solidFill>
              </a:rPr>
              <a:t>Convenção da OCDE sobre o Combate da Corrupção de Funcionários Públicos Estrangeiros em Transações Comerciais Internacionais (1997) — ratificada pelo Brasil pelo Decreto nº 3.678, de 30 de novembro de 2000</a:t>
            </a:r>
            <a:endParaRPr lang="en-US" sz="1800" dirty="0"/>
          </a:p>
        </p:txBody>
      </p:sp>
      <p:sp>
        <p:nvSpPr>
          <p:cNvPr id="9" name="Card 2"/>
          <p:cNvSpPr/>
          <p:nvPr/>
        </p:nvSpPr>
        <p:spPr>
          <a:xfrm>
            <a:off x="457200" y="2971800"/>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318668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31866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971800"/>
            <a:ext cx="7498080" cy="740664"/>
          </a:xfrm>
          <a:prstGeom prst="rect">
            <a:avLst/>
          </a:prstGeom>
          <a:noFill/>
          <a:ln/>
        </p:spPr>
        <p:txBody>
          <a:bodyPr wrap="square" lIns="0" tIns="0" rIns="0" bIns="0" rtlCol="0" anchor="ctr"/>
          <a:lstStyle/>
          <a:p>
            <a:pPr indent="0" marL="0">
              <a:buNone/>
            </a:pPr>
            <a:r>
              <a:rPr lang="en-US" sz="1800" dirty="0">
                <a:solidFill>
                  <a:schemeClr val="tx1"/>
                </a:solidFill>
              </a:rPr>
              <a:t>Referência global: Foreign Corrupt Practices Act (FCPA), EUA, 1977</a:t>
            </a:r>
            <a:endParaRPr lang="en-US" sz="1800" dirty="0"/>
          </a:p>
        </p:txBody>
      </p:sp>
      <p:sp>
        <p:nvSpPr>
          <p:cNvPr id="13" name="Card 3"/>
          <p:cNvSpPr/>
          <p:nvPr/>
        </p:nvSpPr>
        <p:spPr>
          <a:xfrm>
            <a:off x="457200" y="3922776"/>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4137660"/>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413766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922776"/>
            <a:ext cx="7498080" cy="740664"/>
          </a:xfrm>
          <a:prstGeom prst="rect">
            <a:avLst/>
          </a:prstGeom>
          <a:noFill/>
          <a:ln/>
        </p:spPr>
        <p:txBody>
          <a:bodyPr wrap="square" lIns="0" tIns="0" rIns="0" bIns="0" rtlCol="0" anchor="ctr"/>
          <a:lstStyle/>
          <a:p>
            <a:pPr indent="0" marL="0">
              <a:buNone/>
            </a:pPr>
            <a:r>
              <a:rPr lang="en-US" sz="1800" dirty="0">
                <a:solidFill>
                  <a:schemeClr val="tx1"/>
                </a:solidFill>
              </a:rPr>
              <a:t>Onda internacional de leis de responsabilização objetiva de pessoas jurídicas (décadas de 2000-2010)</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Responsabilização objetiva: o conceito-chave</a:t>
            </a:r>
            <a:endParaRPr lang="en-US" sz="2400" dirty="0"/>
          </a:p>
        </p:txBody>
      </p:sp>
      <p:sp>
        <p:nvSpPr>
          <p:cNvPr id="5" name="Ideia 1"/>
          <p:cNvSpPr/>
          <p:nvPr/>
        </p:nvSpPr>
        <p:spPr>
          <a:xfrm>
            <a:off x="457200" y="1417320"/>
            <a:ext cx="2621280" cy="868680"/>
          </a:xfrm>
          <a:prstGeom prst="roundRect">
            <a:avLst>
              <a:gd name="adj" fmla="val 8421"/>
            </a:avLst>
          </a:prstGeom>
          <a:solidFill>
            <a:schemeClr val="accent1"/>
          </a:solidFill>
          <a:ln w="12700">
            <a:solidFill>
              <a:schemeClr val="accent1"/>
            </a:solidFill>
            <a:prstDash val="solid"/>
          </a:ln>
        </p:spPr>
      </p:sp>
      <p:sp>
        <p:nvSpPr>
          <p:cNvPr id="6" name="Text 3"/>
          <p:cNvSpPr txBox="1"/>
          <p:nvPr/>
        </p:nvSpPr>
        <p:spPr>
          <a:xfrm>
            <a:off x="548640" y="1417320"/>
            <a:ext cx="2438400" cy="868680"/>
          </a:xfrm>
          <a:prstGeom prst="rect">
            <a:avLst/>
          </a:prstGeom>
          <a:noFill/>
          <a:ln/>
        </p:spPr>
        <p:txBody>
          <a:bodyPr wrap="square" lIns="0" tIns="0" rIns="0" bIns="0" rtlCol="0" anchor="ctr"/>
          <a:lstStyle/>
          <a:p>
            <a:pPr indent="0" marL="0">
              <a:buNone/>
            </a:pPr>
            <a:r>
              <a:rPr lang="en-US" sz="1150" b="1" dirty="0">
                <a:solidFill>
                  <a:schemeClr val="bg1"/>
                </a:solidFill>
              </a:rPr>
              <a:t>Não depende de comprovação de dolo ou culpa da pessoa jurídica</a:t>
            </a:r>
            <a:endParaRPr lang="en-US" sz="1150" dirty="0"/>
          </a:p>
        </p:txBody>
      </p:sp>
      <p:sp>
        <p:nvSpPr>
          <p:cNvPr id="7" name="Ideia 2"/>
          <p:cNvSpPr/>
          <p:nvPr/>
        </p:nvSpPr>
        <p:spPr>
          <a:xfrm>
            <a:off x="3261360" y="1417320"/>
            <a:ext cx="2621280" cy="868680"/>
          </a:xfrm>
          <a:prstGeom prst="roundRect">
            <a:avLst>
              <a:gd name="adj" fmla="val 8421"/>
            </a:avLst>
          </a:prstGeom>
          <a:solidFill>
            <a:schemeClr val="accent1"/>
          </a:solidFill>
          <a:ln w="12700">
            <a:solidFill>
              <a:schemeClr val="accent1"/>
            </a:solidFill>
            <a:prstDash val="solid"/>
          </a:ln>
        </p:spPr>
      </p:sp>
      <p:sp>
        <p:nvSpPr>
          <p:cNvPr id="8" name="Text 5"/>
          <p:cNvSpPr txBox="1"/>
          <p:nvPr/>
        </p:nvSpPr>
        <p:spPr>
          <a:xfrm>
            <a:off x="3352800" y="1417320"/>
            <a:ext cx="2438400" cy="868680"/>
          </a:xfrm>
          <a:prstGeom prst="rect">
            <a:avLst/>
          </a:prstGeom>
          <a:noFill/>
          <a:ln/>
        </p:spPr>
        <p:txBody>
          <a:bodyPr wrap="square" lIns="0" tIns="0" rIns="0" bIns="0" rtlCol="0" anchor="ctr"/>
          <a:lstStyle/>
          <a:p>
            <a:pPr indent="0" marL="0">
              <a:buNone/>
            </a:pPr>
            <a:r>
              <a:rPr lang="en-US" sz="1150" b="1" dirty="0">
                <a:solidFill>
                  <a:schemeClr val="bg1"/>
                </a:solidFill>
              </a:rPr>
              <a:t>Basta o nexo entre o ato lesivo e o benefício (direto ou indireto) à empresa</a:t>
            </a:r>
            <a:endParaRPr lang="en-US" sz="1150" dirty="0"/>
          </a:p>
        </p:txBody>
      </p:sp>
      <p:sp>
        <p:nvSpPr>
          <p:cNvPr id="9" name="Ideia 3"/>
          <p:cNvSpPr/>
          <p:nvPr/>
        </p:nvSpPr>
        <p:spPr>
          <a:xfrm>
            <a:off x="6065520" y="1417320"/>
            <a:ext cx="2621280" cy="868680"/>
          </a:xfrm>
          <a:prstGeom prst="roundRect">
            <a:avLst>
              <a:gd name="adj" fmla="val 8421"/>
            </a:avLst>
          </a:prstGeom>
          <a:solidFill>
            <a:schemeClr val="accent1"/>
          </a:solidFill>
          <a:ln w="12700">
            <a:solidFill>
              <a:schemeClr val="accent1"/>
            </a:solidFill>
            <a:prstDash val="solid"/>
          </a:ln>
        </p:spPr>
      </p:sp>
      <p:sp>
        <p:nvSpPr>
          <p:cNvPr id="10" name="Text 7"/>
          <p:cNvSpPr txBox="1"/>
          <p:nvPr/>
        </p:nvSpPr>
        <p:spPr>
          <a:xfrm>
            <a:off x="6156960" y="1417320"/>
            <a:ext cx="2438400" cy="868680"/>
          </a:xfrm>
          <a:prstGeom prst="rect">
            <a:avLst/>
          </a:prstGeom>
          <a:noFill/>
          <a:ln/>
        </p:spPr>
        <p:txBody>
          <a:bodyPr wrap="square" lIns="0" tIns="0" rIns="0" bIns="0" rtlCol="0" anchor="ctr"/>
          <a:lstStyle/>
          <a:p>
            <a:pPr indent="0" marL="0">
              <a:buNone/>
            </a:pPr>
            <a:r>
              <a:rPr lang="en-US" sz="1150" b="1" dirty="0">
                <a:solidFill>
                  <a:schemeClr val="bg1"/>
                </a:solidFill>
              </a:rPr>
              <a:t>Rompe com a lógica tradicional de responsabilização subjetiva do direito administrativo sancionador</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8229600" cy="914400"/>
        </p:xfrm>
        <a:graphic>
          <a:graphicData uri="http://schemas.openxmlformats.org/drawingml/2006/table">
            <a:tbl>
              <a:tblPr/>
              <a:tblGrid>
                <a:gridCol w="1554480"/>
                <a:gridCol w="3200400"/>
                <a:gridCol w="3474720"/>
              </a:tblGrid>
              <a:tr h="0">
                <a:tc>
                  <a:txBody>
                    <a:bodyPr/>
                    <a:lstStyle/>
                    <a:p>
                      <a:pPr indent="0" marL="0">
                        <a:buNone/>
                      </a:pPr>
                      <a:r>
                        <a:rPr lang="en-US" sz="1000" b="1" dirty="0">
                          <a:solidFill>
                            <a:srgbClr val="FFFFFF"/>
                          </a:solidFill>
                        </a:rPr>
                        <a:t>Critério</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rPr>
                        <a:t>Responsabilização subjetiva (regra geral)</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rPr>
                        <a:t>Responsabilização objetiva (Lei nº 12.846, de 2013)</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F3A"/>
                    </a:solidFill>
                  </a:tcPr>
                </a:tc>
              </a:tr>
              <a:tr h="0">
                <a:tc>
                  <a:txBody>
                    <a:bodyPr/>
                    <a:lstStyle/>
                    <a:p>
                      <a:pPr indent="0" marL="0">
                        <a:buNone/>
                      </a:pPr>
                      <a:r>
                        <a:rPr lang="en-US" sz="1000" b="1" dirty="0">
                          <a:solidFill>
                            <a:srgbClr val="0F766E"/>
                          </a:solidFill>
                        </a:rPr>
                        <a:t>Elemento exigido</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000" dirty="0">
                          <a:solidFill>
                            <a:srgbClr val="14213D"/>
                          </a:solidFill>
                        </a:rPr>
                        <a:t>Dolo ou culpa do agente</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000" dirty="0">
                          <a:solidFill>
                            <a:srgbClr val="14213D"/>
                          </a:solidFill>
                        </a:rPr>
                        <a:t>Nexo entre o ato lesivo e o benefício à pessoa jurídica</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r>
              <a:tr h="0">
                <a:tc>
                  <a:txBody>
                    <a:bodyPr/>
                    <a:lstStyle/>
                    <a:p>
                      <a:pPr indent="0" marL="0">
                        <a:buNone/>
                      </a:pPr>
                      <a:r>
                        <a:rPr lang="en-US" sz="1000" b="1" dirty="0">
                          <a:solidFill>
                            <a:srgbClr val="0F766E"/>
                          </a:solidFill>
                        </a:rPr>
                        <a:t>Ônus da prova</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Comprovar a intenção ou negligência</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Comprovar apenas o fato e o benefício, direto ou indireto</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766E"/>
                          </a:solidFill>
                        </a:rPr>
                        <a:t>Fundamento</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000" dirty="0">
                          <a:solidFill>
                            <a:srgbClr val="14213D"/>
                          </a:solidFill>
                        </a:rPr>
                        <a:t>Regra geral do direito administrativo sancionador</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000" dirty="0">
                          <a:solidFill>
                            <a:srgbClr val="14213D"/>
                          </a:solidFill>
                        </a:rPr>
                        <a:t>Exceção expressa, prevista em lei específica</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r>
              <a:tr h="0">
                <a:tc>
                  <a:txBody>
                    <a:bodyPr/>
                    <a:lstStyle/>
                    <a:p>
                      <a:pPr indent="0" marL="0">
                        <a:buNone/>
                      </a:pPr>
                      <a:r>
                        <a:rPr lang="en-US" sz="1000" b="1" dirty="0">
                          <a:solidFill>
                            <a:srgbClr val="0F766E"/>
                          </a:solidFill>
                        </a:rPr>
                        <a:t>Exemplo de aplicação</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Processo disciplinar de servidor (Lei nº 8.112, de 11 de dezembro de 1990)</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PAR — apuração de pessoa jurídica por ato lesivo</a:t>
                      </a:r>
                      <a:endParaRPr lang="en-US" sz="1000" dirty="0"/>
                    </a:p>
                  </a:txBody>
                  <a:tcPr marL="54864" marR="54864" marT="54864" marB="54864"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Decreto nº 11.129, de 2022: a regulamentação</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Decreto nº 11.129, de 11 de julho de 2022</a:t>
            </a:r>
            <a:endParaRPr lang="en-US" sz="1800" dirty="0"/>
          </a:p>
        </p:txBody>
      </p:sp>
      <p:sp>
        <p:nvSpPr>
          <p:cNvPr id="9" name="Card 2"/>
          <p:cNvSpPr/>
          <p:nvPr/>
        </p:nvSpPr>
        <p:spPr>
          <a:xfrm>
            <a:off x="457200" y="2258568"/>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354580"/>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3545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502920"/>
          </a:xfrm>
          <a:prstGeom prst="rect">
            <a:avLst/>
          </a:prstGeom>
          <a:noFill/>
          <a:ln/>
        </p:spPr>
        <p:txBody>
          <a:bodyPr wrap="square" lIns="0" tIns="0" rIns="0" bIns="0" rtlCol="0" anchor="ctr"/>
          <a:lstStyle/>
          <a:p>
            <a:pPr indent="0" marL="0">
              <a:buNone/>
            </a:pPr>
            <a:r>
              <a:rPr lang="en-US" sz="1800" dirty="0">
                <a:solidFill>
                  <a:schemeClr val="tx1"/>
                </a:solidFill>
              </a:rPr>
              <a:t>Revogou o Decreto nº 8.420, de 2015</a:t>
            </a:r>
            <a:endParaRPr lang="en-US" sz="1800" dirty="0"/>
          </a:p>
        </p:txBody>
      </p:sp>
      <p:sp>
        <p:nvSpPr>
          <p:cNvPr id="13" name="Card 3"/>
          <p:cNvSpPr/>
          <p:nvPr/>
        </p:nvSpPr>
        <p:spPr>
          <a:xfrm>
            <a:off x="457200" y="3054096"/>
            <a:ext cx="8229600" cy="1019556"/>
          </a:xfrm>
          <a:prstGeom prst="roundRect">
            <a:avLst>
              <a:gd name="adj" fmla="val 7175"/>
            </a:avLst>
          </a:prstGeom>
          <a:solidFill>
            <a:schemeClr val="bg2"/>
          </a:solidFill>
          <a:ln w="12700">
            <a:solidFill>
              <a:schemeClr val="bg2"/>
            </a:solidFill>
            <a:prstDash val="solid"/>
          </a:ln>
        </p:spPr>
      </p:sp>
      <p:sp>
        <p:nvSpPr>
          <p:cNvPr id="14" name="Badge 3"/>
          <p:cNvSpPr/>
          <p:nvPr/>
        </p:nvSpPr>
        <p:spPr>
          <a:xfrm>
            <a:off x="585216" y="3408426"/>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40842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054096"/>
            <a:ext cx="7498080" cy="1019556"/>
          </a:xfrm>
          <a:prstGeom prst="rect">
            <a:avLst/>
          </a:prstGeom>
          <a:noFill/>
          <a:ln/>
        </p:spPr>
        <p:txBody>
          <a:bodyPr wrap="square" lIns="0" tIns="0" rIns="0" bIns="0" rtlCol="0" anchor="ctr"/>
          <a:lstStyle/>
          <a:p>
            <a:pPr indent="0" marL="0">
              <a:buNone/>
            </a:pPr>
            <a:r>
              <a:rPr lang="en-US" sz="1800" dirty="0">
                <a:solidFill>
                  <a:schemeClr val="tx1"/>
                </a:solidFill>
              </a:rPr>
              <a:t>Trouxe parâmetros objetivos de dosimetria, novo regramento da Investigação Preliminar e do PAR, e critérios de avaliação de Programas de Integridade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Análise dogmática: os atos lesivos do art. 5º, incisos I a V</a:t>
            </a:r>
            <a:endParaRPr lang="en-US" sz="2400" dirty="0"/>
          </a:p>
        </p:txBody>
      </p:sp>
      <p:sp>
        <p:nvSpPr>
          <p:cNvPr id="5" name="Natureza do rol"/>
          <p:cNvSpPr/>
          <p:nvPr/>
        </p:nvSpPr>
        <p:spPr>
          <a:xfrm>
            <a:off x="457200" y="1417320"/>
            <a:ext cx="8229600" cy="548640"/>
          </a:xfrm>
          <a:prstGeom prst="roundRect">
            <a:avLst>
              <a:gd name="adj" fmla="val 13333"/>
            </a:avLst>
          </a:prstGeom>
          <a:solidFill>
            <a:schemeClr val="bg2"/>
          </a:solidFill>
          <a:ln w="12700">
            <a:solidFill>
              <a:schemeClr val="bg2"/>
            </a:solidFill>
            <a:prstDash val="solid"/>
          </a:ln>
        </p:spPr>
      </p:sp>
      <p:sp>
        <p:nvSpPr>
          <p:cNvPr id="6" name="Text 3"/>
          <p:cNvSpPr txBox="1"/>
          <p:nvPr/>
        </p:nvSpPr>
        <p:spPr>
          <a:xfrm>
            <a:off x="594360" y="1417320"/>
            <a:ext cx="7955280" cy="548640"/>
          </a:xfrm>
          <a:prstGeom prst="rect">
            <a:avLst/>
          </a:prstGeom>
          <a:noFill/>
          <a:ln/>
        </p:spPr>
        <p:txBody>
          <a:bodyPr wrap="square" lIns="0" tIns="0" rIns="0" bIns="0" rtlCol="0" anchor="ctr"/>
          <a:lstStyle/>
          <a:p>
            <a:pPr indent="0" marL="0">
              <a:buNone/>
            </a:pPr>
            <a:r>
              <a:rPr lang="en-US" sz="1200" b="1" dirty="0">
                <a:solidFill>
                  <a:schemeClr val="tx2"/>
                </a:solidFill>
              </a:rPr>
              <a:t>Natureza do rol: a doutrina majoritária entende o art. 5º como taxativo (numerus clausus) — sem cláusula aberta que permita enquadramento por analogia</a:t>
            </a:r>
            <a:endParaRPr lang="en-US" sz="1200" dirty="0"/>
          </a:p>
        </p:txBody>
      </p:sp>
      <p:sp>
        <p:nvSpPr>
          <p:cNvPr id="7" name="Grupo 1 cartão"/>
          <p:cNvSpPr/>
          <p:nvPr/>
        </p:nvSpPr>
        <p:spPr>
          <a:xfrm>
            <a:off x="457200" y="2194560"/>
            <a:ext cx="1920240" cy="2468880"/>
          </a:xfrm>
          <a:prstGeom prst="roundRect">
            <a:avLst>
              <a:gd name="adj" fmla="val 3810"/>
            </a:avLst>
          </a:prstGeom>
          <a:solidFill>
            <a:schemeClr val="bg2"/>
          </a:solidFill>
          <a:ln w="12700">
            <a:solidFill>
              <a:schemeClr val="bg2"/>
            </a:solidFill>
            <a:prstDash val="solid"/>
          </a:ln>
        </p:spPr>
      </p:sp>
      <p:sp>
        <p:nvSpPr>
          <p:cNvPr id="8" name="Grupo 1 cabeçalho"/>
          <p:cNvSpPr/>
          <p:nvPr/>
        </p:nvSpPr>
        <p:spPr>
          <a:xfrm>
            <a:off x="457200" y="2194560"/>
            <a:ext cx="1920240" cy="640080"/>
          </a:xfrm>
          <a:prstGeom prst="roundRect">
            <a:avLst>
              <a:gd name="adj" fmla="val 11429"/>
            </a:avLst>
          </a:prstGeom>
          <a:solidFill>
            <a:schemeClr val="accent1"/>
          </a:solidFill>
          <a:ln w="12700">
            <a:solidFill>
              <a:schemeClr val="accent1"/>
            </a:solidFill>
            <a:prstDash val="solid"/>
          </a:ln>
        </p:spPr>
      </p:sp>
      <p:sp>
        <p:nvSpPr>
          <p:cNvPr id="9" name="Text 6"/>
          <p:cNvSpPr txBox="1"/>
          <p:nvPr/>
        </p:nvSpPr>
        <p:spPr>
          <a:xfrm>
            <a:off x="548640" y="2194560"/>
            <a:ext cx="1737360" cy="640080"/>
          </a:xfrm>
          <a:prstGeom prst="rect">
            <a:avLst/>
          </a:prstGeom>
          <a:noFill/>
          <a:ln/>
        </p:spPr>
        <p:txBody>
          <a:bodyPr wrap="square" lIns="0" tIns="0" rIns="0" bIns="0" rtlCol="0" anchor="ctr"/>
          <a:lstStyle/>
          <a:p>
            <a:pPr indent="0" marL="0">
              <a:buNone/>
            </a:pPr>
            <a:r>
              <a:rPr lang="en-US" sz="1000" dirty="0">
                <a:solidFill>
                  <a:schemeClr val="bg1"/>
                </a:solidFill>
              </a:rPr>
              <a:t>Grupo 1 · Inciso I</a:t>
            </a:r>
            <a:endParaRPr lang="en-US" sz="1000" dirty="0"/>
          </a:p>
          <a:p>
            <a:pPr indent="0" marL="0">
              <a:buNone/>
            </a:pPr>
            <a:r>
              <a:rPr lang="en-US" sz="1200" b="1" dirty="0">
                <a:solidFill>
                  <a:schemeClr val="bg1"/>
                </a:solidFill>
              </a:rPr>
              <a:t>Núcleo corruptivo</a:t>
            </a:r>
            <a:endParaRPr lang="en-US" sz="1000" dirty="0"/>
          </a:p>
        </p:txBody>
      </p:sp>
      <p:sp>
        <p:nvSpPr>
          <p:cNvPr id="10" name="Text 7"/>
          <p:cNvSpPr txBox="1"/>
          <p:nvPr/>
        </p:nvSpPr>
        <p:spPr>
          <a:xfrm>
            <a:off x="566928" y="2926080"/>
            <a:ext cx="1700784" cy="1691640"/>
          </a:xfrm>
          <a:prstGeom prst="rect">
            <a:avLst/>
          </a:prstGeom>
          <a:noFill/>
          <a:ln/>
        </p:spPr>
        <p:txBody>
          <a:bodyPr wrap="square" lIns="0" tIns="0" rIns="0" bIns="0" rtlCol="0" anchor="t"/>
          <a:lstStyle/>
          <a:p>
            <a:pPr indent="0" marL="0">
              <a:buNone/>
            </a:pPr>
            <a:r>
              <a:rPr lang="en-US" sz="1100" dirty="0">
                <a:solidFill>
                  <a:schemeClr val="tx1"/>
                </a:solidFill>
              </a:rPr>
              <a:t>Suborno clássico. Tutela a moralidade e a probidade da função pública.</a:t>
            </a:r>
            <a:endParaRPr lang="en-US" sz="1100" dirty="0"/>
          </a:p>
        </p:txBody>
      </p:sp>
      <p:sp>
        <p:nvSpPr>
          <p:cNvPr id="11" name="Grupo 2 cartão"/>
          <p:cNvSpPr/>
          <p:nvPr/>
        </p:nvSpPr>
        <p:spPr>
          <a:xfrm>
            <a:off x="2560320" y="2194560"/>
            <a:ext cx="1920240" cy="2468880"/>
          </a:xfrm>
          <a:prstGeom prst="roundRect">
            <a:avLst>
              <a:gd name="adj" fmla="val 3810"/>
            </a:avLst>
          </a:prstGeom>
          <a:solidFill>
            <a:schemeClr val="bg2"/>
          </a:solidFill>
          <a:ln w="12700">
            <a:solidFill>
              <a:schemeClr val="bg2"/>
            </a:solidFill>
            <a:prstDash val="solid"/>
          </a:ln>
        </p:spPr>
      </p:sp>
      <p:sp>
        <p:nvSpPr>
          <p:cNvPr id="12" name="Grupo 2 cabeçalho"/>
          <p:cNvSpPr/>
          <p:nvPr/>
        </p:nvSpPr>
        <p:spPr>
          <a:xfrm>
            <a:off x="2560320" y="2194560"/>
            <a:ext cx="1920240" cy="640080"/>
          </a:xfrm>
          <a:prstGeom prst="roundRect">
            <a:avLst>
              <a:gd name="adj" fmla="val 11429"/>
            </a:avLst>
          </a:prstGeom>
          <a:solidFill>
            <a:schemeClr val="accent3"/>
          </a:solidFill>
          <a:ln w="12700">
            <a:solidFill>
              <a:schemeClr val="accent3"/>
            </a:solidFill>
            <a:prstDash val="solid"/>
          </a:ln>
        </p:spPr>
      </p:sp>
      <p:sp>
        <p:nvSpPr>
          <p:cNvPr id="13" name="Text 10"/>
          <p:cNvSpPr txBox="1"/>
          <p:nvPr/>
        </p:nvSpPr>
        <p:spPr>
          <a:xfrm>
            <a:off x="2651760" y="2194560"/>
            <a:ext cx="1737360" cy="640080"/>
          </a:xfrm>
          <a:prstGeom prst="rect">
            <a:avLst/>
          </a:prstGeom>
          <a:noFill/>
          <a:ln/>
        </p:spPr>
        <p:txBody>
          <a:bodyPr wrap="square" lIns="0" tIns="0" rIns="0" bIns="0" rtlCol="0" anchor="ctr"/>
          <a:lstStyle/>
          <a:p>
            <a:pPr indent="0" marL="0">
              <a:buNone/>
            </a:pPr>
            <a:r>
              <a:rPr lang="en-US" sz="1000" dirty="0">
                <a:solidFill>
                  <a:schemeClr val="bg1"/>
                </a:solidFill>
              </a:rPr>
              <a:t>Grupo 2 · Incisos II e III</a:t>
            </a:r>
            <a:endParaRPr lang="en-US" sz="1000" dirty="0"/>
          </a:p>
          <a:p>
            <a:pPr indent="0" marL="0">
              <a:buNone/>
            </a:pPr>
            <a:r>
              <a:rPr lang="en-US" sz="1200" b="1" dirty="0">
                <a:solidFill>
                  <a:schemeClr val="bg1"/>
                </a:solidFill>
              </a:rPr>
              <a:t>Favorecimento e ocultação</a:t>
            </a:r>
            <a:endParaRPr lang="en-US" sz="1000" dirty="0"/>
          </a:p>
        </p:txBody>
      </p:sp>
      <p:sp>
        <p:nvSpPr>
          <p:cNvPr id="14" name="Text 11"/>
          <p:cNvSpPr txBox="1"/>
          <p:nvPr/>
        </p:nvSpPr>
        <p:spPr>
          <a:xfrm>
            <a:off x="2670048" y="2926080"/>
            <a:ext cx="1700784" cy="1691640"/>
          </a:xfrm>
          <a:prstGeom prst="rect">
            <a:avLst/>
          </a:prstGeom>
          <a:noFill/>
          <a:ln/>
        </p:spPr>
        <p:txBody>
          <a:bodyPr wrap="square" lIns="0" tIns="0" rIns="0" bIns="0" rtlCol="0" anchor="t"/>
          <a:lstStyle/>
          <a:p>
            <a:pPr indent="0" marL="0">
              <a:buNone/>
            </a:pPr>
            <a:r>
              <a:rPr lang="en-US" sz="1100" dirty="0">
                <a:solidFill>
                  <a:schemeClr val="tx1"/>
                </a:solidFill>
              </a:rPr>
              <a:t>Financiamento de atos ilícitos e uso de interpostas pessoas. Tutela a transparência e a rastreabilidade dos responsáveis.</a:t>
            </a:r>
            <a:endParaRPr lang="en-US" sz="1100" dirty="0"/>
          </a:p>
        </p:txBody>
      </p:sp>
      <p:sp>
        <p:nvSpPr>
          <p:cNvPr id="15" name="Grupo 3 cartão"/>
          <p:cNvSpPr/>
          <p:nvPr/>
        </p:nvSpPr>
        <p:spPr>
          <a:xfrm>
            <a:off x="4663440" y="2194560"/>
            <a:ext cx="1920240" cy="2468880"/>
          </a:xfrm>
          <a:prstGeom prst="roundRect">
            <a:avLst>
              <a:gd name="adj" fmla="val 3810"/>
            </a:avLst>
          </a:prstGeom>
          <a:solidFill>
            <a:schemeClr val="bg2"/>
          </a:solidFill>
          <a:ln w="12700">
            <a:solidFill>
              <a:schemeClr val="bg2"/>
            </a:solidFill>
            <a:prstDash val="solid"/>
          </a:ln>
        </p:spPr>
      </p:sp>
      <p:sp>
        <p:nvSpPr>
          <p:cNvPr id="16" name="Grupo 3 cabeçalho"/>
          <p:cNvSpPr/>
          <p:nvPr/>
        </p:nvSpPr>
        <p:spPr>
          <a:xfrm>
            <a:off x="4663440" y="2194560"/>
            <a:ext cx="1920240" cy="640080"/>
          </a:xfrm>
          <a:prstGeom prst="roundRect">
            <a:avLst>
              <a:gd name="adj" fmla="val 11429"/>
            </a:avLst>
          </a:prstGeom>
          <a:solidFill>
            <a:schemeClr val="accent4"/>
          </a:solidFill>
          <a:ln w="12700">
            <a:solidFill>
              <a:schemeClr val="accent4"/>
            </a:solidFill>
            <a:prstDash val="solid"/>
          </a:ln>
        </p:spPr>
      </p:sp>
      <p:sp>
        <p:nvSpPr>
          <p:cNvPr id="17" name="Text 14"/>
          <p:cNvSpPr txBox="1"/>
          <p:nvPr/>
        </p:nvSpPr>
        <p:spPr>
          <a:xfrm>
            <a:off x="4754880" y="2194560"/>
            <a:ext cx="1737360" cy="640080"/>
          </a:xfrm>
          <a:prstGeom prst="rect">
            <a:avLst/>
          </a:prstGeom>
          <a:noFill/>
          <a:ln/>
        </p:spPr>
        <p:txBody>
          <a:bodyPr wrap="square" lIns="0" tIns="0" rIns="0" bIns="0" rtlCol="0" anchor="ctr"/>
          <a:lstStyle/>
          <a:p>
            <a:pPr indent="0" marL="0">
              <a:buNone/>
            </a:pPr>
            <a:r>
              <a:rPr lang="en-US" sz="1000" dirty="0">
                <a:solidFill>
                  <a:schemeClr val="bg1"/>
                </a:solidFill>
              </a:rPr>
              <a:t>Grupo 3 · Inciso IV</a:t>
            </a:r>
            <a:endParaRPr lang="en-US" sz="1000" dirty="0"/>
          </a:p>
          <a:p>
            <a:pPr indent="0" marL="0">
              <a:buNone/>
            </a:pPr>
            <a:r>
              <a:rPr lang="en-US" sz="1200" b="1" dirty="0">
                <a:solidFill>
                  <a:schemeClr val="bg1"/>
                </a:solidFill>
              </a:rPr>
              <a:t>Fraude a licitações e contratos</a:t>
            </a:r>
            <a:endParaRPr lang="en-US" sz="1000" dirty="0"/>
          </a:p>
        </p:txBody>
      </p:sp>
      <p:sp>
        <p:nvSpPr>
          <p:cNvPr id="18" name="Text 15"/>
          <p:cNvSpPr txBox="1"/>
          <p:nvPr/>
        </p:nvSpPr>
        <p:spPr>
          <a:xfrm>
            <a:off x="4773168" y="2926080"/>
            <a:ext cx="1700784" cy="1691640"/>
          </a:xfrm>
          <a:prstGeom prst="rect">
            <a:avLst/>
          </a:prstGeom>
          <a:noFill/>
          <a:ln/>
        </p:spPr>
        <p:txBody>
          <a:bodyPr wrap="square" lIns="0" tIns="0" rIns="0" bIns="0" rtlCol="0" anchor="t"/>
          <a:lstStyle/>
          <a:p>
            <a:pPr indent="0" marL="0">
              <a:buNone/>
            </a:pPr>
            <a:r>
              <a:rPr lang="en-US" sz="1100" dirty="0">
                <a:solidFill>
                  <a:schemeClr val="tx1"/>
                </a:solidFill>
              </a:rPr>
              <a:t>O mais extenso, com sete alíneas. Tutela a isonomia e a competitividade do certame. Possível concurso aparente com a Lei nº 14.133, de 1º de abril de 2021.</a:t>
            </a:r>
            <a:endParaRPr lang="en-US" sz="1100" dirty="0"/>
          </a:p>
        </p:txBody>
      </p:sp>
      <p:sp>
        <p:nvSpPr>
          <p:cNvPr id="19" name="Grupo 4 cartão"/>
          <p:cNvSpPr/>
          <p:nvPr/>
        </p:nvSpPr>
        <p:spPr>
          <a:xfrm>
            <a:off x="6766560" y="2194560"/>
            <a:ext cx="1920240" cy="2468880"/>
          </a:xfrm>
          <a:prstGeom prst="roundRect">
            <a:avLst>
              <a:gd name="adj" fmla="val 3810"/>
            </a:avLst>
          </a:prstGeom>
          <a:solidFill>
            <a:schemeClr val="bg2"/>
          </a:solidFill>
          <a:ln w="12700">
            <a:solidFill>
              <a:schemeClr val="bg2"/>
            </a:solidFill>
            <a:prstDash val="solid"/>
          </a:ln>
        </p:spPr>
      </p:sp>
      <p:sp>
        <p:nvSpPr>
          <p:cNvPr id="20" name="Grupo 4 cabeçalho"/>
          <p:cNvSpPr/>
          <p:nvPr/>
        </p:nvSpPr>
        <p:spPr>
          <a:xfrm>
            <a:off x="6766560" y="2194560"/>
            <a:ext cx="1920240" cy="640080"/>
          </a:xfrm>
          <a:prstGeom prst="roundRect">
            <a:avLst>
              <a:gd name="adj" fmla="val 11429"/>
            </a:avLst>
          </a:prstGeom>
          <a:solidFill>
            <a:schemeClr val="accent6"/>
          </a:solidFill>
          <a:ln w="12700">
            <a:solidFill>
              <a:schemeClr val="accent6"/>
            </a:solidFill>
            <a:prstDash val="solid"/>
          </a:ln>
        </p:spPr>
      </p:sp>
      <p:sp>
        <p:nvSpPr>
          <p:cNvPr id="21" name="Text 18"/>
          <p:cNvSpPr txBox="1"/>
          <p:nvPr/>
        </p:nvSpPr>
        <p:spPr>
          <a:xfrm>
            <a:off x="6858000" y="2194560"/>
            <a:ext cx="1737360" cy="640080"/>
          </a:xfrm>
          <a:prstGeom prst="rect">
            <a:avLst/>
          </a:prstGeom>
          <a:noFill/>
          <a:ln/>
        </p:spPr>
        <p:txBody>
          <a:bodyPr wrap="square" lIns="0" tIns="0" rIns="0" bIns="0" rtlCol="0" anchor="ctr"/>
          <a:lstStyle/>
          <a:p>
            <a:pPr indent="0" marL="0">
              <a:buNone/>
            </a:pPr>
            <a:r>
              <a:rPr lang="en-US" sz="1000" dirty="0">
                <a:solidFill>
                  <a:schemeClr val="bg1"/>
                </a:solidFill>
              </a:rPr>
              <a:t>Grupo 4 · Inciso V</a:t>
            </a:r>
            <a:endParaRPr lang="en-US" sz="1000" dirty="0"/>
          </a:p>
          <a:p>
            <a:pPr indent="0" marL="0">
              <a:buNone/>
            </a:pPr>
            <a:r>
              <a:rPr lang="en-US" sz="1200" b="1" dirty="0">
                <a:solidFill>
                  <a:schemeClr val="bg1"/>
                </a:solidFill>
              </a:rPr>
              <a:t>Obstrução à fiscalização</a:t>
            </a:r>
            <a:endParaRPr lang="en-US" sz="1000" dirty="0"/>
          </a:p>
        </p:txBody>
      </p:sp>
      <p:sp>
        <p:nvSpPr>
          <p:cNvPr id="22" name="Text 19"/>
          <p:cNvSpPr txBox="1"/>
          <p:nvPr/>
        </p:nvSpPr>
        <p:spPr>
          <a:xfrm>
            <a:off x="6876288" y="2926080"/>
            <a:ext cx="1700784" cy="1691640"/>
          </a:xfrm>
          <a:prstGeom prst="rect">
            <a:avLst/>
          </a:prstGeom>
          <a:noFill/>
          <a:ln/>
        </p:spPr>
        <p:txBody>
          <a:bodyPr wrap="square" lIns="0" tIns="0" rIns="0" bIns="0" rtlCol="0" anchor="t"/>
          <a:lstStyle/>
          <a:p>
            <a:pPr indent="0" marL="0">
              <a:buNone/>
            </a:pPr>
            <a:r>
              <a:rPr lang="en-US" sz="1100" dirty="0">
                <a:solidFill>
                  <a:schemeClr val="tx1"/>
                </a:solidFill>
              </a:rPr>
              <a:t>Tutela o poder de polícia do Estado. Alcança inclusive agências reguladoras e órgãos do sistema financeiro nacional.</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Controvérsia doutrinária: a expressão “comprovadamente” nos incisos II e III</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b="1" dirty="0">
                <a:solidFill>
                  <a:schemeClr val="accent1"/>
                </a:solidFill>
              </a:rPr>
              <a:t>CGU: </a:t>
            </a:r>
            <a:pPr indent="0" marL="0">
              <a:buNone/>
            </a:pPr>
            <a:r>
              <a:rPr lang="en-US" sz="1800" dirty="0">
                <a:solidFill>
                  <a:schemeClr val="tx1"/>
                </a:solidFill>
              </a:rPr>
              <a:t>a expressão não altera a natureza objetiva da responsabilização — é apenas exigência de prova do fato, não de dolo</a:t>
            </a:r>
            <a:endParaRPr lang="en-US" sz="1800" dirty="0"/>
          </a:p>
        </p:txBody>
      </p:sp>
      <p:sp>
        <p:nvSpPr>
          <p:cNvPr id="9" name="Card 2"/>
          <p:cNvSpPr/>
          <p:nvPr/>
        </p:nvSpPr>
        <p:spPr>
          <a:xfrm>
            <a:off x="457200" y="2496312"/>
            <a:ext cx="8229600" cy="1019556"/>
          </a:xfrm>
          <a:prstGeom prst="roundRect">
            <a:avLst>
              <a:gd name="adj" fmla="val 7175"/>
            </a:avLst>
          </a:prstGeom>
          <a:solidFill>
            <a:schemeClr val="bg2"/>
          </a:solidFill>
          <a:ln w="12700">
            <a:solidFill>
              <a:schemeClr val="bg2"/>
            </a:solidFill>
            <a:prstDash val="solid"/>
          </a:ln>
        </p:spPr>
      </p:sp>
      <p:sp>
        <p:nvSpPr>
          <p:cNvPr id="10" name="Badge 2"/>
          <p:cNvSpPr/>
          <p:nvPr/>
        </p:nvSpPr>
        <p:spPr>
          <a:xfrm>
            <a:off x="585216" y="285064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85064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1019556"/>
          </a:xfrm>
          <a:prstGeom prst="rect">
            <a:avLst/>
          </a:prstGeom>
          <a:noFill/>
          <a:ln/>
        </p:spPr>
        <p:txBody>
          <a:bodyPr wrap="square" lIns="0" tIns="0" rIns="0" bIns="0" rtlCol="0" anchor="ctr"/>
          <a:lstStyle/>
          <a:p>
            <a:pPr indent="0" marL="0">
              <a:buNone/>
            </a:pPr>
            <a:r>
              <a:rPr lang="en-US" sz="1800" b="1" dirty="0">
                <a:solidFill>
                  <a:schemeClr val="accent1"/>
                </a:solidFill>
              </a:rPr>
              <a:t>Doutrina divergente: </a:t>
            </a:r>
            <a:pPr indent="0" marL="0">
              <a:buNone/>
            </a:pPr>
            <a:r>
              <a:rPr lang="en-US" sz="1800" dirty="0">
                <a:solidFill>
                  <a:schemeClr val="tx1"/>
                </a:solidFill>
              </a:rPr>
              <a:t>a exigência de comprovação específica nesses incisos introduziria, na prática, um standard probatório mais próximo da responsabilização subjetiva</a:t>
            </a:r>
            <a:endParaRPr lang="en-US" sz="1800" dirty="0"/>
          </a:p>
        </p:txBody>
      </p:sp>
      <p:sp>
        <p:nvSpPr>
          <p:cNvPr id="13" name="Card 3"/>
          <p:cNvSpPr/>
          <p:nvPr/>
        </p:nvSpPr>
        <p:spPr>
          <a:xfrm>
            <a:off x="457200" y="3808476"/>
            <a:ext cx="8229600" cy="502920"/>
          </a:xfrm>
          <a:prstGeom prst="roundRect">
            <a:avLst>
              <a:gd name="adj" fmla="val 14545"/>
            </a:avLst>
          </a:prstGeom>
          <a:solidFill>
            <a:schemeClr val="bg2"/>
          </a:solidFill>
          <a:ln w="12700">
            <a:solidFill>
              <a:schemeClr val="bg2"/>
            </a:solidFill>
            <a:prstDash val="solid"/>
          </a:ln>
        </p:spPr>
      </p:sp>
      <p:sp>
        <p:nvSpPr>
          <p:cNvPr id="14" name="Badge 3"/>
          <p:cNvSpPr/>
          <p:nvPr/>
        </p:nvSpPr>
        <p:spPr>
          <a:xfrm>
            <a:off x="585216" y="390448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9044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808476"/>
            <a:ext cx="7498080" cy="502920"/>
          </a:xfrm>
          <a:prstGeom prst="rect">
            <a:avLst/>
          </a:prstGeom>
          <a:noFill/>
          <a:ln/>
        </p:spPr>
        <p:txBody>
          <a:bodyPr wrap="square" lIns="0" tIns="0" rIns="0" bIns="0" rtlCol="0" anchor="ctr"/>
          <a:lstStyle/>
          <a:p>
            <a:pPr indent="0" marL="0">
              <a:buNone/>
            </a:pPr>
            <a:r>
              <a:rPr lang="en-US" sz="1800" dirty="0">
                <a:solidFill>
                  <a:schemeClr val="tx1"/>
                </a:solidFill>
              </a:rPr>
              <a:t>Sem precedente vinculante que resolva definitivamente a questão</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PAR x outros instrumentos de responsabilização</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600" b="1" dirty="0">
                <a:solidFill>
                  <a:schemeClr val="accent1"/>
                </a:solidFill>
              </a:rPr>
              <a:t>PAR (Lei nº 12.846, de 2013): </a:t>
            </a:r>
            <a:pPr indent="0" marL="0">
              <a:buNone/>
            </a:pPr>
            <a:r>
              <a:rPr lang="en-US" sz="1600" dirty="0">
                <a:solidFill>
                  <a:schemeClr val="tx1"/>
                </a:solidFill>
              </a:rPr>
              <a:t>pessoa jurídica, dolo/culpa irrelevante</a:t>
            </a:r>
            <a:endParaRPr lang="en-US" sz="1600" dirty="0"/>
          </a:p>
        </p:txBody>
      </p:sp>
      <p:sp>
        <p:nvSpPr>
          <p:cNvPr id="9" name="Card 2"/>
          <p:cNvSpPr/>
          <p:nvPr/>
        </p:nvSpPr>
        <p:spPr>
          <a:xfrm>
            <a:off x="457200" y="2258568"/>
            <a:ext cx="8229600" cy="678688"/>
          </a:xfrm>
          <a:prstGeom prst="roundRect">
            <a:avLst>
              <a:gd name="adj" fmla="val 10778"/>
            </a:avLst>
          </a:prstGeom>
          <a:solidFill>
            <a:schemeClr val="bg2"/>
          </a:solidFill>
          <a:ln w="12700">
            <a:solidFill>
              <a:schemeClr val="bg2"/>
            </a:solidFill>
            <a:prstDash val="solid"/>
          </a:ln>
        </p:spPr>
      </p:sp>
      <p:sp>
        <p:nvSpPr>
          <p:cNvPr id="10" name="Badge 2"/>
          <p:cNvSpPr/>
          <p:nvPr/>
        </p:nvSpPr>
        <p:spPr>
          <a:xfrm>
            <a:off x="585216" y="244246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4424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678688"/>
          </a:xfrm>
          <a:prstGeom prst="rect">
            <a:avLst/>
          </a:prstGeom>
          <a:noFill/>
          <a:ln/>
        </p:spPr>
        <p:txBody>
          <a:bodyPr wrap="square" lIns="0" tIns="0" rIns="0" bIns="0" rtlCol="0" anchor="ctr"/>
          <a:lstStyle/>
          <a:p>
            <a:pPr indent="0" marL="0">
              <a:buNone/>
            </a:pPr>
            <a:r>
              <a:rPr lang="en-US" sz="1600" b="1" dirty="0">
                <a:solidFill>
                  <a:schemeClr val="accent1"/>
                </a:solidFill>
              </a:rPr>
              <a:t>Improbidade Administrativa (Lei nº 8.429, de 2 de junho de 1992): </a:t>
            </a:r>
            <a:pPr indent="0" marL="0">
              <a:buNone/>
            </a:pPr>
            <a:r>
              <a:rPr lang="en-US" sz="1600" dirty="0">
                <a:solidFill>
                  <a:schemeClr val="tx1"/>
                </a:solidFill>
              </a:rPr>
              <a:t>pessoa física e jurídica, exige dolo</a:t>
            </a:r>
            <a:endParaRPr lang="en-US" sz="1600" dirty="0"/>
          </a:p>
        </p:txBody>
      </p:sp>
      <p:sp>
        <p:nvSpPr>
          <p:cNvPr id="13" name="Card 3"/>
          <p:cNvSpPr/>
          <p:nvPr/>
        </p:nvSpPr>
        <p:spPr>
          <a:xfrm>
            <a:off x="457200" y="3229864"/>
            <a:ext cx="8229600" cy="678688"/>
          </a:xfrm>
          <a:prstGeom prst="roundRect">
            <a:avLst>
              <a:gd name="adj" fmla="val 10778"/>
            </a:avLst>
          </a:prstGeom>
          <a:solidFill>
            <a:schemeClr val="bg2"/>
          </a:solidFill>
          <a:ln w="12700">
            <a:solidFill>
              <a:schemeClr val="bg2"/>
            </a:solidFill>
            <a:prstDash val="solid"/>
          </a:ln>
        </p:spPr>
      </p:sp>
      <p:sp>
        <p:nvSpPr>
          <p:cNvPr id="14" name="Badge 3"/>
          <p:cNvSpPr/>
          <p:nvPr/>
        </p:nvSpPr>
        <p:spPr>
          <a:xfrm>
            <a:off x="585216" y="3413760"/>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41376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29864"/>
            <a:ext cx="7498080" cy="678688"/>
          </a:xfrm>
          <a:prstGeom prst="rect">
            <a:avLst/>
          </a:prstGeom>
          <a:noFill/>
          <a:ln/>
        </p:spPr>
        <p:txBody>
          <a:bodyPr wrap="square" lIns="0" tIns="0" rIns="0" bIns="0" rtlCol="0" anchor="ctr"/>
          <a:lstStyle/>
          <a:p>
            <a:pPr indent="0" marL="0">
              <a:buNone/>
            </a:pPr>
            <a:r>
              <a:rPr lang="en-US" sz="1600" b="1" dirty="0">
                <a:solidFill>
                  <a:schemeClr val="accent1"/>
                </a:solidFill>
              </a:rPr>
              <a:t>TCU: </a:t>
            </a:r>
            <a:pPr indent="0" marL="0">
              <a:buNone/>
            </a:pPr>
            <a:r>
              <a:rPr lang="en-US" sz="1600" dirty="0">
                <a:solidFill>
                  <a:schemeClr val="tx1"/>
                </a:solidFill>
              </a:rPr>
              <a:t>responsabilização por dano ao erário, foco em gestores públicos e, subsidiariamente, terceiros</a:t>
            </a:r>
            <a:endParaRPr lang="en-US" sz="1600" dirty="0"/>
          </a:p>
        </p:txBody>
      </p:sp>
      <p:sp>
        <p:nvSpPr>
          <p:cNvPr id="17" name="Card 4"/>
          <p:cNvSpPr/>
          <p:nvPr/>
        </p:nvSpPr>
        <p:spPr>
          <a:xfrm>
            <a:off x="457200" y="4201160"/>
            <a:ext cx="8229600" cy="502920"/>
          </a:xfrm>
          <a:prstGeom prst="roundRect">
            <a:avLst>
              <a:gd name="adj" fmla="val 14545"/>
            </a:avLst>
          </a:prstGeom>
          <a:solidFill>
            <a:schemeClr val="bg2"/>
          </a:solidFill>
          <a:ln w="12700">
            <a:solidFill>
              <a:schemeClr val="bg2"/>
            </a:solidFill>
            <a:prstDash val="solid"/>
          </a:ln>
        </p:spPr>
      </p:sp>
      <p:sp>
        <p:nvSpPr>
          <p:cNvPr id="18" name="Badge 4"/>
          <p:cNvSpPr/>
          <p:nvPr/>
        </p:nvSpPr>
        <p:spPr>
          <a:xfrm>
            <a:off x="585216" y="4297172"/>
            <a:ext cx="310896" cy="310896"/>
          </a:xfrm>
          <a:prstGeom prst="ellipse">
            <a:avLst/>
          </a:prstGeom>
          <a:solidFill>
            <a:schemeClr val="accent1"/>
          </a:solidFill>
          <a:ln w="12700">
            <a:solidFill>
              <a:schemeClr val="accent1"/>
            </a:solidFill>
            <a:prstDash val="solid"/>
          </a:ln>
        </p:spPr>
      </p:sp>
      <p:sp>
        <p:nvSpPr>
          <p:cNvPr id="19" name="Text 16"/>
          <p:cNvSpPr txBox="1"/>
          <p:nvPr/>
        </p:nvSpPr>
        <p:spPr>
          <a:xfrm>
            <a:off x="585216" y="42971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7"/>
          <p:cNvSpPr txBox="1"/>
          <p:nvPr/>
        </p:nvSpPr>
        <p:spPr>
          <a:xfrm>
            <a:off x="1024128" y="4201160"/>
            <a:ext cx="7498080" cy="502920"/>
          </a:xfrm>
          <a:prstGeom prst="rect">
            <a:avLst/>
          </a:prstGeom>
          <a:noFill/>
          <a:ln/>
        </p:spPr>
        <p:txBody>
          <a:bodyPr wrap="square" lIns="0" tIns="0" rIns="0" bIns="0" rtlCol="0" anchor="ctr"/>
          <a:lstStyle/>
          <a:p>
            <a:pPr indent="0" marL="0">
              <a:buNone/>
            </a:pPr>
            <a:r>
              <a:rPr lang="en-US" sz="1600" b="1" dirty="0">
                <a:solidFill>
                  <a:schemeClr val="accent1"/>
                </a:solidFill>
              </a:rPr>
              <a:t>Processo Penal: </a:t>
            </a:r>
            <a:pPr indent="0" marL="0">
              <a:buNone/>
            </a:pPr>
            <a:r>
              <a:rPr lang="en-US" sz="1600" dirty="0">
                <a:solidFill>
                  <a:schemeClr val="tx1"/>
                </a:solidFill>
              </a:rPr>
              <a:t>responsabilidade subjetiva, pessoa física (em regra)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Controvérsia doutrinária: o bis in idem entre LAC e LIA</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Debate histórico: pode a mesma empresa ser sancionada tanto pela Lei nº 12.846, de 2013, quanto pela Lei nº 8.429, de 1992?</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b="1" dirty="0">
                <a:solidFill>
                  <a:schemeClr val="accent1"/>
                </a:solidFill>
              </a:rPr>
              <a:t>Posição da CGU: </a:t>
            </a:r>
            <a:pPr indent="0" marL="0">
              <a:buNone/>
            </a:pPr>
            <a:r>
              <a:rPr lang="en-US" sz="1800" dirty="0">
                <a:solidFill>
                  <a:schemeClr val="tx1"/>
                </a:solidFill>
              </a:rPr>
              <a:t>sanções possuem naturezas e finalidades distintas — cumulação seria possível</a:t>
            </a:r>
            <a:endParaRPr lang="en-US" sz="1800" dirty="0"/>
          </a:p>
        </p:txBody>
      </p:sp>
      <p:sp>
        <p:nvSpPr>
          <p:cNvPr id="13" name="Card 3"/>
          <p:cNvSpPr/>
          <p:nvPr/>
        </p:nvSpPr>
        <p:spPr>
          <a:xfrm>
            <a:off x="457200" y="3529584"/>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74446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7444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29584"/>
            <a:ext cx="7498080" cy="740664"/>
          </a:xfrm>
          <a:prstGeom prst="rect">
            <a:avLst/>
          </a:prstGeom>
          <a:noFill/>
          <a:ln/>
        </p:spPr>
        <p:txBody>
          <a:bodyPr wrap="square" lIns="0" tIns="0" rIns="0" bIns="0" rtlCol="0" anchor="ctr"/>
          <a:lstStyle/>
          <a:p>
            <a:pPr indent="0" marL="0">
              <a:buNone/>
            </a:pPr>
            <a:r>
              <a:rPr lang="en-US" sz="1800" b="1" dirty="0">
                <a:solidFill>
                  <a:schemeClr val="accent1"/>
                </a:solidFill>
              </a:rPr>
              <a:t>Posição divergente na doutrina: </a:t>
            </a:r>
            <a:pPr indent="0" marL="0">
              <a:buNone/>
            </a:pPr>
            <a:r>
              <a:rPr lang="en-US" sz="1800" dirty="0">
                <a:solidFill>
                  <a:schemeClr val="tx1"/>
                </a:solidFill>
              </a:rPr>
              <a:t>risco de dupla punição pelo mesmo fato</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 virada normativa: art. 3º, §2º da LIA</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Lei nº 14.230, de 25 de outubro de 2021, alterou a Lei nº 8.429, de 1992</a:t>
            </a:r>
            <a:endParaRPr lang="en-US" sz="1800" dirty="0"/>
          </a:p>
        </p:txBody>
      </p:sp>
      <p:sp>
        <p:nvSpPr>
          <p:cNvPr id="9" name="Card 2"/>
          <p:cNvSpPr/>
          <p:nvPr/>
        </p:nvSpPr>
        <p:spPr>
          <a:xfrm>
            <a:off x="457200" y="2496312"/>
            <a:ext cx="8229600" cy="1019556"/>
          </a:xfrm>
          <a:prstGeom prst="roundRect">
            <a:avLst>
              <a:gd name="adj" fmla="val 7175"/>
            </a:avLst>
          </a:prstGeom>
          <a:solidFill>
            <a:schemeClr val="bg2"/>
          </a:solidFill>
          <a:ln w="12700">
            <a:solidFill>
              <a:schemeClr val="bg2"/>
            </a:solidFill>
            <a:prstDash val="solid"/>
          </a:ln>
        </p:spPr>
      </p:sp>
      <p:sp>
        <p:nvSpPr>
          <p:cNvPr id="10" name="Badge 2"/>
          <p:cNvSpPr/>
          <p:nvPr/>
        </p:nvSpPr>
        <p:spPr>
          <a:xfrm>
            <a:off x="585216" y="285064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85064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1019556"/>
          </a:xfrm>
          <a:prstGeom prst="rect">
            <a:avLst/>
          </a:prstGeom>
          <a:noFill/>
          <a:ln/>
        </p:spPr>
        <p:txBody>
          <a:bodyPr wrap="square" lIns="0" tIns="0" rIns="0" bIns="0" rtlCol="0" anchor="ctr"/>
          <a:lstStyle/>
          <a:p>
            <a:pPr indent="0" marL="0">
              <a:buNone/>
            </a:pPr>
            <a:r>
              <a:rPr lang="en-US" sz="1800" b="1" dirty="0">
                <a:solidFill>
                  <a:schemeClr val="accent1"/>
                </a:solidFill>
              </a:rPr>
              <a:t>Novo art. 3º, : </a:t>
            </a:r>
            <a:pPr indent="0" marL="0">
              <a:buNone/>
            </a:pPr>
            <a:r>
              <a:rPr lang="en-US" sz="1800" dirty="0">
                <a:solidFill>
                  <a:schemeClr val="tx1"/>
                </a:solidFill>
              </a:rPr>
              <a:t>2º: veda a aplicação de sanções da LIA contra pessoa jurídica já sancionada pela Lei nº 12.846, de 2013, pelo mesmo fato</a:t>
            </a:r>
            <a:endParaRPr lang="en-US" sz="1800" dirty="0"/>
          </a:p>
        </p:txBody>
      </p:sp>
      <p:sp>
        <p:nvSpPr>
          <p:cNvPr id="13" name="Card 3"/>
          <p:cNvSpPr/>
          <p:nvPr/>
        </p:nvSpPr>
        <p:spPr>
          <a:xfrm>
            <a:off x="457200" y="3808476"/>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4023360"/>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402336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808476"/>
            <a:ext cx="7498080" cy="740664"/>
          </a:xfrm>
          <a:prstGeom prst="rect">
            <a:avLst/>
          </a:prstGeom>
          <a:noFill/>
          <a:ln/>
        </p:spPr>
        <p:txBody>
          <a:bodyPr wrap="square" lIns="0" tIns="0" rIns="0" bIns="0" rtlCol="0" anchor="ctr"/>
          <a:lstStyle/>
          <a:p>
            <a:pPr indent="0" marL="0">
              <a:buNone/>
            </a:pPr>
            <a:r>
              <a:rPr lang="en-US" sz="1800" dirty="0">
                <a:solidFill>
                  <a:schemeClr val="tx1"/>
                </a:solidFill>
              </a:rPr>
              <a:t>O debate deixa de ser doutrinário e passa a ser regra legal expressa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MARCO LEGAL</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Panorama jurisprudencial</a:t>
            </a:r>
            <a:endParaRPr lang="en-US" sz="2400" dirty="0"/>
          </a:p>
        </p:txBody>
      </p:sp>
      <p:sp>
        <p:nvSpPr>
          <p:cNvPr id="5" name="Card 1"/>
          <p:cNvSpPr/>
          <p:nvPr/>
        </p:nvSpPr>
        <p:spPr>
          <a:xfrm>
            <a:off x="457200" y="1463040"/>
            <a:ext cx="8229600" cy="1267460"/>
          </a:xfrm>
          <a:prstGeom prst="roundRect">
            <a:avLst>
              <a:gd name="adj" fmla="val 5772"/>
            </a:avLst>
          </a:prstGeom>
          <a:solidFill>
            <a:schemeClr val="bg2"/>
          </a:solidFill>
          <a:ln w="12700">
            <a:solidFill>
              <a:schemeClr val="bg2"/>
            </a:solidFill>
            <a:prstDash val="solid"/>
          </a:ln>
        </p:spPr>
      </p:sp>
      <p:sp>
        <p:nvSpPr>
          <p:cNvPr id="6" name="Badge 1"/>
          <p:cNvSpPr/>
          <p:nvPr/>
        </p:nvSpPr>
        <p:spPr>
          <a:xfrm>
            <a:off x="585216" y="194132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94132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1267460"/>
          </a:xfrm>
          <a:prstGeom prst="rect">
            <a:avLst/>
          </a:prstGeom>
          <a:noFill/>
          <a:ln/>
        </p:spPr>
        <p:txBody>
          <a:bodyPr wrap="square" lIns="0" tIns="0" rIns="0" bIns="0" rtlCol="0" anchor="ctr"/>
          <a:lstStyle/>
          <a:p>
            <a:pPr indent="0" marL="0">
              <a:buNone/>
            </a:pPr>
            <a:r>
              <a:rPr lang="en-US" sz="1400" b="1" dirty="0">
                <a:solidFill>
                  <a:schemeClr val="accent1"/>
                </a:solidFill>
              </a:rPr>
              <a:t>STJ — REsp nº 1.803.585-RN (2ª Turma): </a:t>
            </a:r>
            <a:pPr indent="0" marL="0">
              <a:buNone/>
            </a:pPr>
            <a:r>
              <a:rPr lang="en-US" sz="1400" dirty="0">
                <a:solidFill>
                  <a:schemeClr val="tx1"/>
                </a:solidFill>
              </a:rPr>
              <a:t>a Lei nº 12.846, de 2013, não condiciona a apuração judicial das infrações à prévia instauração de PAR; reitera o princípio da independência das instâncias (art. 18 da lei). No mesmo julgamento: constituição de “empresa de fachada” para dificultar fiscalização já configura ato lesivo (art. 5º, III e V), permitindo dissolução compulsória sem PAR prévio</a:t>
            </a:r>
            <a:endParaRPr lang="en-US" sz="1400" dirty="0"/>
          </a:p>
        </p:txBody>
      </p:sp>
      <p:sp>
        <p:nvSpPr>
          <p:cNvPr id="9" name="Card 2"/>
          <p:cNvSpPr/>
          <p:nvPr/>
        </p:nvSpPr>
        <p:spPr>
          <a:xfrm>
            <a:off x="457200" y="2863342"/>
            <a:ext cx="8229600" cy="1050544"/>
          </a:xfrm>
          <a:prstGeom prst="roundRect">
            <a:avLst>
              <a:gd name="adj" fmla="val 6963"/>
            </a:avLst>
          </a:prstGeom>
          <a:solidFill>
            <a:schemeClr val="bg2"/>
          </a:solidFill>
          <a:ln w="12700">
            <a:solidFill>
              <a:schemeClr val="bg2"/>
            </a:solidFill>
            <a:prstDash val="solid"/>
          </a:ln>
        </p:spPr>
      </p:sp>
      <p:sp>
        <p:nvSpPr>
          <p:cNvPr id="10" name="Badge 2"/>
          <p:cNvSpPr/>
          <p:nvPr/>
        </p:nvSpPr>
        <p:spPr>
          <a:xfrm>
            <a:off x="585216" y="323316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323316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863342"/>
            <a:ext cx="7498080" cy="1050544"/>
          </a:xfrm>
          <a:prstGeom prst="rect">
            <a:avLst/>
          </a:prstGeom>
          <a:noFill/>
          <a:ln/>
        </p:spPr>
        <p:txBody>
          <a:bodyPr wrap="square" lIns="0" tIns="0" rIns="0" bIns="0" rtlCol="0" anchor="ctr"/>
          <a:lstStyle/>
          <a:p>
            <a:pPr indent="0" marL="0">
              <a:buNone/>
            </a:pPr>
            <a:r>
              <a:rPr lang="en-US" sz="1400" b="1" dirty="0">
                <a:solidFill>
                  <a:schemeClr val="accent1"/>
                </a:solidFill>
              </a:rPr>
              <a:t>TCU — Acórdão nº 225/2015-Plenário (Rel. Min. José Múcio Monteiro, j. 11 de fevereiro de 2015): </a:t>
            </a:r>
            <a:pPr indent="0" marL="0">
              <a:buNone/>
            </a:pPr>
            <a:r>
              <a:rPr lang="en-US" sz="1400" dirty="0">
                <a:solidFill>
                  <a:schemeClr val="tx1"/>
                </a:solidFill>
              </a:rPr>
              <a:t>origem do entendimento sobre a competência do TCU para fiscalizar acordos de leniência da Lei nº 12.846, de 2013, base da IN TCU nº 74, de 2015; lógica hoje refletida no art. 16, </a:t>
            </a:r>
            <a:endParaRPr lang="en-US" sz="1400" dirty="0"/>
          </a:p>
        </p:txBody>
      </p:sp>
      <p:sp>
        <p:nvSpPr>
          <p:cNvPr id="13" name="Card 3"/>
          <p:cNvSpPr/>
          <p:nvPr/>
        </p:nvSpPr>
        <p:spPr>
          <a:xfrm>
            <a:off x="457200" y="4046728"/>
            <a:ext cx="8229600" cy="616712"/>
          </a:xfrm>
          <a:prstGeom prst="roundRect">
            <a:avLst>
              <a:gd name="adj" fmla="val 11862"/>
            </a:avLst>
          </a:prstGeom>
          <a:solidFill>
            <a:schemeClr val="bg2"/>
          </a:solidFill>
          <a:ln w="12700">
            <a:solidFill>
              <a:schemeClr val="bg2"/>
            </a:solidFill>
            <a:prstDash val="solid"/>
          </a:ln>
        </p:spPr>
      </p:sp>
      <p:sp>
        <p:nvSpPr>
          <p:cNvPr id="14" name="Badge 3"/>
          <p:cNvSpPr/>
          <p:nvPr/>
        </p:nvSpPr>
        <p:spPr>
          <a:xfrm>
            <a:off x="585216" y="4199636"/>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419963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4046728"/>
            <a:ext cx="7498080" cy="616712"/>
          </a:xfrm>
          <a:prstGeom prst="rect">
            <a:avLst/>
          </a:prstGeom>
          <a:noFill/>
          <a:ln/>
        </p:spPr>
        <p:txBody>
          <a:bodyPr wrap="square" lIns="0" tIns="0" rIns="0" bIns="0" rtlCol="0" anchor="ctr"/>
          <a:lstStyle/>
          <a:p>
            <a:pPr indent="0" marL="0">
              <a:buNone/>
            </a:pPr>
            <a:r>
              <a:rPr lang="en-US" sz="1400" dirty="0">
                <a:solidFill>
                  <a:schemeClr val="tx1"/>
                </a:solidFill>
              </a:rPr>
              <a:t>[DADO A CONFIRMAR: verificar diretamente no portal de jurisprudência do TCU/STJ antes de citar em público]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O QUE É O PAR NA PRÁTICA</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Visão geral do fluxo processual</a:t>
            </a:r>
            <a:endParaRPr lang="en-US" sz="2400" dirty="0"/>
          </a:p>
        </p:txBody>
      </p:sp>
      <p:sp>
        <p:nvSpPr>
          <p:cNvPr id="5" name="Etapa 1"/>
          <p:cNvSpPr/>
          <p:nvPr/>
        </p:nvSpPr>
        <p:spPr>
          <a:xfrm>
            <a:off x="457200" y="1463040"/>
            <a:ext cx="1426464" cy="914400"/>
          </a:xfrm>
          <a:prstGeom prst="roundRect">
            <a:avLst>
              <a:gd name="adj" fmla="val 10000"/>
            </a:avLst>
          </a:prstGeom>
          <a:solidFill>
            <a:schemeClr val="accent1"/>
          </a:solidFill>
          <a:ln w="12700">
            <a:solidFill>
              <a:schemeClr val="accent1"/>
            </a:solidFill>
            <a:prstDash val="solid"/>
          </a:ln>
        </p:spPr>
      </p:sp>
      <p:sp>
        <p:nvSpPr>
          <p:cNvPr id="6" name="Text 3"/>
          <p:cNvSpPr txBox="1"/>
          <p:nvPr/>
        </p:nvSpPr>
        <p:spPr>
          <a:xfrm>
            <a:off x="457200"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Investigação Preliminar (facultativa)</a:t>
            </a:r>
            <a:endParaRPr lang="en-US" sz="1200" dirty="0"/>
          </a:p>
        </p:txBody>
      </p:sp>
      <p:sp>
        <p:nvSpPr>
          <p:cNvPr id="7" name="Seta 1"/>
          <p:cNvSpPr/>
          <p:nvPr/>
        </p:nvSpPr>
        <p:spPr>
          <a:xfrm>
            <a:off x="1920240" y="1801368"/>
            <a:ext cx="201168" cy="237744"/>
          </a:xfrm>
          <a:prstGeom prst="rightArrow">
            <a:avLst/>
          </a:prstGeom>
          <a:solidFill>
            <a:schemeClr val="accent2"/>
          </a:solidFill>
          <a:ln w="12700">
            <a:solidFill>
              <a:schemeClr val="accent2"/>
            </a:solidFill>
            <a:prstDash val="solid"/>
          </a:ln>
        </p:spPr>
      </p:sp>
      <p:sp>
        <p:nvSpPr>
          <p:cNvPr id="8" name="Etapa 2"/>
          <p:cNvSpPr/>
          <p:nvPr/>
        </p:nvSpPr>
        <p:spPr>
          <a:xfrm>
            <a:off x="2157984" y="1463040"/>
            <a:ext cx="1426464" cy="914400"/>
          </a:xfrm>
          <a:prstGeom prst="roundRect">
            <a:avLst>
              <a:gd name="adj" fmla="val 10000"/>
            </a:avLst>
          </a:prstGeom>
          <a:solidFill>
            <a:schemeClr val="tx2"/>
          </a:solidFill>
          <a:ln w="12700">
            <a:solidFill>
              <a:schemeClr val="tx2"/>
            </a:solidFill>
            <a:prstDash val="solid"/>
          </a:ln>
        </p:spPr>
      </p:sp>
      <p:sp>
        <p:nvSpPr>
          <p:cNvPr id="9" name="Text 6"/>
          <p:cNvSpPr txBox="1"/>
          <p:nvPr/>
        </p:nvSpPr>
        <p:spPr>
          <a:xfrm>
            <a:off x="2157984"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Instauração</a:t>
            </a:r>
            <a:endParaRPr lang="en-US" sz="1200" dirty="0"/>
          </a:p>
        </p:txBody>
      </p:sp>
      <p:sp>
        <p:nvSpPr>
          <p:cNvPr id="10" name="Seta 2"/>
          <p:cNvSpPr/>
          <p:nvPr/>
        </p:nvSpPr>
        <p:spPr>
          <a:xfrm>
            <a:off x="3621024" y="1801368"/>
            <a:ext cx="201168" cy="237744"/>
          </a:xfrm>
          <a:prstGeom prst="rightArrow">
            <a:avLst/>
          </a:prstGeom>
          <a:solidFill>
            <a:schemeClr val="accent2"/>
          </a:solidFill>
          <a:ln w="12700">
            <a:solidFill>
              <a:schemeClr val="accent2"/>
            </a:solidFill>
            <a:prstDash val="solid"/>
          </a:ln>
        </p:spPr>
      </p:sp>
      <p:sp>
        <p:nvSpPr>
          <p:cNvPr id="11" name="Etapa 3"/>
          <p:cNvSpPr/>
          <p:nvPr/>
        </p:nvSpPr>
        <p:spPr>
          <a:xfrm>
            <a:off x="3858768" y="1463040"/>
            <a:ext cx="1426464" cy="914400"/>
          </a:xfrm>
          <a:prstGeom prst="roundRect">
            <a:avLst>
              <a:gd name="adj" fmla="val 10000"/>
            </a:avLst>
          </a:prstGeom>
          <a:solidFill>
            <a:schemeClr val="tx2"/>
          </a:solidFill>
          <a:ln w="12700">
            <a:solidFill>
              <a:schemeClr val="tx2"/>
            </a:solidFill>
            <a:prstDash val="solid"/>
          </a:ln>
        </p:spPr>
      </p:sp>
      <p:sp>
        <p:nvSpPr>
          <p:cNvPr id="12" name="Text 9"/>
          <p:cNvSpPr txBox="1"/>
          <p:nvPr/>
        </p:nvSpPr>
        <p:spPr>
          <a:xfrm>
            <a:off x="3858768"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Instrução</a:t>
            </a:r>
            <a:endParaRPr lang="en-US" sz="1200" dirty="0"/>
          </a:p>
        </p:txBody>
      </p:sp>
      <p:sp>
        <p:nvSpPr>
          <p:cNvPr id="13" name="Seta 3"/>
          <p:cNvSpPr/>
          <p:nvPr/>
        </p:nvSpPr>
        <p:spPr>
          <a:xfrm>
            <a:off x="5321808" y="1801368"/>
            <a:ext cx="201168" cy="237744"/>
          </a:xfrm>
          <a:prstGeom prst="rightArrow">
            <a:avLst/>
          </a:prstGeom>
          <a:solidFill>
            <a:schemeClr val="accent2"/>
          </a:solidFill>
          <a:ln w="12700">
            <a:solidFill>
              <a:schemeClr val="accent2"/>
            </a:solidFill>
            <a:prstDash val="solid"/>
          </a:ln>
        </p:spPr>
      </p:sp>
      <p:sp>
        <p:nvSpPr>
          <p:cNvPr id="14" name="Etapa 4"/>
          <p:cNvSpPr/>
          <p:nvPr/>
        </p:nvSpPr>
        <p:spPr>
          <a:xfrm>
            <a:off x="5559552" y="1463040"/>
            <a:ext cx="1426464" cy="914400"/>
          </a:xfrm>
          <a:prstGeom prst="roundRect">
            <a:avLst>
              <a:gd name="adj" fmla="val 10000"/>
            </a:avLst>
          </a:prstGeom>
          <a:solidFill>
            <a:schemeClr val="tx2"/>
          </a:solidFill>
          <a:ln w="12700">
            <a:solidFill>
              <a:schemeClr val="tx2"/>
            </a:solidFill>
            <a:prstDash val="solid"/>
          </a:ln>
        </p:spPr>
      </p:sp>
      <p:sp>
        <p:nvSpPr>
          <p:cNvPr id="15" name="Text 12"/>
          <p:cNvSpPr txBox="1"/>
          <p:nvPr/>
        </p:nvSpPr>
        <p:spPr>
          <a:xfrm>
            <a:off x="5559552"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Relatório Final</a:t>
            </a:r>
            <a:endParaRPr lang="en-US" sz="1200" dirty="0"/>
          </a:p>
        </p:txBody>
      </p:sp>
      <p:sp>
        <p:nvSpPr>
          <p:cNvPr id="16" name="Seta 4"/>
          <p:cNvSpPr/>
          <p:nvPr/>
        </p:nvSpPr>
        <p:spPr>
          <a:xfrm>
            <a:off x="7022592" y="1801368"/>
            <a:ext cx="201168" cy="237744"/>
          </a:xfrm>
          <a:prstGeom prst="rightArrow">
            <a:avLst/>
          </a:prstGeom>
          <a:solidFill>
            <a:schemeClr val="accent2"/>
          </a:solidFill>
          <a:ln w="12700">
            <a:solidFill>
              <a:schemeClr val="accent2"/>
            </a:solidFill>
            <a:prstDash val="solid"/>
          </a:ln>
        </p:spPr>
      </p:sp>
      <p:sp>
        <p:nvSpPr>
          <p:cNvPr id="17" name="Etapa 5"/>
          <p:cNvSpPr/>
          <p:nvPr/>
        </p:nvSpPr>
        <p:spPr>
          <a:xfrm>
            <a:off x="7260336" y="1463040"/>
            <a:ext cx="1426464" cy="914400"/>
          </a:xfrm>
          <a:prstGeom prst="roundRect">
            <a:avLst>
              <a:gd name="adj" fmla="val 10000"/>
            </a:avLst>
          </a:prstGeom>
          <a:solidFill>
            <a:schemeClr val="tx2"/>
          </a:solidFill>
          <a:ln w="12700">
            <a:solidFill>
              <a:schemeClr val="tx2"/>
            </a:solidFill>
            <a:prstDash val="solid"/>
          </a:ln>
        </p:spPr>
      </p:sp>
      <p:sp>
        <p:nvSpPr>
          <p:cNvPr id="18" name="Text 15"/>
          <p:cNvSpPr txBox="1"/>
          <p:nvPr/>
        </p:nvSpPr>
        <p:spPr>
          <a:xfrm>
            <a:off x="7260336"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Julgamento</a:t>
            </a:r>
            <a:endParaRPr lang="en-US" sz="1200" dirty="0"/>
          </a:p>
        </p:txBody>
      </p:sp>
      <p:sp>
        <p:nvSpPr>
          <p:cNvPr id="19" name="Card 1"/>
          <p:cNvSpPr/>
          <p:nvPr/>
        </p:nvSpPr>
        <p:spPr>
          <a:xfrm>
            <a:off x="457200" y="2651760"/>
            <a:ext cx="8229600" cy="740664"/>
          </a:xfrm>
          <a:prstGeom prst="roundRect">
            <a:avLst>
              <a:gd name="adj" fmla="val 9877"/>
            </a:avLst>
          </a:prstGeom>
          <a:solidFill>
            <a:schemeClr val="bg2"/>
          </a:solidFill>
          <a:ln w="12700">
            <a:solidFill>
              <a:schemeClr val="bg2"/>
            </a:solidFill>
            <a:prstDash val="solid"/>
          </a:ln>
        </p:spPr>
      </p:sp>
      <p:sp>
        <p:nvSpPr>
          <p:cNvPr id="20" name="Badge 1"/>
          <p:cNvSpPr/>
          <p:nvPr/>
        </p:nvSpPr>
        <p:spPr>
          <a:xfrm>
            <a:off x="585216" y="2866644"/>
            <a:ext cx="310896" cy="310896"/>
          </a:xfrm>
          <a:prstGeom prst="ellipse">
            <a:avLst/>
          </a:prstGeom>
          <a:solidFill>
            <a:schemeClr val="accent1"/>
          </a:solidFill>
          <a:ln w="12700">
            <a:solidFill>
              <a:schemeClr val="accent1"/>
            </a:solidFill>
            <a:prstDash val="solid"/>
          </a:ln>
        </p:spPr>
      </p:sp>
      <p:sp>
        <p:nvSpPr>
          <p:cNvPr id="21" name="Text 18"/>
          <p:cNvSpPr txBox="1"/>
          <p:nvPr/>
        </p:nvSpPr>
        <p:spPr>
          <a:xfrm>
            <a:off x="585216" y="286664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2" name="Text 19"/>
          <p:cNvSpPr txBox="1"/>
          <p:nvPr/>
        </p:nvSpPr>
        <p:spPr>
          <a:xfrm>
            <a:off x="1024128" y="2651760"/>
            <a:ext cx="7498080" cy="740664"/>
          </a:xfrm>
          <a:prstGeom prst="rect">
            <a:avLst/>
          </a:prstGeom>
          <a:noFill/>
          <a:ln/>
        </p:spPr>
        <p:txBody>
          <a:bodyPr wrap="square" lIns="0" tIns="0" rIns="0" bIns="0" rtlCol="0" anchor="ctr"/>
          <a:lstStyle/>
          <a:p>
            <a:pPr indent="0" marL="0">
              <a:buNone/>
            </a:pPr>
            <a:r>
              <a:rPr lang="en-US" sz="1800" dirty="0">
                <a:solidFill>
                  <a:schemeClr val="tx1"/>
                </a:solidFill>
              </a:rPr>
              <a:t>Prazo de referência: 180 dias, prorrogável (art. 13, Decreto nº 11.129, de 2022)</a:t>
            </a:r>
            <a:endParaRPr lang="en-US" sz="1800" dirty="0"/>
          </a:p>
        </p:txBody>
      </p:sp>
      <p:sp>
        <p:nvSpPr>
          <p:cNvPr id="23" name="Card 2"/>
          <p:cNvSpPr/>
          <p:nvPr/>
        </p:nvSpPr>
        <p:spPr>
          <a:xfrm>
            <a:off x="457200" y="3685032"/>
            <a:ext cx="8229600" cy="740664"/>
          </a:xfrm>
          <a:prstGeom prst="roundRect">
            <a:avLst>
              <a:gd name="adj" fmla="val 9877"/>
            </a:avLst>
          </a:prstGeom>
          <a:solidFill>
            <a:schemeClr val="bg2"/>
          </a:solidFill>
          <a:ln w="12700">
            <a:solidFill>
              <a:schemeClr val="bg2"/>
            </a:solidFill>
            <a:prstDash val="solid"/>
          </a:ln>
        </p:spPr>
      </p:sp>
      <p:sp>
        <p:nvSpPr>
          <p:cNvPr id="24" name="Badge 2"/>
          <p:cNvSpPr/>
          <p:nvPr/>
        </p:nvSpPr>
        <p:spPr>
          <a:xfrm>
            <a:off x="585216" y="3899916"/>
            <a:ext cx="310896" cy="310896"/>
          </a:xfrm>
          <a:prstGeom prst="ellipse">
            <a:avLst/>
          </a:prstGeom>
          <a:solidFill>
            <a:schemeClr val="accent1"/>
          </a:solidFill>
          <a:ln w="12700">
            <a:solidFill>
              <a:schemeClr val="accent1"/>
            </a:solidFill>
            <a:prstDash val="solid"/>
          </a:ln>
        </p:spPr>
      </p:sp>
      <p:sp>
        <p:nvSpPr>
          <p:cNvPr id="25" name="Text 22"/>
          <p:cNvSpPr txBox="1"/>
          <p:nvPr/>
        </p:nvSpPr>
        <p:spPr>
          <a:xfrm>
            <a:off x="585216" y="389991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6" name="Text 23"/>
          <p:cNvSpPr txBox="1"/>
          <p:nvPr/>
        </p:nvSpPr>
        <p:spPr>
          <a:xfrm>
            <a:off x="1024128" y="3685032"/>
            <a:ext cx="7498080" cy="740664"/>
          </a:xfrm>
          <a:prstGeom prst="rect">
            <a:avLst/>
          </a:prstGeom>
          <a:noFill/>
          <a:ln/>
        </p:spPr>
        <p:txBody>
          <a:bodyPr wrap="square" lIns="0" tIns="0" rIns="0" bIns="0" rtlCol="0" anchor="ctr"/>
          <a:lstStyle/>
          <a:p>
            <a:pPr indent="0" marL="0">
              <a:buNone/>
            </a:pPr>
            <a:r>
              <a:rPr lang="en-US" sz="1800" dirty="0">
                <a:solidFill>
                  <a:schemeClr val="tx1"/>
                </a:solidFill>
              </a:rPr>
              <a:t>A partir do encaminhamento de uma representação, a condução de todas essas etapas é atribuição da Coger</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O QUE É O PAR NA PRÁTICA</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Investigação Preliminar: o sigilo que protege quem representa</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Natureza sigilosa e facultativa</a:t>
            </a:r>
            <a:endParaRPr lang="en-US" sz="1800" dirty="0"/>
          </a:p>
        </p:txBody>
      </p:sp>
      <p:sp>
        <p:nvSpPr>
          <p:cNvPr id="9" name="Card 2"/>
          <p:cNvSpPr/>
          <p:nvPr/>
        </p:nvSpPr>
        <p:spPr>
          <a:xfrm>
            <a:off x="457200" y="2258568"/>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47345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4734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740664"/>
          </a:xfrm>
          <a:prstGeom prst="rect">
            <a:avLst/>
          </a:prstGeom>
          <a:noFill/>
          <a:ln/>
        </p:spPr>
        <p:txBody>
          <a:bodyPr wrap="square" lIns="0" tIns="0" rIns="0" bIns="0" rtlCol="0" anchor="ctr"/>
          <a:lstStyle/>
          <a:p>
            <a:pPr indent="0" marL="0">
              <a:buNone/>
            </a:pPr>
            <a:r>
              <a:rPr lang="en-US" sz="1800" dirty="0">
                <a:solidFill>
                  <a:schemeClr val="tx1"/>
                </a:solidFill>
              </a:rPr>
              <a:t>Objetivo: reunir elementos mínimos de autoria e materialidade antes de instaurar o PAR</a:t>
            </a:r>
            <a:endParaRPr lang="en-US" sz="1800" dirty="0"/>
          </a:p>
        </p:txBody>
      </p:sp>
      <p:sp>
        <p:nvSpPr>
          <p:cNvPr id="13" name="Card 3"/>
          <p:cNvSpPr/>
          <p:nvPr/>
        </p:nvSpPr>
        <p:spPr>
          <a:xfrm>
            <a:off x="457200" y="3291840"/>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506724"/>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5067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91840"/>
            <a:ext cx="7498080" cy="740664"/>
          </a:xfrm>
          <a:prstGeom prst="rect">
            <a:avLst/>
          </a:prstGeom>
          <a:noFill/>
          <a:ln/>
        </p:spPr>
        <p:txBody>
          <a:bodyPr wrap="square" lIns="0" tIns="0" rIns="0" bIns="0" rtlCol="0" anchor="ctr"/>
          <a:lstStyle/>
          <a:p>
            <a:pPr indent="0" marL="0">
              <a:buNone/>
            </a:pPr>
            <a:r>
              <a:rPr lang="en-US" sz="1800" dirty="0">
                <a:solidFill>
                  <a:schemeClr val="tx1"/>
                </a:solidFill>
              </a:rPr>
              <a:t>O sigilo protege tanto a empresa quanto a divisão que representou, evitando exposição prematura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O QUE É O PAR NA PRÁTICA</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CEIS e CNEP: a consequência do PAR</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CEIS e CNEP</a:t>
            </a:r>
            <a:endParaRPr lang="en-US" sz="1800" dirty="0"/>
          </a:p>
        </p:txBody>
      </p:sp>
      <p:sp>
        <p:nvSpPr>
          <p:cNvPr id="9" name="Card 2"/>
          <p:cNvSpPr/>
          <p:nvPr/>
        </p:nvSpPr>
        <p:spPr>
          <a:xfrm>
            <a:off x="457200" y="2258568"/>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47345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4734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740664"/>
          </a:xfrm>
          <a:prstGeom prst="rect">
            <a:avLst/>
          </a:prstGeom>
          <a:noFill/>
          <a:ln/>
        </p:spPr>
        <p:txBody>
          <a:bodyPr wrap="square" lIns="0" tIns="0" rIns="0" bIns="0" rtlCol="0" anchor="ctr"/>
          <a:lstStyle/>
          <a:p>
            <a:pPr indent="0" marL="0">
              <a:buNone/>
            </a:pPr>
            <a:r>
              <a:rPr lang="en-US" sz="1800" dirty="0">
                <a:solidFill>
                  <a:schemeClr val="tx1"/>
                </a:solidFill>
              </a:rPr>
              <a:t>Criado administrativamente pela CGU em 2008; a Lei nº 12.846, de 2013, tornou o registro obrigatório (art. 23)</a:t>
            </a:r>
            <a:endParaRPr lang="en-US" sz="1800" dirty="0"/>
          </a:p>
        </p:txBody>
      </p:sp>
      <p:sp>
        <p:nvSpPr>
          <p:cNvPr id="13" name="Card 3"/>
          <p:cNvSpPr/>
          <p:nvPr/>
        </p:nvSpPr>
        <p:spPr>
          <a:xfrm>
            <a:off x="457200" y="3291840"/>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506724"/>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5067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91840"/>
            <a:ext cx="7498080" cy="740664"/>
          </a:xfrm>
          <a:prstGeom prst="rect">
            <a:avLst/>
          </a:prstGeom>
          <a:noFill/>
          <a:ln/>
        </p:spPr>
        <p:txBody>
          <a:bodyPr wrap="square" lIns="0" tIns="0" rIns="0" bIns="0" rtlCol="0" anchor="ctr"/>
          <a:lstStyle/>
          <a:p>
            <a:pPr indent="0" marL="0">
              <a:buNone/>
            </a:pPr>
            <a:r>
              <a:rPr lang="en-US" sz="1800" dirty="0">
                <a:solidFill>
                  <a:schemeClr val="tx1"/>
                </a:solidFill>
              </a:rPr>
              <a:t>Efeito: publicidade da sanção e restrição de contratar com a administração pública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 lógica geral da multa</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Base: faturamento bruto do último exercício anterior à instauração do PAR</a:t>
            </a:r>
            <a:endParaRPr lang="en-US" sz="1800" dirty="0"/>
          </a:p>
        </p:txBody>
      </p:sp>
      <p:sp>
        <p:nvSpPr>
          <p:cNvPr id="9" name="Card 2"/>
          <p:cNvSpPr/>
          <p:nvPr/>
        </p:nvSpPr>
        <p:spPr>
          <a:xfrm>
            <a:off x="457200" y="2496312"/>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59232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923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502920"/>
          </a:xfrm>
          <a:prstGeom prst="rect">
            <a:avLst/>
          </a:prstGeom>
          <a:noFill/>
          <a:ln/>
        </p:spPr>
        <p:txBody>
          <a:bodyPr wrap="square" lIns="0" tIns="0" rIns="0" bIns="0" rtlCol="0" anchor="ctr"/>
          <a:lstStyle/>
          <a:p>
            <a:pPr indent="0" marL="0">
              <a:buNone/>
            </a:pPr>
            <a:r>
              <a:rPr lang="en-US" sz="1800" dirty="0">
                <a:solidFill>
                  <a:schemeClr val="tx1"/>
                </a:solidFill>
              </a:rPr>
              <a:t>Percentual entre 0,1% e 20% (art. 6º, I, Lei nº 12.846, de 2013)</a:t>
            </a:r>
            <a:endParaRPr lang="en-US" sz="1800" dirty="0"/>
          </a:p>
        </p:txBody>
      </p:sp>
      <p:sp>
        <p:nvSpPr>
          <p:cNvPr id="13" name="Card 3"/>
          <p:cNvSpPr/>
          <p:nvPr/>
        </p:nvSpPr>
        <p:spPr>
          <a:xfrm>
            <a:off x="457200" y="3291840"/>
            <a:ext cx="8229600" cy="502920"/>
          </a:xfrm>
          <a:prstGeom prst="roundRect">
            <a:avLst>
              <a:gd name="adj" fmla="val 14545"/>
            </a:avLst>
          </a:prstGeom>
          <a:solidFill>
            <a:schemeClr val="bg2"/>
          </a:solidFill>
          <a:ln w="12700">
            <a:solidFill>
              <a:schemeClr val="bg2"/>
            </a:solidFill>
            <a:prstDash val="solid"/>
          </a:ln>
        </p:spPr>
      </p:sp>
      <p:sp>
        <p:nvSpPr>
          <p:cNvPr id="14" name="Badge 3"/>
          <p:cNvSpPr/>
          <p:nvPr/>
        </p:nvSpPr>
        <p:spPr>
          <a:xfrm>
            <a:off x="585216" y="3387852"/>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3878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91840"/>
            <a:ext cx="7498080" cy="502920"/>
          </a:xfrm>
          <a:prstGeom prst="rect">
            <a:avLst/>
          </a:prstGeom>
          <a:noFill/>
          <a:ln/>
        </p:spPr>
        <p:txBody>
          <a:bodyPr wrap="square" lIns="0" tIns="0" rIns="0" bIns="0" rtlCol="0" anchor="ctr"/>
          <a:lstStyle/>
          <a:p>
            <a:pPr indent="0" marL="0">
              <a:buNone/>
            </a:pPr>
            <a:r>
              <a:rPr lang="en-US" sz="1800" dirty="0">
                <a:solidFill>
                  <a:schemeClr val="tx1"/>
                </a:solidFill>
              </a:rPr>
              <a:t>Piso e teto: art. 25, Decreto nº 11.129, de 2022</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Bloco de não incidência</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Situações em que certos fatores não se aplicam ao cálculo</a:t>
            </a:r>
            <a:endParaRPr lang="en-US" sz="1800" dirty="0"/>
          </a:p>
        </p:txBody>
      </p:sp>
      <p:sp>
        <p:nvSpPr>
          <p:cNvPr id="9" name="Card 2"/>
          <p:cNvSpPr/>
          <p:nvPr/>
        </p:nvSpPr>
        <p:spPr>
          <a:xfrm>
            <a:off x="457200" y="2258568"/>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354580"/>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3545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502920"/>
          </a:xfrm>
          <a:prstGeom prst="rect">
            <a:avLst/>
          </a:prstGeom>
          <a:noFill/>
          <a:ln/>
        </p:spPr>
        <p:txBody>
          <a:bodyPr wrap="square" lIns="0" tIns="0" rIns="0" bIns="0" rtlCol="0" anchor="ctr"/>
          <a:lstStyle/>
          <a:p>
            <a:pPr indent="0" marL="0">
              <a:buNone/>
            </a:pPr>
            <a:r>
              <a:rPr lang="en-US" sz="1800" dirty="0">
                <a:solidFill>
                  <a:schemeClr val="tx1"/>
                </a:solidFill>
              </a:rPr>
              <a:t>Objetivo: evitar dupla contagem de circunstâncias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Agravantes</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Reincidência, interrupção de serviço público essencial, tolerância da alta administração</a:t>
            </a:r>
            <a:endParaRPr lang="en-US" sz="1800" dirty="0"/>
          </a:p>
        </p:txBody>
      </p:sp>
      <p:sp>
        <p:nvSpPr>
          <p:cNvPr id="9" name="Card 2"/>
          <p:cNvSpPr/>
          <p:nvPr/>
        </p:nvSpPr>
        <p:spPr>
          <a:xfrm>
            <a:off x="457200" y="2496312"/>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59232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923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502920"/>
          </a:xfrm>
          <a:prstGeom prst="rect">
            <a:avLst/>
          </a:prstGeom>
          <a:noFill/>
          <a:ln/>
        </p:spPr>
        <p:txBody>
          <a:bodyPr wrap="square" lIns="0" tIns="0" rIns="0" bIns="0" rtlCol="0" anchor="ctr"/>
          <a:lstStyle/>
          <a:p>
            <a:pPr indent="0" marL="0">
              <a:buNone/>
            </a:pPr>
            <a:r>
              <a:rPr lang="en-US" sz="1800" dirty="0">
                <a:solidFill>
                  <a:schemeClr val="tx1"/>
                </a:solidFill>
              </a:rPr>
              <a:t>Percentuais específicos no Decreto nº 11.129, de 2022</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Atenuantes</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Comunicação espontânea, colaboração efetiva, cessação da conduta ilícita</a:t>
            </a:r>
            <a:endParaRPr lang="en-US" sz="1800" dirty="0"/>
          </a:p>
        </p:txBody>
      </p:sp>
      <p:sp>
        <p:nvSpPr>
          <p:cNvPr id="9" name="Card 2"/>
          <p:cNvSpPr/>
          <p:nvPr/>
        </p:nvSpPr>
        <p:spPr>
          <a:xfrm>
            <a:off x="457200" y="2496312"/>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59232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923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502920"/>
          </a:xfrm>
          <a:prstGeom prst="rect">
            <a:avLst/>
          </a:prstGeom>
          <a:noFill/>
          <a:ln/>
        </p:spPr>
        <p:txBody>
          <a:bodyPr wrap="square" lIns="0" tIns="0" rIns="0" bIns="0" rtlCol="0" anchor="ctr"/>
          <a:lstStyle/>
          <a:p>
            <a:pPr indent="0" marL="0">
              <a:buNone/>
            </a:pPr>
            <a:r>
              <a:rPr lang="en-US" sz="1800" dirty="0">
                <a:solidFill>
                  <a:schemeClr val="tx1"/>
                </a:solidFill>
              </a:rPr>
              <a:t>Reduzem o percentual final da multa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Casuística: exemplos aplicados</a:t>
            </a:r>
            <a:endParaRPr lang="en-US" sz="2400" dirty="0"/>
          </a:p>
        </p:txBody>
      </p:sp>
      <p:sp>
        <p:nvSpPr>
          <p:cNvPr id="5" name="Espaço de dado 1"/>
          <p:cNvSpPr/>
          <p:nvPr/>
        </p:nvSpPr>
        <p:spPr>
          <a:xfrm>
            <a:off x="457200" y="1463040"/>
            <a:ext cx="8229600" cy="2926080"/>
          </a:xfrm>
          <a:prstGeom prst="roundRect">
            <a:avLst>
              <a:gd name="adj" fmla="val 3125"/>
            </a:avLst>
          </a:prstGeom>
          <a:solidFill>
            <a:schemeClr val="bg2"/>
          </a:solidFill>
          <a:ln w="25400">
            <a:solidFill>
              <a:schemeClr val="accent2"/>
            </a:solidFill>
            <a:prstDash val="dash"/>
          </a:ln>
        </p:spPr>
      </p:sp>
      <p:sp>
        <p:nvSpPr>
          <p:cNvPr id="6" name="Text 3"/>
          <p:cNvSpPr txBox="1"/>
          <p:nvPr/>
        </p:nvSpPr>
        <p:spPr>
          <a:xfrm>
            <a:off x="731520" y="1463040"/>
            <a:ext cx="7680960" cy="2926080"/>
          </a:xfrm>
          <a:prstGeom prst="rect">
            <a:avLst/>
          </a:prstGeom>
          <a:noFill/>
          <a:ln/>
        </p:spPr>
        <p:txBody>
          <a:bodyPr wrap="square" lIns="0" tIns="0" rIns="0" bIns="0" rtlCol="0" anchor="ctr"/>
          <a:lstStyle/>
          <a:p>
            <a:pPr algn="ctr" indent="0" marL="0">
              <a:buNone/>
            </a:pPr>
            <a:r>
              <a:rPr lang="en-US" sz="1800" b="1" dirty="0">
                <a:solidFill>
                  <a:schemeClr val="tx2"/>
                </a:solidFill>
              </a:rPr>
              <a:t>DADO A PREENCHER</a:t>
            </a:r>
            <a:endParaRPr lang="en-US" sz="1800" dirty="0"/>
          </a:p>
          <a:p>
            <a:pPr algn="ctr" indent="0" marL="0">
              <a:buNone/>
            </a:pPr>
            <a:r>
              <a:rPr lang="en-US" sz="1800" b="1" dirty="0">
                <a:solidFill>
                  <a:schemeClr val="tx2"/>
                </a:solidFill>
              </a:rPr>
              <a:t>1-2 exemplos anonimizados de aplicação de agravantes/atenuantes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 Programa de Integridade como atenuante</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Art. 23, V, Decreto nº 11.129, de 2022: redução de até 5%</a:t>
            </a:r>
            <a:endParaRPr lang="en-US" sz="1800" dirty="0"/>
          </a:p>
        </p:txBody>
      </p:sp>
      <p:sp>
        <p:nvSpPr>
          <p:cNvPr id="9" name="Card 2"/>
          <p:cNvSpPr/>
          <p:nvPr/>
        </p:nvSpPr>
        <p:spPr>
          <a:xfrm>
            <a:off x="457200" y="2258568"/>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354580"/>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3545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502920"/>
          </a:xfrm>
          <a:prstGeom prst="rect">
            <a:avLst/>
          </a:prstGeom>
          <a:noFill/>
          <a:ln/>
        </p:spPr>
        <p:txBody>
          <a:bodyPr wrap="square" lIns="0" tIns="0" rIns="0" bIns="0" rtlCol="0" anchor="ctr"/>
          <a:lstStyle/>
          <a:p>
            <a:pPr indent="0" marL="0">
              <a:buNone/>
            </a:pPr>
            <a:r>
              <a:rPr lang="en-US" sz="1800" dirty="0">
                <a:solidFill>
                  <a:schemeClr val="tx1"/>
                </a:solidFill>
              </a:rPr>
              <a:t>Avaliação em três eixos: COI, MPI, APJ</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 multiplicador de integridade de 1,25</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Portaria Conjunta CGU/STPC nº 6, de 9 de setembro de 2022</a:t>
            </a:r>
            <a:endParaRPr lang="en-US" sz="1800" dirty="0"/>
          </a:p>
        </p:txBody>
      </p:sp>
      <p:sp>
        <p:nvSpPr>
          <p:cNvPr id="9" name="Card 2"/>
          <p:cNvSpPr/>
          <p:nvPr/>
        </p:nvSpPr>
        <p:spPr>
          <a:xfrm>
            <a:off x="457200" y="2258568"/>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354580"/>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3545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502920"/>
          </a:xfrm>
          <a:prstGeom prst="rect">
            <a:avLst/>
          </a:prstGeom>
          <a:noFill/>
          <a:ln/>
        </p:spPr>
        <p:txBody>
          <a:bodyPr wrap="square" lIns="0" tIns="0" rIns="0" bIns="0" rtlCol="0" anchor="ctr"/>
          <a:lstStyle/>
          <a:p>
            <a:pPr indent="0" marL="0">
              <a:buNone/>
            </a:pPr>
            <a:r>
              <a:rPr lang="en-US" sz="1800" dirty="0">
                <a:solidFill>
                  <a:schemeClr val="tx1"/>
                </a:solidFill>
              </a:rPr>
              <a:t>Resultado ≥ 1% → multiplicador de 1,25</a:t>
            </a:r>
            <a:endParaRPr lang="en-US" sz="1800" dirty="0"/>
          </a:p>
        </p:txBody>
      </p:sp>
      <p:sp>
        <p:nvSpPr>
          <p:cNvPr id="13" name="Card 3"/>
          <p:cNvSpPr/>
          <p:nvPr/>
        </p:nvSpPr>
        <p:spPr>
          <a:xfrm>
            <a:off x="457200" y="3054096"/>
            <a:ext cx="8229600" cy="502920"/>
          </a:xfrm>
          <a:prstGeom prst="roundRect">
            <a:avLst>
              <a:gd name="adj" fmla="val 14545"/>
            </a:avLst>
          </a:prstGeom>
          <a:solidFill>
            <a:schemeClr val="bg2"/>
          </a:solidFill>
          <a:ln w="12700">
            <a:solidFill>
              <a:schemeClr val="bg2"/>
            </a:solidFill>
            <a:prstDash val="solid"/>
          </a:ln>
        </p:spPr>
      </p:sp>
      <p:sp>
        <p:nvSpPr>
          <p:cNvPr id="14" name="Badge 3"/>
          <p:cNvSpPr/>
          <p:nvPr/>
        </p:nvSpPr>
        <p:spPr>
          <a:xfrm>
            <a:off x="585216" y="315010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1501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054096"/>
            <a:ext cx="7498080" cy="502920"/>
          </a:xfrm>
          <a:prstGeom prst="rect">
            <a:avLst/>
          </a:prstGeom>
          <a:noFill/>
          <a:ln/>
        </p:spPr>
        <p:txBody>
          <a:bodyPr wrap="square" lIns="0" tIns="0" rIns="0" bIns="0" rtlCol="0" anchor="ctr"/>
          <a:lstStyle/>
          <a:p>
            <a:pPr indent="0" marL="0">
              <a:buNone/>
            </a:pPr>
            <a:r>
              <a:rPr lang="en-US" sz="1800" dirty="0">
                <a:solidFill>
                  <a:schemeClr val="tx1"/>
                </a:solidFill>
              </a:rPr>
              <a:t>Reflete o novo teto de 5% (antes 4%)</a:t>
            </a:r>
            <a:endParaRPr lang="en-US" sz="1800" dirty="0"/>
          </a:p>
        </p:txBody>
      </p:sp>
      <p:sp>
        <p:nvSpPr>
          <p:cNvPr id="17" name="Card 4"/>
          <p:cNvSpPr/>
          <p:nvPr/>
        </p:nvSpPr>
        <p:spPr>
          <a:xfrm>
            <a:off x="457200" y="3849624"/>
            <a:ext cx="8229600" cy="740664"/>
          </a:xfrm>
          <a:prstGeom prst="roundRect">
            <a:avLst>
              <a:gd name="adj" fmla="val 9877"/>
            </a:avLst>
          </a:prstGeom>
          <a:solidFill>
            <a:schemeClr val="bg2"/>
          </a:solidFill>
          <a:ln w="12700">
            <a:solidFill>
              <a:schemeClr val="bg2"/>
            </a:solidFill>
            <a:prstDash val="solid"/>
          </a:ln>
        </p:spPr>
      </p:sp>
      <p:sp>
        <p:nvSpPr>
          <p:cNvPr id="18" name="Badge 4"/>
          <p:cNvSpPr/>
          <p:nvPr/>
        </p:nvSpPr>
        <p:spPr>
          <a:xfrm>
            <a:off x="585216" y="4064508"/>
            <a:ext cx="310896" cy="310896"/>
          </a:xfrm>
          <a:prstGeom prst="ellipse">
            <a:avLst/>
          </a:prstGeom>
          <a:solidFill>
            <a:schemeClr val="accent1"/>
          </a:solidFill>
          <a:ln w="12700">
            <a:solidFill>
              <a:schemeClr val="accent1"/>
            </a:solidFill>
            <a:prstDash val="solid"/>
          </a:ln>
        </p:spPr>
      </p:sp>
      <p:sp>
        <p:nvSpPr>
          <p:cNvPr id="19" name="Text 16"/>
          <p:cNvSpPr txBox="1"/>
          <p:nvPr/>
        </p:nvSpPr>
        <p:spPr>
          <a:xfrm>
            <a:off x="585216" y="40645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7"/>
          <p:cNvSpPr txBox="1"/>
          <p:nvPr/>
        </p:nvSpPr>
        <p:spPr>
          <a:xfrm>
            <a:off x="1024128" y="3849624"/>
            <a:ext cx="7498080" cy="740664"/>
          </a:xfrm>
          <a:prstGeom prst="rect">
            <a:avLst/>
          </a:prstGeom>
          <a:noFill/>
          <a:ln/>
        </p:spPr>
        <p:txBody>
          <a:bodyPr wrap="square" lIns="0" tIns="0" rIns="0" bIns="0" rtlCol="0" anchor="ctr"/>
          <a:lstStyle/>
          <a:p>
            <a:pPr indent="0" marL="0">
              <a:buNone/>
            </a:pPr>
            <a:r>
              <a:rPr lang="en-US" sz="1800" b="1" dirty="0">
                <a:solidFill>
                  <a:schemeClr val="accent1"/>
                </a:solidFill>
              </a:rPr>
              <a:t>Fluxo de informação: </a:t>
            </a:r>
            <a:pPr indent="0" marL="0">
              <a:buNone/>
            </a:pPr>
            <a:r>
              <a:rPr lang="en-US" sz="1800" dirty="0">
                <a:solidFill>
                  <a:schemeClr val="tx1"/>
                </a:solidFill>
              </a:rPr>
              <a:t>da governança da empresa → para a sanção do PAR</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Metodologia da Calculadora de Sanções: visão geral</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Ferramenta da Coger/RFB para padronizar e dar transparência à dosimetria</a:t>
            </a:r>
            <a:endParaRPr lang="en-US" sz="1800" dirty="0"/>
          </a:p>
        </p:txBody>
      </p:sp>
      <p:sp>
        <p:nvSpPr>
          <p:cNvPr id="9" name="Card 2"/>
          <p:cNvSpPr/>
          <p:nvPr/>
        </p:nvSpPr>
        <p:spPr>
          <a:xfrm>
            <a:off x="457200" y="2496312"/>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59232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923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502920"/>
          </a:xfrm>
          <a:prstGeom prst="rect">
            <a:avLst/>
          </a:prstGeom>
          <a:noFill/>
          <a:ln/>
        </p:spPr>
        <p:txBody>
          <a:bodyPr wrap="square" lIns="0" tIns="0" rIns="0" bIns="0" rtlCol="0" anchor="ctr"/>
          <a:lstStyle/>
          <a:p>
            <a:pPr indent="0" marL="0">
              <a:buNone/>
            </a:pPr>
            <a:r>
              <a:rPr lang="en-US" sz="1800" dirty="0">
                <a:solidFill>
                  <a:schemeClr val="tx1"/>
                </a:solidFill>
              </a:rPr>
              <a:t>Estrutura em 14 passos sequenciais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DOSIMETRIA DA SANÇÃO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Os 14 passos: lógica de construção</a:t>
            </a:r>
            <a:endParaRPr lang="en-US" sz="2400" dirty="0"/>
          </a:p>
        </p:txBody>
      </p:sp>
      <p:sp>
        <p:nvSpPr>
          <p:cNvPr id="5" name="Etapa 1"/>
          <p:cNvSpPr/>
          <p:nvPr/>
        </p:nvSpPr>
        <p:spPr>
          <a:xfrm>
            <a:off x="457200" y="1463040"/>
            <a:ext cx="1426464" cy="914400"/>
          </a:xfrm>
          <a:prstGeom prst="roundRect">
            <a:avLst>
              <a:gd name="adj" fmla="val 10000"/>
            </a:avLst>
          </a:prstGeom>
          <a:solidFill>
            <a:schemeClr val="accent1"/>
          </a:solidFill>
          <a:ln w="12700">
            <a:solidFill>
              <a:schemeClr val="accent1"/>
            </a:solidFill>
            <a:prstDash val="solid"/>
          </a:ln>
        </p:spPr>
      </p:sp>
      <p:sp>
        <p:nvSpPr>
          <p:cNvPr id="6" name="Text 3"/>
          <p:cNvSpPr txBox="1"/>
          <p:nvPr/>
        </p:nvSpPr>
        <p:spPr>
          <a:xfrm>
            <a:off x="457200"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Base de cálculo</a:t>
            </a:r>
            <a:endParaRPr lang="en-US" sz="1200" dirty="0"/>
          </a:p>
        </p:txBody>
      </p:sp>
      <p:sp>
        <p:nvSpPr>
          <p:cNvPr id="7" name="Seta 1"/>
          <p:cNvSpPr/>
          <p:nvPr/>
        </p:nvSpPr>
        <p:spPr>
          <a:xfrm>
            <a:off x="1920240" y="1801368"/>
            <a:ext cx="201168" cy="237744"/>
          </a:xfrm>
          <a:prstGeom prst="rightArrow">
            <a:avLst/>
          </a:prstGeom>
          <a:solidFill>
            <a:schemeClr val="accent2"/>
          </a:solidFill>
          <a:ln w="12700">
            <a:solidFill>
              <a:schemeClr val="accent2"/>
            </a:solidFill>
            <a:prstDash val="solid"/>
          </a:ln>
        </p:spPr>
      </p:sp>
      <p:sp>
        <p:nvSpPr>
          <p:cNvPr id="8" name="Etapa 2"/>
          <p:cNvSpPr/>
          <p:nvPr/>
        </p:nvSpPr>
        <p:spPr>
          <a:xfrm>
            <a:off x="2157984" y="1463040"/>
            <a:ext cx="1426464" cy="914400"/>
          </a:xfrm>
          <a:prstGeom prst="roundRect">
            <a:avLst>
              <a:gd name="adj" fmla="val 10000"/>
            </a:avLst>
          </a:prstGeom>
          <a:solidFill>
            <a:schemeClr val="tx2"/>
          </a:solidFill>
          <a:ln w="12700">
            <a:solidFill>
              <a:schemeClr val="tx2"/>
            </a:solidFill>
            <a:prstDash val="solid"/>
          </a:ln>
        </p:spPr>
      </p:sp>
      <p:sp>
        <p:nvSpPr>
          <p:cNvPr id="9" name="Text 6"/>
          <p:cNvSpPr txBox="1"/>
          <p:nvPr/>
        </p:nvSpPr>
        <p:spPr>
          <a:xfrm>
            <a:off x="2157984"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Agravantes</a:t>
            </a:r>
            <a:endParaRPr lang="en-US" sz="1200" dirty="0"/>
          </a:p>
        </p:txBody>
      </p:sp>
      <p:sp>
        <p:nvSpPr>
          <p:cNvPr id="10" name="Seta 2"/>
          <p:cNvSpPr/>
          <p:nvPr/>
        </p:nvSpPr>
        <p:spPr>
          <a:xfrm>
            <a:off x="3621024" y="1801368"/>
            <a:ext cx="201168" cy="237744"/>
          </a:xfrm>
          <a:prstGeom prst="rightArrow">
            <a:avLst/>
          </a:prstGeom>
          <a:solidFill>
            <a:schemeClr val="accent2"/>
          </a:solidFill>
          <a:ln w="12700">
            <a:solidFill>
              <a:schemeClr val="accent2"/>
            </a:solidFill>
            <a:prstDash val="solid"/>
          </a:ln>
        </p:spPr>
      </p:sp>
      <p:sp>
        <p:nvSpPr>
          <p:cNvPr id="11" name="Etapa 3"/>
          <p:cNvSpPr/>
          <p:nvPr/>
        </p:nvSpPr>
        <p:spPr>
          <a:xfrm>
            <a:off x="3858768" y="1463040"/>
            <a:ext cx="1426464" cy="914400"/>
          </a:xfrm>
          <a:prstGeom prst="roundRect">
            <a:avLst>
              <a:gd name="adj" fmla="val 10000"/>
            </a:avLst>
          </a:prstGeom>
          <a:solidFill>
            <a:schemeClr val="tx2"/>
          </a:solidFill>
          <a:ln w="12700">
            <a:solidFill>
              <a:schemeClr val="tx2"/>
            </a:solidFill>
            <a:prstDash val="solid"/>
          </a:ln>
        </p:spPr>
      </p:sp>
      <p:sp>
        <p:nvSpPr>
          <p:cNvPr id="12" name="Text 9"/>
          <p:cNvSpPr txBox="1"/>
          <p:nvPr/>
        </p:nvSpPr>
        <p:spPr>
          <a:xfrm>
            <a:off x="3858768"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Atenuantes</a:t>
            </a:r>
            <a:endParaRPr lang="en-US" sz="1200" dirty="0"/>
          </a:p>
        </p:txBody>
      </p:sp>
      <p:sp>
        <p:nvSpPr>
          <p:cNvPr id="13" name="Seta 3"/>
          <p:cNvSpPr/>
          <p:nvPr/>
        </p:nvSpPr>
        <p:spPr>
          <a:xfrm>
            <a:off x="5321808" y="1801368"/>
            <a:ext cx="201168" cy="237744"/>
          </a:xfrm>
          <a:prstGeom prst="rightArrow">
            <a:avLst/>
          </a:prstGeom>
          <a:solidFill>
            <a:schemeClr val="accent2"/>
          </a:solidFill>
          <a:ln w="12700">
            <a:solidFill>
              <a:schemeClr val="accent2"/>
            </a:solidFill>
            <a:prstDash val="solid"/>
          </a:ln>
        </p:spPr>
      </p:sp>
      <p:sp>
        <p:nvSpPr>
          <p:cNvPr id="14" name="Etapa 4"/>
          <p:cNvSpPr/>
          <p:nvPr/>
        </p:nvSpPr>
        <p:spPr>
          <a:xfrm>
            <a:off x="5559552" y="1463040"/>
            <a:ext cx="1426464" cy="914400"/>
          </a:xfrm>
          <a:prstGeom prst="roundRect">
            <a:avLst>
              <a:gd name="adj" fmla="val 10000"/>
            </a:avLst>
          </a:prstGeom>
          <a:solidFill>
            <a:schemeClr val="tx2"/>
          </a:solidFill>
          <a:ln w="12700">
            <a:solidFill>
              <a:schemeClr val="tx2"/>
            </a:solidFill>
            <a:prstDash val="solid"/>
          </a:ln>
        </p:spPr>
      </p:sp>
      <p:sp>
        <p:nvSpPr>
          <p:cNvPr id="15" name="Text 12"/>
          <p:cNvSpPr txBox="1"/>
          <p:nvPr/>
        </p:nvSpPr>
        <p:spPr>
          <a:xfrm>
            <a:off x="5559552"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Não incidência</a:t>
            </a:r>
            <a:endParaRPr lang="en-US" sz="1200" dirty="0"/>
          </a:p>
        </p:txBody>
      </p:sp>
      <p:sp>
        <p:nvSpPr>
          <p:cNvPr id="16" name="Seta 4"/>
          <p:cNvSpPr/>
          <p:nvPr/>
        </p:nvSpPr>
        <p:spPr>
          <a:xfrm>
            <a:off x="7022592" y="1801368"/>
            <a:ext cx="201168" cy="237744"/>
          </a:xfrm>
          <a:prstGeom prst="rightArrow">
            <a:avLst/>
          </a:prstGeom>
          <a:solidFill>
            <a:schemeClr val="accent2"/>
          </a:solidFill>
          <a:ln w="12700">
            <a:solidFill>
              <a:schemeClr val="accent2"/>
            </a:solidFill>
            <a:prstDash val="solid"/>
          </a:ln>
        </p:spPr>
      </p:sp>
      <p:sp>
        <p:nvSpPr>
          <p:cNvPr id="17" name="Etapa 5"/>
          <p:cNvSpPr/>
          <p:nvPr/>
        </p:nvSpPr>
        <p:spPr>
          <a:xfrm>
            <a:off x="7260336" y="1463040"/>
            <a:ext cx="1426464" cy="914400"/>
          </a:xfrm>
          <a:prstGeom prst="roundRect">
            <a:avLst>
              <a:gd name="adj" fmla="val 10000"/>
            </a:avLst>
          </a:prstGeom>
          <a:solidFill>
            <a:schemeClr val="tx2"/>
          </a:solidFill>
          <a:ln w="12700">
            <a:solidFill>
              <a:schemeClr val="tx2"/>
            </a:solidFill>
            <a:prstDash val="solid"/>
          </a:ln>
        </p:spPr>
      </p:sp>
      <p:sp>
        <p:nvSpPr>
          <p:cNvPr id="18" name="Text 15"/>
          <p:cNvSpPr txBox="1"/>
          <p:nvPr/>
        </p:nvSpPr>
        <p:spPr>
          <a:xfrm>
            <a:off x="7260336" y="1463040"/>
            <a:ext cx="1426464" cy="914400"/>
          </a:xfrm>
          <a:prstGeom prst="rect">
            <a:avLst/>
          </a:prstGeom>
          <a:noFill/>
          <a:ln/>
        </p:spPr>
        <p:txBody>
          <a:bodyPr wrap="square" lIns="762" tIns="762" rIns="762" bIns="762" rtlCol="0" anchor="ctr"/>
          <a:lstStyle/>
          <a:p>
            <a:pPr algn="ctr" indent="0" marL="0">
              <a:buNone/>
            </a:pPr>
            <a:r>
              <a:rPr lang="en-US" sz="1200" b="1" dirty="0">
                <a:solidFill>
                  <a:schemeClr val="bg1"/>
                </a:solidFill>
              </a:rPr>
              <a:t>Consolidação final (piso/teto)</a:t>
            </a:r>
            <a:endParaRPr lang="en-US" sz="1200" dirty="0"/>
          </a:p>
        </p:txBody>
      </p:sp>
      <p:sp>
        <p:nvSpPr>
          <p:cNvPr id="19" name="Card 1"/>
          <p:cNvSpPr/>
          <p:nvPr/>
        </p:nvSpPr>
        <p:spPr>
          <a:xfrm>
            <a:off x="457200" y="3012948"/>
            <a:ext cx="8229600" cy="740664"/>
          </a:xfrm>
          <a:prstGeom prst="roundRect">
            <a:avLst>
              <a:gd name="adj" fmla="val 9877"/>
            </a:avLst>
          </a:prstGeom>
          <a:solidFill>
            <a:schemeClr val="bg2"/>
          </a:solidFill>
          <a:ln w="12700">
            <a:solidFill>
              <a:schemeClr val="bg2"/>
            </a:solidFill>
            <a:prstDash val="solid"/>
          </a:ln>
        </p:spPr>
      </p:sp>
      <p:sp>
        <p:nvSpPr>
          <p:cNvPr id="20" name="Badge 1"/>
          <p:cNvSpPr/>
          <p:nvPr/>
        </p:nvSpPr>
        <p:spPr>
          <a:xfrm>
            <a:off x="585216" y="3227832"/>
            <a:ext cx="310896" cy="310896"/>
          </a:xfrm>
          <a:prstGeom prst="ellipse">
            <a:avLst/>
          </a:prstGeom>
          <a:solidFill>
            <a:schemeClr val="accent1"/>
          </a:solidFill>
          <a:ln w="12700">
            <a:solidFill>
              <a:schemeClr val="accent1"/>
            </a:solidFill>
            <a:prstDash val="solid"/>
          </a:ln>
        </p:spPr>
      </p:sp>
      <p:sp>
        <p:nvSpPr>
          <p:cNvPr id="21" name="Text 18"/>
          <p:cNvSpPr txBox="1"/>
          <p:nvPr/>
        </p:nvSpPr>
        <p:spPr>
          <a:xfrm>
            <a:off x="585216" y="322783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2" name="Text 19"/>
          <p:cNvSpPr txBox="1"/>
          <p:nvPr/>
        </p:nvSpPr>
        <p:spPr>
          <a:xfrm>
            <a:off x="1024128" y="3012948"/>
            <a:ext cx="7498080" cy="740664"/>
          </a:xfrm>
          <a:prstGeom prst="rect">
            <a:avLst/>
          </a:prstGeom>
          <a:noFill/>
          <a:ln/>
        </p:spPr>
        <p:txBody>
          <a:bodyPr wrap="square" lIns="0" tIns="0" rIns="0" bIns="0" rtlCol="0" anchor="ctr"/>
          <a:lstStyle/>
          <a:p>
            <a:pPr indent="0" marL="0">
              <a:buNone/>
            </a:pPr>
            <a:r>
              <a:rPr lang="en-US" sz="1800" dirty="0">
                <a:solidFill>
                  <a:schemeClr val="tx1"/>
                </a:solidFill>
              </a:rPr>
              <a:t>Base de cálculo → fatores de ajuste (agravantes, atenuantes, não incidência) → consolidação final (piso/teto)</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RESULTADOS E ATUAÇÃO DA COGER</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Evolução histórica da atuação da Coger no PAR</a:t>
            </a:r>
            <a:endParaRPr lang="en-US" sz="2400" dirty="0"/>
          </a:p>
        </p:txBody>
      </p:sp>
      <p:sp>
        <p:nvSpPr>
          <p:cNvPr id="5" name="Espaço de dado 1"/>
          <p:cNvSpPr/>
          <p:nvPr/>
        </p:nvSpPr>
        <p:spPr>
          <a:xfrm>
            <a:off x="457200" y="1463040"/>
            <a:ext cx="4023360" cy="2926080"/>
          </a:xfrm>
          <a:prstGeom prst="roundRect">
            <a:avLst>
              <a:gd name="adj" fmla="val 3125"/>
            </a:avLst>
          </a:prstGeom>
          <a:solidFill>
            <a:schemeClr val="bg2"/>
          </a:solidFill>
          <a:ln w="25400">
            <a:solidFill>
              <a:schemeClr val="accent2"/>
            </a:solidFill>
            <a:prstDash val="dash"/>
          </a:ln>
        </p:spPr>
      </p:sp>
      <p:sp>
        <p:nvSpPr>
          <p:cNvPr id="6" name="Text 3"/>
          <p:cNvSpPr txBox="1"/>
          <p:nvPr/>
        </p:nvSpPr>
        <p:spPr>
          <a:xfrm>
            <a:off x="731520" y="1463040"/>
            <a:ext cx="3474720" cy="2926080"/>
          </a:xfrm>
          <a:prstGeom prst="rect">
            <a:avLst/>
          </a:prstGeom>
          <a:noFill/>
          <a:ln/>
        </p:spPr>
        <p:txBody>
          <a:bodyPr wrap="square" lIns="0" tIns="0" rIns="0" bIns="0" rtlCol="0" anchor="ctr"/>
          <a:lstStyle/>
          <a:p>
            <a:pPr algn="ctr" indent="0" marL="0">
              <a:buNone/>
            </a:pPr>
            <a:r>
              <a:rPr lang="en-US" sz="1500" b="1" dirty="0">
                <a:solidFill>
                  <a:schemeClr val="tx2"/>
                </a:solidFill>
              </a:rPr>
              <a:t>DADO A PREENCHER</a:t>
            </a:r>
            <a:endParaRPr lang="en-US" sz="1500" dirty="0"/>
          </a:p>
          <a:p>
            <a:pPr algn="ctr" indent="0" marL="0">
              <a:buNone/>
            </a:pPr>
            <a:r>
              <a:rPr lang="en-US" sz="1500" b="1" dirty="0">
                <a:solidFill>
                  <a:schemeClr val="tx2"/>
                </a:solidFill>
              </a:rPr>
              <a:t>ano de início da atuação sistemática, evolução anual do nº de processos</a:t>
            </a:r>
            <a:endParaRPr lang="en-US" sz="1500" dirty="0"/>
          </a:p>
        </p:txBody>
      </p:sp>
      <p:sp>
        <p:nvSpPr>
          <p:cNvPr id="7" name="Espaço de dado 2"/>
          <p:cNvSpPr/>
          <p:nvPr/>
        </p:nvSpPr>
        <p:spPr>
          <a:xfrm>
            <a:off x="4663440" y="1463040"/>
            <a:ext cx="4023360" cy="2926080"/>
          </a:xfrm>
          <a:prstGeom prst="roundRect">
            <a:avLst>
              <a:gd name="adj" fmla="val 3125"/>
            </a:avLst>
          </a:prstGeom>
          <a:solidFill>
            <a:schemeClr val="bg2"/>
          </a:solidFill>
          <a:ln w="25400">
            <a:solidFill>
              <a:schemeClr val="accent2"/>
            </a:solidFill>
            <a:prstDash val="dash"/>
          </a:ln>
        </p:spPr>
      </p:sp>
      <p:sp>
        <p:nvSpPr>
          <p:cNvPr id="8" name="Text 5"/>
          <p:cNvSpPr txBox="1"/>
          <p:nvPr/>
        </p:nvSpPr>
        <p:spPr>
          <a:xfrm>
            <a:off x="4937760" y="1463040"/>
            <a:ext cx="3474720" cy="2926080"/>
          </a:xfrm>
          <a:prstGeom prst="rect">
            <a:avLst/>
          </a:prstGeom>
          <a:noFill/>
          <a:ln/>
        </p:spPr>
        <p:txBody>
          <a:bodyPr wrap="square" lIns="0" tIns="0" rIns="0" bIns="0" rtlCol="0" anchor="ctr"/>
          <a:lstStyle/>
          <a:p>
            <a:pPr algn="ctr" indent="0" marL="0">
              <a:buNone/>
            </a:pPr>
            <a:r>
              <a:rPr lang="en-US" sz="1500" b="1" dirty="0">
                <a:solidFill>
                  <a:schemeClr val="tx2"/>
                </a:solidFill>
              </a:rPr>
              <a:t>DADO REGIONAL A PREENCHER, se disponível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RESULTADOS E ATUAÇÃO DA COGER</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Panorama quantitativo atual</a:t>
            </a:r>
            <a:endParaRPr lang="en-US" sz="2400" dirty="0"/>
          </a:p>
        </p:txBody>
      </p:sp>
      <p:sp>
        <p:nvSpPr>
          <p:cNvPr id="5" name="Espaço de dado 1"/>
          <p:cNvSpPr/>
          <p:nvPr/>
        </p:nvSpPr>
        <p:spPr>
          <a:xfrm>
            <a:off x="457200" y="1463040"/>
            <a:ext cx="4023360" cy="2926080"/>
          </a:xfrm>
          <a:prstGeom prst="roundRect">
            <a:avLst>
              <a:gd name="adj" fmla="val 3125"/>
            </a:avLst>
          </a:prstGeom>
          <a:solidFill>
            <a:schemeClr val="bg2"/>
          </a:solidFill>
          <a:ln w="25400">
            <a:solidFill>
              <a:schemeClr val="accent2"/>
            </a:solidFill>
            <a:prstDash val="dash"/>
          </a:ln>
        </p:spPr>
      </p:sp>
      <p:sp>
        <p:nvSpPr>
          <p:cNvPr id="6" name="Text 3"/>
          <p:cNvSpPr txBox="1"/>
          <p:nvPr/>
        </p:nvSpPr>
        <p:spPr>
          <a:xfrm>
            <a:off x="731520" y="1463040"/>
            <a:ext cx="3474720" cy="2926080"/>
          </a:xfrm>
          <a:prstGeom prst="rect">
            <a:avLst/>
          </a:prstGeom>
          <a:noFill/>
          <a:ln/>
        </p:spPr>
        <p:txBody>
          <a:bodyPr wrap="square" lIns="0" tIns="0" rIns="0" bIns="0" rtlCol="0" anchor="ctr"/>
          <a:lstStyle/>
          <a:p>
            <a:pPr algn="ctr" indent="0" marL="0">
              <a:buNone/>
            </a:pPr>
            <a:r>
              <a:rPr lang="en-US" sz="1500" b="1" dirty="0">
                <a:solidFill>
                  <a:schemeClr val="tx2"/>
                </a:solidFill>
              </a:rPr>
              <a:t>DADO A PREENCHER</a:t>
            </a:r>
            <a:endParaRPr lang="en-US" sz="1500" dirty="0"/>
          </a:p>
          <a:p>
            <a:pPr algn="ctr" indent="0" marL="0">
              <a:buNone/>
            </a:pPr>
            <a:r>
              <a:rPr lang="en-US" sz="1500" b="1" dirty="0">
                <a:solidFill>
                  <a:schemeClr val="tx2"/>
                </a:solidFill>
              </a:rPr>
              <a:t>total de PARs, valor total de multas, nº de empresas no CEIS/CNEP</a:t>
            </a:r>
            <a:endParaRPr lang="en-US" sz="1500" dirty="0"/>
          </a:p>
        </p:txBody>
      </p:sp>
      <p:sp>
        <p:nvSpPr>
          <p:cNvPr id="7" name="Espaço de dado 2"/>
          <p:cNvSpPr/>
          <p:nvPr/>
        </p:nvSpPr>
        <p:spPr>
          <a:xfrm>
            <a:off x="4663440" y="1463040"/>
            <a:ext cx="4023360" cy="2926080"/>
          </a:xfrm>
          <a:prstGeom prst="roundRect">
            <a:avLst>
              <a:gd name="adj" fmla="val 3125"/>
            </a:avLst>
          </a:prstGeom>
          <a:solidFill>
            <a:schemeClr val="bg2"/>
          </a:solidFill>
          <a:ln w="25400">
            <a:solidFill>
              <a:schemeClr val="accent2"/>
            </a:solidFill>
            <a:prstDash val="dash"/>
          </a:ln>
        </p:spPr>
      </p:sp>
      <p:sp>
        <p:nvSpPr>
          <p:cNvPr id="8" name="Text 5"/>
          <p:cNvSpPr txBox="1"/>
          <p:nvPr/>
        </p:nvSpPr>
        <p:spPr>
          <a:xfrm>
            <a:off x="4937760" y="1463040"/>
            <a:ext cx="3474720" cy="2926080"/>
          </a:xfrm>
          <a:prstGeom prst="rect">
            <a:avLst/>
          </a:prstGeom>
          <a:noFill/>
          <a:ln/>
        </p:spPr>
        <p:txBody>
          <a:bodyPr wrap="square" lIns="0" tIns="0" rIns="0" bIns="0" rtlCol="0" anchor="ctr"/>
          <a:lstStyle/>
          <a:p>
            <a:pPr algn="ctr" indent="0" marL="0">
              <a:buNone/>
            </a:pPr>
            <a:r>
              <a:rPr lang="en-US" sz="1500" b="1" dirty="0">
                <a:solidFill>
                  <a:schemeClr val="tx2"/>
                </a:solidFill>
              </a:rPr>
              <a:t>DADO REGIONAL A PREENCHER, se disponível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RESULTADOS E ATUAÇÃO DA COGER</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Casos emblemáticos (anonimizados)</a:t>
            </a:r>
            <a:endParaRPr lang="en-US" sz="2400" dirty="0"/>
          </a:p>
        </p:txBody>
      </p:sp>
      <p:sp>
        <p:nvSpPr>
          <p:cNvPr id="5" name="Espaço de dado 1"/>
          <p:cNvSpPr/>
          <p:nvPr/>
        </p:nvSpPr>
        <p:spPr>
          <a:xfrm>
            <a:off x="457200" y="1463040"/>
            <a:ext cx="4023360" cy="2926080"/>
          </a:xfrm>
          <a:prstGeom prst="roundRect">
            <a:avLst>
              <a:gd name="adj" fmla="val 3125"/>
            </a:avLst>
          </a:prstGeom>
          <a:solidFill>
            <a:schemeClr val="bg2"/>
          </a:solidFill>
          <a:ln w="25400">
            <a:solidFill>
              <a:schemeClr val="accent2"/>
            </a:solidFill>
            <a:prstDash val="dash"/>
          </a:ln>
        </p:spPr>
      </p:sp>
      <p:sp>
        <p:nvSpPr>
          <p:cNvPr id="6" name="Text 3"/>
          <p:cNvSpPr txBox="1"/>
          <p:nvPr/>
        </p:nvSpPr>
        <p:spPr>
          <a:xfrm>
            <a:off x="731520" y="1463040"/>
            <a:ext cx="3474720" cy="2926080"/>
          </a:xfrm>
          <a:prstGeom prst="rect">
            <a:avLst/>
          </a:prstGeom>
          <a:noFill/>
          <a:ln/>
        </p:spPr>
        <p:txBody>
          <a:bodyPr wrap="square" lIns="0" tIns="0" rIns="0" bIns="0" rtlCol="0" anchor="ctr"/>
          <a:lstStyle/>
          <a:p>
            <a:pPr algn="ctr" indent="0" marL="0">
              <a:buNone/>
            </a:pPr>
            <a:r>
              <a:rPr lang="en-US" sz="1500" b="1" dirty="0">
                <a:solidFill>
                  <a:schemeClr val="tx2"/>
                </a:solidFill>
              </a:rPr>
              <a:t>DADO A PREENCHER</a:t>
            </a:r>
            <a:endParaRPr lang="en-US" sz="1500" dirty="0"/>
          </a:p>
          <a:p>
            <a:pPr algn="ctr" indent="0" marL="0">
              <a:buNone/>
            </a:pPr>
            <a:r>
              <a:rPr lang="en-US" sz="1500" b="1" dirty="0">
                <a:solidFill>
                  <a:schemeClr val="tx2"/>
                </a:solidFill>
              </a:rPr>
              <a:t>1-2 casos ilustrativos</a:t>
            </a:r>
            <a:endParaRPr lang="en-US" sz="1500" dirty="0"/>
          </a:p>
        </p:txBody>
      </p:sp>
      <p:sp>
        <p:nvSpPr>
          <p:cNvPr id="7" name="Espaço de dado 2"/>
          <p:cNvSpPr/>
          <p:nvPr/>
        </p:nvSpPr>
        <p:spPr>
          <a:xfrm>
            <a:off x="4663440" y="1463040"/>
            <a:ext cx="4023360" cy="2926080"/>
          </a:xfrm>
          <a:prstGeom prst="roundRect">
            <a:avLst>
              <a:gd name="adj" fmla="val 3125"/>
            </a:avLst>
          </a:prstGeom>
          <a:solidFill>
            <a:schemeClr val="bg2"/>
          </a:solidFill>
          <a:ln w="25400">
            <a:solidFill>
              <a:schemeClr val="accent2"/>
            </a:solidFill>
            <a:prstDash val="dash"/>
          </a:ln>
        </p:spPr>
      </p:sp>
      <p:sp>
        <p:nvSpPr>
          <p:cNvPr id="8" name="Text 5"/>
          <p:cNvSpPr txBox="1"/>
          <p:nvPr/>
        </p:nvSpPr>
        <p:spPr>
          <a:xfrm>
            <a:off x="4937760" y="1463040"/>
            <a:ext cx="3474720" cy="2926080"/>
          </a:xfrm>
          <a:prstGeom prst="rect">
            <a:avLst/>
          </a:prstGeom>
          <a:noFill/>
          <a:ln/>
        </p:spPr>
        <p:txBody>
          <a:bodyPr wrap="square" lIns="0" tIns="0" rIns="0" bIns="0" rtlCol="0" anchor="ctr"/>
          <a:lstStyle/>
          <a:p>
            <a:pPr algn="ctr" indent="0" marL="0">
              <a:buNone/>
            </a:pPr>
            <a:r>
              <a:rPr lang="en-US" sz="1500" b="1" dirty="0">
                <a:solidFill>
                  <a:schemeClr val="tx2"/>
                </a:solidFill>
              </a:rPr>
              <a:t>DADO REGIONAL A PREENCHER, se disponível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RESULTADOS E ATUAÇÃO DA COGER</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Desafios atuais da atuação</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Complexidade probatória em estruturas multinacionais</a:t>
            </a:r>
            <a:endParaRPr lang="en-US" sz="1800" dirty="0"/>
          </a:p>
        </p:txBody>
      </p:sp>
      <p:sp>
        <p:nvSpPr>
          <p:cNvPr id="9" name="Card 2"/>
          <p:cNvSpPr/>
          <p:nvPr/>
        </p:nvSpPr>
        <p:spPr>
          <a:xfrm>
            <a:off x="457200" y="2258568"/>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354580"/>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3545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502920"/>
          </a:xfrm>
          <a:prstGeom prst="rect">
            <a:avLst/>
          </a:prstGeom>
          <a:noFill/>
          <a:ln/>
        </p:spPr>
        <p:txBody>
          <a:bodyPr wrap="square" lIns="0" tIns="0" rIns="0" bIns="0" rtlCol="0" anchor="ctr"/>
          <a:lstStyle/>
          <a:p>
            <a:pPr indent="0" marL="0">
              <a:buNone/>
            </a:pPr>
            <a:r>
              <a:rPr lang="en-US" sz="1800" dirty="0">
                <a:solidFill>
                  <a:schemeClr val="tx1"/>
                </a:solidFill>
              </a:rPr>
              <a:t>Capacitação continuada das comissões</a:t>
            </a:r>
            <a:endParaRPr lang="en-US" sz="1800" dirty="0"/>
          </a:p>
        </p:txBody>
      </p:sp>
      <p:sp>
        <p:nvSpPr>
          <p:cNvPr id="13" name="Card 3"/>
          <p:cNvSpPr/>
          <p:nvPr/>
        </p:nvSpPr>
        <p:spPr>
          <a:xfrm>
            <a:off x="457200" y="3054096"/>
            <a:ext cx="8229600" cy="502920"/>
          </a:xfrm>
          <a:prstGeom prst="roundRect">
            <a:avLst>
              <a:gd name="adj" fmla="val 14545"/>
            </a:avLst>
          </a:prstGeom>
          <a:solidFill>
            <a:schemeClr val="bg2"/>
          </a:solidFill>
          <a:ln w="12700">
            <a:solidFill>
              <a:schemeClr val="bg2"/>
            </a:solidFill>
            <a:prstDash val="solid"/>
          </a:ln>
        </p:spPr>
      </p:sp>
      <p:sp>
        <p:nvSpPr>
          <p:cNvPr id="14" name="Badge 3"/>
          <p:cNvSpPr/>
          <p:nvPr/>
        </p:nvSpPr>
        <p:spPr>
          <a:xfrm>
            <a:off x="585216" y="315010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1501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054096"/>
            <a:ext cx="7498080" cy="502920"/>
          </a:xfrm>
          <a:prstGeom prst="rect">
            <a:avLst/>
          </a:prstGeom>
          <a:noFill/>
          <a:ln/>
        </p:spPr>
        <p:txBody>
          <a:bodyPr wrap="square" lIns="0" tIns="0" rIns="0" bIns="0" rtlCol="0" anchor="ctr"/>
          <a:lstStyle/>
          <a:p>
            <a:pPr indent="0" marL="0">
              <a:buNone/>
            </a:pPr>
            <a:r>
              <a:rPr lang="en-US" sz="1800" dirty="0">
                <a:solidFill>
                  <a:schemeClr val="tx1"/>
                </a:solidFill>
              </a:rPr>
              <a:t>Padronização metodológica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RESULTADOS E ATUAÇÃO DA COGER</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Reconhecimento institucional</a:t>
            </a:r>
            <a:endParaRPr lang="en-US" sz="2400" dirty="0"/>
          </a:p>
        </p:txBody>
      </p:sp>
      <p:sp>
        <p:nvSpPr>
          <p:cNvPr id="5" name="Card 1"/>
          <p:cNvSpPr/>
          <p:nvPr/>
        </p:nvSpPr>
        <p:spPr>
          <a:xfrm>
            <a:off x="457200" y="173736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95224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95224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737360"/>
            <a:ext cx="7498080" cy="740664"/>
          </a:xfrm>
          <a:prstGeom prst="rect">
            <a:avLst/>
          </a:prstGeom>
          <a:noFill/>
          <a:ln/>
        </p:spPr>
        <p:txBody>
          <a:bodyPr wrap="square" lIns="0" tIns="0" rIns="0" bIns="0" rtlCol="0" anchor="ctr"/>
          <a:lstStyle/>
          <a:p>
            <a:pPr indent="0" marL="0">
              <a:buNone/>
            </a:pPr>
            <a:r>
              <a:rPr lang="en-US" sz="1800" dirty="0">
                <a:solidFill>
                  <a:schemeClr val="tx1"/>
                </a:solidFill>
              </a:rPr>
              <a:t>Calculadora de Sanções PAR submetida ao Concurso de Boas Práticas Correcionais (CGU/CRG), Categoria II</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Duas faces da mesma política</a:t>
            </a:r>
            <a:endParaRPr lang="en-US" sz="2400" dirty="0"/>
          </a:p>
        </p:txBody>
      </p:sp>
      <p:sp>
        <p:nvSpPr>
          <p:cNvPr id="5" name="Coluna 1"/>
          <p:cNvSpPr/>
          <p:nvPr/>
        </p:nvSpPr>
        <p:spPr>
          <a:xfrm>
            <a:off x="457200" y="1417320"/>
            <a:ext cx="4023360" cy="2148840"/>
          </a:xfrm>
          <a:prstGeom prst="roundRect">
            <a:avLst>
              <a:gd name="adj" fmla="val 4255"/>
            </a:avLst>
          </a:prstGeom>
          <a:solidFill>
            <a:schemeClr val="bg2"/>
          </a:solidFill>
          <a:ln w="12700">
            <a:solidFill>
              <a:schemeClr val="bg2"/>
            </a:solidFill>
            <a:prstDash val="solid"/>
          </a:ln>
        </p:spPr>
      </p:sp>
      <p:sp>
        <p:nvSpPr>
          <p:cNvPr id="6" name="Cabeçalho 1"/>
          <p:cNvSpPr/>
          <p:nvPr/>
        </p:nvSpPr>
        <p:spPr>
          <a:xfrm>
            <a:off x="457200" y="1417320"/>
            <a:ext cx="4023360" cy="548640"/>
          </a:xfrm>
          <a:prstGeom prst="roundRect">
            <a:avLst>
              <a:gd name="adj" fmla="val 16667"/>
            </a:avLst>
          </a:prstGeom>
          <a:solidFill>
            <a:schemeClr val="accent4"/>
          </a:solidFill>
          <a:ln w="12700">
            <a:solidFill>
              <a:schemeClr val="accent4"/>
            </a:solidFill>
            <a:prstDash val="solid"/>
          </a:ln>
        </p:spPr>
      </p:sp>
      <p:sp>
        <p:nvSpPr>
          <p:cNvPr id="7" name="Text 4"/>
          <p:cNvSpPr txBox="1"/>
          <p:nvPr/>
        </p:nvSpPr>
        <p:spPr>
          <a:xfrm>
            <a:off x="594360" y="1417320"/>
            <a:ext cx="3749040" cy="548640"/>
          </a:xfrm>
          <a:prstGeom prst="rect">
            <a:avLst/>
          </a:prstGeom>
          <a:noFill/>
          <a:ln/>
        </p:spPr>
        <p:txBody>
          <a:bodyPr wrap="square" lIns="0" tIns="0" rIns="0" bIns="0" rtlCol="0" anchor="ctr"/>
          <a:lstStyle/>
          <a:p>
            <a:pPr indent="0" marL="0">
              <a:buNone/>
            </a:pPr>
            <a:r>
              <a:rPr lang="en-US" sz="1400" b="1" dirty="0">
                <a:solidFill>
                  <a:schemeClr val="bg1"/>
                </a:solidFill>
              </a:rPr>
              <a:t>Repressivo — PAR (Coger)</a:t>
            </a:r>
            <a:endParaRPr lang="en-US" sz="1400" dirty="0"/>
          </a:p>
        </p:txBody>
      </p:sp>
      <p:sp>
        <p:nvSpPr>
          <p:cNvPr id="8" name="Text 5"/>
          <p:cNvSpPr txBox="1"/>
          <p:nvPr/>
        </p:nvSpPr>
        <p:spPr>
          <a:xfrm>
            <a:off x="640080" y="2057400"/>
            <a:ext cx="3657600" cy="1417320"/>
          </a:xfrm>
          <a:prstGeom prst="rect">
            <a:avLst/>
          </a:prstGeom>
          <a:noFill/>
          <a:ln/>
        </p:spPr>
        <p:txBody>
          <a:bodyPr wrap="square" lIns="0" tIns="0" rIns="0" bIns="0" rtlCol="0" anchor="ctr"/>
          <a:lstStyle/>
          <a:p>
            <a:pPr indent="0" marL="0">
              <a:buNone/>
            </a:pPr>
            <a:r>
              <a:rPr lang="en-US" sz="1500" dirty="0">
                <a:solidFill>
                  <a:schemeClr val="tx1"/>
                </a:solidFill>
              </a:rPr>
              <a:t>Dimensão repressiva/corretiva: responde a atos lesivos já praticados</a:t>
            </a:r>
            <a:endParaRPr lang="en-US" sz="1500" dirty="0"/>
          </a:p>
        </p:txBody>
      </p:sp>
      <p:sp>
        <p:nvSpPr>
          <p:cNvPr id="9" name="Coluna 2"/>
          <p:cNvSpPr/>
          <p:nvPr/>
        </p:nvSpPr>
        <p:spPr>
          <a:xfrm>
            <a:off x="4663440" y="1417320"/>
            <a:ext cx="4023360" cy="2148840"/>
          </a:xfrm>
          <a:prstGeom prst="roundRect">
            <a:avLst>
              <a:gd name="adj" fmla="val 4255"/>
            </a:avLst>
          </a:prstGeom>
          <a:solidFill>
            <a:schemeClr val="bg2"/>
          </a:solidFill>
          <a:ln w="12700">
            <a:solidFill>
              <a:schemeClr val="bg2"/>
            </a:solidFill>
            <a:prstDash val="solid"/>
          </a:ln>
        </p:spPr>
      </p:sp>
      <p:sp>
        <p:nvSpPr>
          <p:cNvPr id="10" name="Cabeçalho 2"/>
          <p:cNvSpPr/>
          <p:nvPr/>
        </p:nvSpPr>
        <p:spPr>
          <a:xfrm>
            <a:off x="4663440" y="1417320"/>
            <a:ext cx="4023360" cy="548640"/>
          </a:xfrm>
          <a:prstGeom prst="roundRect">
            <a:avLst>
              <a:gd name="adj" fmla="val 16667"/>
            </a:avLst>
          </a:prstGeom>
          <a:solidFill>
            <a:schemeClr val="accent1"/>
          </a:solidFill>
          <a:ln w="12700">
            <a:solidFill>
              <a:schemeClr val="accent1"/>
            </a:solidFill>
            <a:prstDash val="solid"/>
          </a:ln>
        </p:spPr>
      </p:sp>
      <p:sp>
        <p:nvSpPr>
          <p:cNvPr id="11" name="Text 8"/>
          <p:cNvSpPr txBox="1"/>
          <p:nvPr/>
        </p:nvSpPr>
        <p:spPr>
          <a:xfrm>
            <a:off x="4800600" y="1417320"/>
            <a:ext cx="3749040" cy="548640"/>
          </a:xfrm>
          <a:prstGeom prst="rect">
            <a:avLst/>
          </a:prstGeom>
          <a:noFill/>
          <a:ln/>
        </p:spPr>
        <p:txBody>
          <a:bodyPr wrap="square" lIns="0" tIns="0" rIns="0" bIns="0" rtlCol="0" anchor="ctr"/>
          <a:lstStyle/>
          <a:p>
            <a:pPr indent="0" marL="0">
              <a:buNone/>
            </a:pPr>
            <a:r>
              <a:rPr lang="en-US" sz="1400" b="1" dirty="0">
                <a:solidFill>
                  <a:schemeClr val="bg1"/>
                </a:solidFill>
              </a:rPr>
              <a:t>Preventivo — Programas de conformidade (RFB)</a:t>
            </a:r>
            <a:endParaRPr lang="en-US" sz="1400" dirty="0"/>
          </a:p>
        </p:txBody>
      </p:sp>
      <p:sp>
        <p:nvSpPr>
          <p:cNvPr id="12" name="Text 9"/>
          <p:cNvSpPr txBox="1"/>
          <p:nvPr/>
        </p:nvSpPr>
        <p:spPr>
          <a:xfrm>
            <a:off x="4846320" y="2057400"/>
            <a:ext cx="3657600" cy="1417320"/>
          </a:xfrm>
          <a:prstGeom prst="rect">
            <a:avLst/>
          </a:prstGeom>
          <a:noFill/>
          <a:ln/>
        </p:spPr>
        <p:txBody>
          <a:bodyPr wrap="square" lIns="0" tIns="0" rIns="0" bIns="0" rtlCol="0" anchor="ctr"/>
          <a:lstStyle/>
          <a:p>
            <a:pPr indent="0" marL="0">
              <a:buNone/>
            </a:pPr>
            <a:r>
              <a:rPr lang="en-US" sz="1500" dirty="0">
                <a:solidFill>
                  <a:schemeClr val="tx1"/>
                </a:solidFill>
              </a:rPr>
              <a:t>Dimensão preventiva/cooperativa: evita que a infração ou o litígio se instalem</a:t>
            </a:r>
            <a:endParaRPr lang="en-US" sz="1500" dirty="0"/>
          </a:p>
        </p:txBody>
      </p:sp>
      <p:sp>
        <p:nvSpPr>
          <p:cNvPr id="13" name="Síntese"/>
          <p:cNvSpPr/>
          <p:nvPr/>
        </p:nvSpPr>
        <p:spPr>
          <a:xfrm>
            <a:off x="457200" y="3749040"/>
            <a:ext cx="8229600" cy="868680"/>
          </a:xfrm>
          <a:prstGeom prst="roundRect">
            <a:avLst>
              <a:gd name="adj" fmla="val 10526"/>
            </a:avLst>
          </a:prstGeom>
          <a:solidFill>
            <a:schemeClr val="tx2"/>
          </a:solidFill>
          <a:ln w="12700">
            <a:solidFill>
              <a:schemeClr val="tx2"/>
            </a:solidFill>
            <a:prstDash val="solid"/>
          </a:ln>
        </p:spPr>
      </p:sp>
      <p:sp>
        <p:nvSpPr>
          <p:cNvPr id="14" name="Text 11"/>
          <p:cNvSpPr txBox="1"/>
          <p:nvPr/>
        </p:nvSpPr>
        <p:spPr>
          <a:xfrm>
            <a:off x="685800" y="3749040"/>
            <a:ext cx="7772400" cy="868680"/>
          </a:xfrm>
          <a:prstGeom prst="rect">
            <a:avLst/>
          </a:prstGeom>
          <a:noFill/>
          <a:ln/>
        </p:spPr>
        <p:txBody>
          <a:bodyPr wrap="square" lIns="0" tIns="0" rIns="0" bIns="0" rtlCol="0" anchor="ctr"/>
          <a:lstStyle/>
          <a:p>
            <a:pPr indent="0" marL="0">
              <a:buNone/>
            </a:pPr>
            <a:r>
              <a:rPr lang="en-US" sz="1400" b="1" dirty="0">
                <a:solidFill>
                  <a:schemeClr val="bg1"/>
                </a:solidFill>
              </a:rPr>
              <a:t>Ambos partem da mesma premissa: quanto mais robusta a integridade da empresa, menor o risco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 novo marco legal: Lei Complementar nº 225, de 2026</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Lei Complementar nº 225, de 8 de janeiro de 2026 — institui o Código de Defesa do Contribuinte</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dirty="0">
                <a:solidFill>
                  <a:schemeClr val="tx1"/>
                </a:solidFill>
              </a:rPr>
              <a:t>Unifica, em nível de lei complementar, os Programas Confia, Sintonia e OEA</a:t>
            </a:r>
            <a:endParaRPr lang="en-US" sz="1800" dirty="0"/>
          </a:p>
        </p:txBody>
      </p:sp>
      <p:sp>
        <p:nvSpPr>
          <p:cNvPr id="13" name="Card 3"/>
          <p:cNvSpPr/>
          <p:nvPr/>
        </p:nvSpPr>
        <p:spPr>
          <a:xfrm>
            <a:off x="457200" y="3529584"/>
            <a:ext cx="8229600" cy="502920"/>
          </a:xfrm>
          <a:prstGeom prst="roundRect">
            <a:avLst>
              <a:gd name="adj" fmla="val 14545"/>
            </a:avLst>
          </a:prstGeom>
          <a:solidFill>
            <a:schemeClr val="bg2"/>
          </a:solidFill>
          <a:ln w="12700">
            <a:solidFill>
              <a:schemeClr val="bg2"/>
            </a:solidFill>
            <a:prstDash val="solid"/>
          </a:ln>
        </p:spPr>
      </p:sp>
      <p:sp>
        <p:nvSpPr>
          <p:cNvPr id="14" name="Badge 3"/>
          <p:cNvSpPr/>
          <p:nvPr/>
        </p:nvSpPr>
        <p:spPr>
          <a:xfrm>
            <a:off x="585216" y="3625596"/>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6255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29584"/>
            <a:ext cx="7498080" cy="502920"/>
          </a:xfrm>
          <a:prstGeom prst="rect">
            <a:avLst/>
          </a:prstGeom>
          <a:noFill/>
          <a:ln/>
        </p:spPr>
        <p:txBody>
          <a:bodyPr wrap="square" lIns="0" tIns="0" rIns="0" bIns="0" rtlCol="0" anchor="ctr"/>
          <a:lstStyle/>
          <a:p>
            <a:pPr indent="0" marL="0">
              <a:buNone/>
            </a:pPr>
            <a:r>
              <a:rPr lang="en-US" sz="1800" dirty="0">
                <a:solidFill>
                  <a:schemeClr val="tx1"/>
                </a:solidFill>
              </a:rPr>
              <a:t>Também positiva a figura do Devedor Contumaz</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Confia: Programa de Conformidade Cooperativa Fiscal</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Voltado a grandes contribuintes com bom histórico de conformidade</a:t>
            </a:r>
            <a:endParaRPr lang="en-US" sz="1800" dirty="0"/>
          </a:p>
        </p:txBody>
      </p:sp>
      <p:sp>
        <p:nvSpPr>
          <p:cNvPr id="9" name="Card 2"/>
          <p:cNvSpPr/>
          <p:nvPr/>
        </p:nvSpPr>
        <p:spPr>
          <a:xfrm>
            <a:off x="457200" y="2496312"/>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592324"/>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923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502920"/>
          </a:xfrm>
          <a:prstGeom prst="rect">
            <a:avLst/>
          </a:prstGeom>
          <a:noFill/>
          <a:ln/>
        </p:spPr>
        <p:txBody>
          <a:bodyPr wrap="square" lIns="0" tIns="0" rIns="0" bIns="0" rtlCol="0" anchor="ctr"/>
          <a:lstStyle/>
          <a:p>
            <a:pPr indent="0" marL="0">
              <a:buNone/>
            </a:pPr>
            <a:r>
              <a:rPr lang="en-US" sz="1800" dirty="0">
                <a:solidFill>
                  <a:schemeClr val="tx1"/>
                </a:solidFill>
              </a:rPr>
              <a:t>Baseado em transparência, segurança jurídica e cooperação</a:t>
            </a:r>
            <a:endParaRPr lang="en-US" sz="1800" dirty="0"/>
          </a:p>
        </p:txBody>
      </p:sp>
      <p:sp>
        <p:nvSpPr>
          <p:cNvPr id="13" name="Card 3"/>
          <p:cNvSpPr/>
          <p:nvPr/>
        </p:nvSpPr>
        <p:spPr>
          <a:xfrm>
            <a:off x="457200" y="3291840"/>
            <a:ext cx="8229600" cy="1019556"/>
          </a:xfrm>
          <a:prstGeom prst="roundRect">
            <a:avLst>
              <a:gd name="adj" fmla="val 7175"/>
            </a:avLst>
          </a:prstGeom>
          <a:solidFill>
            <a:schemeClr val="bg2"/>
          </a:solidFill>
          <a:ln w="12700">
            <a:solidFill>
              <a:schemeClr val="bg2"/>
            </a:solidFill>
            <a:prstDash val="solid"/>
          </a:ln>
        </p:spPr>
      </p:sp>
      <p:sp>
        <p:nvSpPr>
          <p:cNvPr id="14" name="Badge 3"/>
          <p:cNvSpPr/>
          <p:nvPr/>
        </p:nvSpPr>
        <p:spPr>
          <a:xfrm>
            <a:off x="585216" y="3646170"/>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64617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91840"/>
            <a:ext cx="7498080" cy="1019556"/>
          </a:xfrm>
          <a:prstGeom prst="rect">
            <a:avLst/>
          </a:prstGeom>
          <a:noFill/>
          <a:ln/>
        </p:spPr>
        <p:txBody>
          <a:bodyPr wrap="square" lIns="0" tIns="0" rIns="0" bIns="0" rtlCol="0" anchor="ctr"/>
          <a:lstStyle/>
          <a:p>
            <a:pPr indent="0" marL="0">
              <a:buNone/>
            </a:pPr>
            <a:r>
              <a:rPr lang="en-US" sz="1800" dirty="0">
                <a:solidFill>
                  <a:schemeClr val="tx1"/>
                </a:solidFill>
              </a:rPr>
              <a:t>Principais benefícios: autorregularização sem multa de mora, ausência de multa de ofício em divergência espontânea, dedução da CSLL</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Sintonia: Programa de Estímulo à Conformidade Tributária</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Abrangência ampla: todos os contribuintes</a:t>
            </a:r>
            <a:endParaRPr lang="en-US" sz="1800" dirty="0"/>
          </a:p>
        </p:txBody>
      </p:sp>
      <p:sp>
        <p:nvSpPr>
          <p:cNvPr id="9" name="Card 2"/>
          <p:cNvSpPr/>
          <p:nvPr/>
        </p:nvSpPr>
        <p:spPr>
          <a:xfrm>
            <a:off x="457200" y="2258568"/>
            <a:ext cx="8229600" cy="502920"/>
          </a:xfrm>
          <a:prstGeom prst="roundRect">
            <a:avLst>
              <a:gd name="adj" fmla="val 14545"/>
            </a:avLst>
          </a:prstGeom>
          <a:solidFill>
            <a:schemeClr val="bg2"/>
          </a:solidFill>
          <a:ln w="12700">
            <a:solidFill>
              <a:schemeClr val="bg2"/>
            </a:solidFill>
            <a:prstDash val="solid"/>
          </a:ln>
        </p:spPr>
      </p:sp>
      <p:sp>
        <p:nvSpPr>
          <p:cNvPr id="10" name="Badge 2"/>
          <p:cNvSpPr/>
          <p:nvPr/>
        </p:nvSpPr>
        <p:spPr>
          <a:xfrm>
            <a:off x="585216" y="2354580"/>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3545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502920"/>
          </a:xfrm>
          <a:prstGeom prst="rect">
            <a:avLst/>
          </a:prstGeom>
          <a:noFill/>
          <a:ln/>
        </p:spPr>
        <p:txBody>
          <a:bodyPr wrap="square" lIns="0" tIns="0" rIns="0" bIns="0" rtlCol="0" anchor="ctr"/>
          <a:lstStyle/>
          <a:p>
            <a:pPr indent="0" marL="0">
              <a:buNone/>
            </a:pPr>
            <a:r>
              <a:rPr lang="en-US" sz="1800" dirty="0">
                <a:solidFill>
                  <a:schemeClr val="tx1"/>
                </a:solidFill>
              </a:rPr>
              <a:t>Classificação (rating) de A+ a D, por 4 pilares fiscais</a:t>
            </a:r>
            <a:endParaRPr lang="en-US" sz="1800" dirty="0"/>
          </a:p>
        </p:txBody>
      </p:sp>
      <p:sp>
        <p:nvSpPr>
          <p:cNvPr id="13" name="Card 3"/>
          <p:cNvSpPr/>
          <p:nvPr/>
        </p:nvSpPr>
        <p:spPr>
          <a:xfrm>
            <a:off x="457200" y="3054096"/>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268980"/>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2689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054096"/>
            <a:ext cx="7498080" cy="740664"/>
          </a:xfrm>
          <a:prstGeom prst="rect">
            <a:avLst/>
          </a:prstGeom>
          <a:noFill/>
          <a:ln/>
        </p:spPr>
        <p:txBody>
          <a:bodyPr wrap="square" lIns="0" tIns="0" rIns="0" bIns="0" rtlCol="0" anchor="ctr"/>
          <a:lstStyle/>
          <a:p>
            <a:pPr indent="0" marL="0">
              <a:buNone/>
            </a:pPr>
            <a:r>
              <a:rPr lang="en-US" sz="1800" dirty="0">
                <a:solidFill>
                  <a:schemeClr val="tx1"/>
                </a:solidFill>
              </a:rPr>
              <a:t>Selo Sintonia: desconto progressivo na CSLL e liberação rápida de restituições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OEA: Programa Brasileiro de Operador Econômico Autorizado</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Certificação de operadores de comércio exterior com controles aduaneiros confiáveis</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dirty="0">
                <a:solidFill>
                  <a:schemeClr val="tx1"/>
                </a:solidFill>
              </a:rPr>
              <a:t>Alinhado à Estrutura Normativa SAFE da Organização Mundial de Aduanas</a:t>
            </a:r>
            <a:endParaRPr lang="en-US" sz="1800" dirty="0"/>
          </a:p>
        </p:txBody>
      </p:sp>
      <p:sp>
        <p:nvSpPr>
          <p:cNvPr id="13" name="Card 3"/>
          <p:cNvSpPr/>
          <p:nvPr/>
        </p:nvSpPr>
        <p:spPr>
          <a:xfrm>
            <a:off x="457200" y="3529584"/>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74446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7444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29584"/>
            <a:ext cx="7498080" cy="740664"/>
          </a:xfrm>
          <a:prstGeom prst="rect">
            <a:avLst/>
          </a:prstGeom>
          <a:noFill/>
          <a:ln/>
        </p:spPr>
        <p:txBody>
          <a:bodyPr wrap="square" lIns="0" tIns="0" rIns="0" bIns="0" rtlCol="0" anchor="ctr"/>
          <a:lstStyle/>
          <a:p>
            <a:pPr indent="0" marL="0">
              <a:buNone/>
            </a:pPr>
            <a:r>
              <a:rPr lang="en-US" sz="1800" dirty="0">
                <a:solidFill>
                  <a:schemeClr val="tx1"/>
                </a:solidFill>
              </a:rPr>
              <a:t>Facilitação escalonada: diferimento de tributos e canal verde prioritário</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Receita de Consenso</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Procedimento de mediação e solução consensual de divergências fiscais</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dirty="0">
                <a:solidFill>
                  <a:schemeClr val="tx1"/>
                </a:solidFill>
              </a:rPr>
              <a:t>Acessível a contribuintes vinculados ao Confia ou com alta classificação no Sintonia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 paralelo com o multiplicador de integridade</a:t>
            </a:r>
            <a:endParaRPr lang="en-US" sz="2400" dirty="0"/>
          </a:p>
        </p:txBody>
      </p:sp>
      <p:sp>
        <p:nvSpPr>
          <p:cNvPr id="5" name="Coluna 1"/>
          <p:cNvSpPr/>
          <p:nvPr/>
        </p:nvSpPr>
        <p:spPr>
          <a:xfrm>
            <a:off x="457200" y="1417320"/>
            <a:ext cx="4023360" cy="2148840"/>
          </a:xfrm>
          <a:prstGeom prst="roundRect">
            <a:avLst>
              <a:gd name="adj" fmla="val 4255"/>
            </a:avLst>
          </a:prstGeom>
          <a:solidFill>
            <a:schemeClr val="bg2"/>
          </a:solidFill>
          <a:ln w="12700">
            <a:solidFill>
              <a:schemeClr val="bg2"/>
            </a:solidFill>
            <a:prstDash val="solid"/>
          </a:ln>
        </p:spPr>
      </p:sp>
      <p:sp>
        <p:nvSpPr>
          <p:cNvPr id="6" name="Cabeçalho 1"/>
          <p:cNvSpPr/>
          <p:nvPr/>
        </p:nvSpPr>
        <p:spPr>
          <a:xfrm>
            <a:off x="457200" y="1417320"/>
            <a:ext cx="4023360" cy="548640"/>
          </a:xfrm>
          <a:prstGeom prst="roundRect">
            <a:avLst>
              <a:gd name="adj" fmla="val 16667"/>
            </a:avLst>
          </a:prstGeom>
          <a:solidFill>
            <a:schemeClr val="accent4"/>
          </a:solidFill>
          <a:ln w="12700">
            <a:solidFill>
              <a:schemeClr val="accent4"/>
            </a:solidFill>
            <a:prstDash val="solid"/>
          </a:ln>
        </p:spPr>
      </p:sp>
      <p:sp>
        <p:nvSpPr>
          <p:cNvPr id="7" name="Text 4"/>
          <p:cNvSpPr txBox="1"/>
          <p:nvPr/>
        </p:nvSpPr>
        <p:spPr>
          <a:xfrm>
            <a:off x="594360" y="1417320"/>
            <a:ext cx="3749040" cy="548640"/>
          </a:xfrm>
          <a:prstGeom prst="rect">
            <a:avLst/>
          </a:prstGeom>
          <a:noFill/>
          <a:ln/>
        </p:spPr>
        <p:txBody>
          <a:bodyPr wrap="square" lIns="0" tIns="0" rIns="0" bIns="0" rtlCol="0" anchor="ctr"/>
          <a:lstStyle/>
          <a:p>
            <a:pPr indent="0" marL="0">
              <a:buNone/>
            </a:pPr>
            <a:r>
              <a:rPr lang="en-US" sz="1400" b="1" dirty="0">
                <a:solidFill>
                  <a:schemeClr val="bg1"/>
                </a:solidFill>
              </a:rPr>
              <a:t>No PAR</a:t>
            </a:r>
            <a:endParaRPr lang="en-US" sz="1400" dirty="0"/>
          </a:p>
        </p:txBody>
      </p:sp>
      <p:sp>
        <p:nvSpPr>
          <p:cNvPr id="8" name="Text 5"/>
          <p:cNvSpPr txBox="1"/>
          <p:nvPr/>
        </p:nvSpPr>
        <p:spPr>
          <a:xfrm>
            <a:off x="640080" y="2057400"/>
            <a:ext cx="3657600" cy="1417320"/>
          </a:xfrm>
          <a:prstGeom prst="rect">
            <a:avLst/>
          </a:prstGeom>
          <a:noFill/>
          <a:ln/>
        </p:spPr>
        <p:txBody>
          <a:bodyPr wrap="square" lIns="0" tIns="0" rIns="0" bIns="0" rtlCol="0" anchor="ctr"/>
          <a:lstStyle/>
          <a:p>
            <a:pPr indent="0" marL="0">
              <a:buNone/>
            </a:pPr>
            <a:r>
              <a:rPr lang="en-US" sz="1500" dirty="0">
                <a:solidFill>
                  <a:schemeClr val="tx1"/>
                </a:solidFill>
              </a:rPr>
              <a:t>Programa de Integridade eficaz → redução de até 5% da multa, com multiplicador de 1,25</a:t>
            </a:r>
            <a:endParaRPr lang="en-US" sz="1500" dirty="0"/>
          </a:p>
        </p:txBody>
      </p:sp>
      <p:sp>
        <p:nvSpPr>
          <p:cNvPr id="9" name="Coluna 2"/>
          <p:cNvSpPr/>
          <p:nvPr/>
        </p:nvSpPr>
        <p:spPr>
          <a:xfrm>
            <a:off x="4663440" y="1417320"/>
            <a:ext cx="4023360" cy="2148840"/>
          </a:xfrm>
          <a:prstGeom prst="roundRect">
            <a:avLst>
              <a:gd name="adj" fmla="val 4255"/>
            </a:avLst>
          </a:prstGeom>
          <a:solidFill>
            <a:schemeClr val="bg2"/>
          </a:solidFill>
          <a:ln w="12700">
            <a:solidFill>
              <a:schemeClr val="bg2"/>
            </a:solidFill>
            <a:prstDash val="solid"/>
          </a:ln>
        </p:spPr>
      </p:sp>
      <p:sp>
        <p:nvSpPr>
          <p:cNvPr id="10" name="Cabeçalho 2"/>
          <p:cNvSpPr/>
          <p:nvPr/>
        </p:nvSpPr>
        <p:spPr>
          <a:xfrm>
            <a:off x="4663440" y="1417320"/>
            <a:ext cx="4023360" cy="548640"/>
          </a:xfrm>
          <a:prstGeom prst="roundRect">
            <a:avLst>
              <a:gd name="adj" fmla="val 16667"/>
            </a:avLst>
          </a:prstGeom>
          <a:solidFill>
            <a:schemeClr val="accent1"/>
          </a:solidFill>
          <a:ln w="12700">
            <a:solidFill>
              <a:schemeClr val="accent1"/>
            </a:solidFill>
            <a:prstDash val="solid"/>
          </a:ln>
        </p:spPr>
      </p:sp>
      <p:sp>
        <p:nvSpPr>
          <p:cNvPr id="11" name="Text 8"/>
          <p:cNvSpPr txBox="1"/>
          <p:nvPr/>
        </p:nvSpPr>
        <p:spPr>
          <a:xfrm>
            <a:off x="4800600" y="1417320"/>
            <a:ext cx="3749040" cy="548640"/>
          </a:xfrm>
          <a:prstGeom prst="rect">
            <a:avLst/>
          </a:prstGeom>
          <a:noFill/>
          <a:ln/>
        </p:spPr>
        <p:txBody>
          <a:bodyPr wrap="square" lIns="0" tIns="0" rIns="0" bIns="0" rtlCol="0" anchor="ctr"/>
          <a:lstStyle/>
          <a:p>
            <a:pPr indent="0" marL="0">
              <a:buNone/>
            </a:pPr>
            <a:r>
              <a:rPr lang="en-US" sz="1400" b="1" dirty="0">
                <a:solidFill>
                  <a:schemeClr val="bg1"/>
                </a:solidFill>
              </a:rPr>
              <a:t>Nos programas de conformidade</a:t>
            </a:r>
            <a:endParaRPr lang="en-US" sz="1400" dirty="0"/>
          </a:p>
        </p:txBody>
      </p:sp>
      <p:sp>
        <p:nvSpPr>
          <p:cNvPr id="12" name="Text 9"/>
          <p:cNvSpPr txBox="1"/>
          <p:nvPr/>
        </p:nvSpPr>
        <p:spPr>
          <a:xfrm>
            <a:off x="4846320" y="2057400"/>
            <a:ext cx="3657600" cy="1417320"/>
          </a:xfrm>
          <a:prstGeom prst="rect">
            <a:avLst/>
          </a:prstGeom>
          <a:noFill/>
          <a:ln/>
        </p:spPr>
        <p:txBody>
          <a:bodyPr wrap="square" lIns="0" tIns="0" rIns="0" bIns="0" rtlCol="0" anchor="ctr"/>
          <a:lstStyle/>
          <a:p>
            <a:pPr indent="0" marL="0">
              <a:buNone/>
            </a:pPr>
            <a:r>
              <a:rPr lang="en-US" sz="1500" dirty="0">
                <a:solidFill>
                  <a:schemeClr val="tx1"/>
                </a:solidFill>
              </a:rPr>
              <a:t>Histórico de boa governança → acesso a Confia, Sintonia, OEA e Receita de Consenso</a:t>
            </a:r>
            <a:endParaRPr lang="en-US" sz="1500" dirty="0"/>
          </a:p>
        </p:txBody>
      </p:sp>
      <p:sp>
        <p:nvSpPr>
          <p:cNvPr id="13" name="Síntese"/>
          <p:cNvSpPr/>
          <p:nvPr/>
        </p:nvSpPr>
        <p:spPr>
          <a:xfrm>
            <a:off x="457200" y="3749040"/>
            <a:ext cx="8229600" cy="868680"/>
          </a:xfrm>
          <a:prstGeom prst="roundRect">
            <a:avLst>
              <a:gd name="adj" fmla="val 10526"/>
            </a:avLst>
          </a:prstGeom>
          <a:solidFill>
            <a:schemeClr val="tx2"/>
          </a:solidFill>
          <a:ln w="12700">
            <a:solidFill>
              <a:schemeClr val="tx2"/>
            </a:solidFill>
            <a:prstDash val="solid"/>
          </a:ln>
        </p:spPr>
      </p:sp>
      <p:sp>
        <p:nvSpPr>
          <p:cNvPr id="14" name="Text 11"/>
          <p:cNvSpPr txBox="1"/>
          <p:nvPr/>
        </p:nvSpPr>
        <p:spPr>
          <a:xfrm>
            <a:off x="685800" y="3749040"/>
            <a:ext cx="7772400" cy="868680"/>
          </a:xfrm>
          <a:prstGeom prst="rect">
            <a:avLst/>
          </a:prstGeom>
          <a:noFill/>
          <a:ln/>
        </p:spPr>
        <p:txBody>
          <a:bodyPr wrap="square" lIns="0" tIns="0" rIns="0" bIns="0" rtlCol="0" anchor="ctr"/>
          <a:lstStyle/>
          <a:p>
            <a:pPr indent="0" marL="0">
              <a:buNone/>
            </a:pPr>
            <a:r>
              <a:rPr lang="en-US" sz="1400" b="1" dirty="0">
                <a:solidFill>
                  <a:schemeClr val="bg1"/>
                </a:solidFill>
              </a:rPr>
              <a:t>Mensagem-síntese: em toda a RFB, conformidade é reconhecida e recompensada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 correlação, programa a programa</a:t>
            </a:r>
            <a:endParaRPr lang="en-US" sz="2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645920"/>
                <a:gridCol w="3657600"/>
                <a:gridCol w="2926080"/>
              </a:tblGrid>
              <a:tr h="0">
                <a:tc>
                  <a:txBody>
                    <a:bodyPr/>
                    <a:lstStyle/>
                    <a:p>
                      <a:pPr indent="0" marL="0">
                        <a:buNone/>
                      </a:pPr>
                      <a:r>
                        <a:rPr lang="en-US" sz="1200" b="1" dirty="0">
                          <a:solidFill>
                            <a:srgbClr val="FFFFFF"/>
                          </a:solidFill>
                        </a:rPr>
                        <a:t>Programa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rPr>
                        <a:t>O que o PAR poderia informar</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rPr>
                        <a:t>Situação normativa atual</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F3A"/>
                    </a:solidFill>
                  </a:tcPr>
                </a:tc>
              </a:tr>
              <a:tr h="0">
                <a:tc>
                  <a:txBody>
                    <a:bodyPr/>
                    <a:lstStyle/>
                    <a:p>
                      <a:pPr indent="0" marL="0">
                        <a:buNone/>
                      </a:pPr>
                      <a:r>
                        <a:rPr lang="en-US" sz="1200" b="1" dirty="0">
                          <a:solidFill>
                            <a:srgbClr val="0F766E"/>
                          </a:solidFill>
                        </a:rPr>
                        <a:t>Confia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200" dirty="0">
                          <a:solidFill>
                            <a:srgbClr val="14213D"/>
                          </a:solidFill>
                        </a:rPr>
                        <a:t>Falha no sistema de gestão de conformidade — pré-requisito de ingresso</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200" dirty="0">
                          <a:solidFill>
                            <a:srgbClr val="14213D"/>
                          </a:solidFill>
                        </a:rPr>
                        <a:t>Sem previsão expressa de impacto do PAR</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r>
              <a:tr h="0">
                <a:tc>
                  <a:txBody>
                    <a:bodyPr/>
                    <a:lstStyle/>
                    <a:p>
                      <a:pPr indent="0" marL="0">
                        <a:buNone/>
                      </a:pPr>
                      <a:r>
                        <a:rPr lang="en-US" sz="1200" b="1" dirty="0">
                          <a:solidFill>
                            <a:srgbClr val="0F766E"/>
                          </a:solidFill>
                        </a:rPr>
                        <a:t>Sintonia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Rating hoje estritamente fiscal — correlação não automática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Maior lacuna do grupo</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F766E"/>
                          </a:solidFill>
                        </a:rPr>
                        <a:t>OEA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200" dirty="0">
                          <a:solidFill>
                            <a:srgbClr val="14213D"/>
                          </a:solidFill>
                        </a:rPr>
                        <a:t>Falha em controles aduaneiros — objeto central da certificação</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c>
                  <a:txBody>
                    <a:bodyPr/>
                    <a:lstStyle/>
                    <a:p>
                      <a:pPr indent="0" marL="0">
                        <a:buNone/>
                      </a:pPr>
                      <a:r>
                        <a:rPr lang="en-US" sz="1200" dirty="0">
                          <a:solidFill>
                            <a:srgbClr val="14213D"/>
                          </a:solidFill>
                        </a:rPr>
                        <a:t>Correlação conceitual mais direta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DF1F6"/>
                    </a:solidFill>
                  </a:tcPr>
                </a:tc>
              </a:tr>
              <a:tr h="0">
                <a:tc>
                  <a:txBody>
                    <a:bodyPr/>
                    <a:lstStyle/>
                    <a:p>
                      <a:pPr indent="0" marL="0">
                        <a:buNone/>
                      </a:pPr>
                      <a:r>
                        <a:rPr lang="en-US" sz="1200" b="1" dirty="0">
                          <a:solidFill>
                            <a:srgbClr val="0F766E"/>
                          </a:solidFill>
                        </a:rPr>
                        <a:t>Receita de Consenso</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Efeito indireto, herdado de Confia/Sintonia</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Já condicionado à classificação nos outros dois</a:t>
                      </a:r>
                      <a:endParaRPr lang="en-US" sz="1200" dirty="0"/>
                    </a:p>
                  </a:txBody>
                  <a:tcPr marL="64008" marR="64008" marT="64008" marB="6400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O contraponto: Devedor Contumaz</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Também positivado pela LC nº 225, de 8 de janeiro de 2026</a:t>
            </a:r>
            <a:endParaRPr lang="en-US" sz="1800" dirty="0"/>
          </a:p>
        </p:txBody>
      </p:sp>
      <p:sp>
        <p:nvSpPr>
          <p:cNvPr id="9" name="Card 2"/>
          <p:cNvSpPr/>
          <p:nvPr/>
        </p:nvSpPr>
        <p:spPr>
          <a:xfrm>
            <a:off x="457200" y="2258568"/>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47345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4734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740664"/>
          </a:xfrm>
          <a:prstGeom prst="rect">
            <a:avLst/>
          </a:prstGeom>
          <a:noFill/>
          <a:ln/>
        </p:spPr>
        <p:txBody>
          <a:bodyPr wrap="square" lIns="0" tIns="0" rIns="0" bIns="0" rtlCol="0" anchor="ctr"/>
          <a:lstStyle/>
          <a:p>
            <a:pPr indent="0" marL="0">
              <a:buNone/>
            </a:pPr>
            <a:r>
              <a:rPr lang="en-US" sz="1800" dirty="0">
                <a:solidFill>
                  <a:schemeClr val="tx1"/>
                </a:solidFill>
              </a:rPr>
              <a:t>Critérios objetivos: inadimplência substancial, reiterada e injustificada</a:t>
            </a:r>
            <a:endParaRPr lang="en-US" sz="1800" dirty="0"/>
          </a:p>
        </p:txBody>
      </p:sp>
      <p:sp>
        <p:nvSpPr>
          <p:cNvPr id="13" name="Card 3"/>
          <p:cNvSpPr/>
          <p:nvPr/>
        </p:nvSpPr>
        <p:spPr>
          <a:xfrm>
            <a:off x="457200" y="3291840"/>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506724"/>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5067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91840"/>
            <a:ext cx="7498080" cy="740664"/>
          </a:xfrm>
          <a:prstGeom prst="rect">
            <a:avLst/>
          </a:prstGeom>
          <a:noFill/>
          <a:ln/>
        </p:spPr>
        <p:txBody>
          <a:bodyPr wrap="square" lIns="0" tIns="0" rIns="0" bIns="0" rtlCol="0" anchor="ctr"/>
          <a:lstStyle/>
          <a:p>
            <a:pPr indent="0" marL="0">
              <a:buNone/>
            </a:pPr>
            <a:r>
              <a:rPr lang="en-US" sz="1800" dirty="0">
                <a:solidFill>
                  <a:schemeClr val="tx1"/>
                </a:solidFill>
              </a:rPr>
              <a:t>Consequências: impedimento de benefícios fiscais, de licitar e de contratar</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A mão dupla: PAR e Programas de Conformidade</a:t>
            </a:r>
            <a:endParaRPr lang="en-US" sz="2400" dirty="0"/>
          </a:p>
        </p:txBody>
      </p:sp>
      <p:sp>
        <p:nvSpPr>
          <p:cNvPr id="5" name="Programa de Integridade"/>
          <p:cNvSpPr/>
          <p:nvPr/>
        </p:nvSpPr>
        <p:spPr>
          <a:xfrm>
            <a:off x="457200" y="1371600"/>
            <a:ext cx="2468880" cy="731520"/>
          </a:xfrm>
          <a:prstGeom prst="roundRect">
            <a:avLst>
              <a:gd name="adj" fmla="val 12500"/>
            </a:avLst>
          </a:prstGeom>
          <a:solidFill>
            <a:schemeClr val="accent1"/>
          </a:solidFill>
          <a:ln w="12700">
            <a:solidFill>
              <a:schemeClr val="accent1"/>
            </a:solidFill>
            <a:prstDash val="solid"/>
          </a:ln>
        </p:spPr>
      </p:sp>
      <p:sp>
        <p:nvSpPr>
          <p:cNvPr id="6" name="Text 3"/>
          <p:cNvSpPr txBox="1"/>
          <p:nvPr/>
        </p:nvSpPr>
        <p:spPr>
          <a:xfrm>
            <a:off x="457200" y="1371600"/>
            <a:ext cx="2468880" cy="868680"/>
          </a:xfrm>
          <a:prstGeom prst="rect">
            <a:avLst/>
          </a:prstGeom>
          <a:noFill/>
          <a:ln/>
        </p:spPr>
        <p:txBody>
          <a:bodyPr wrap="square" lIns="1016" tIns="1016" rIns="1016" bIns="1016" rtlCol="0" anchor="ctr"/>
          <a:lstStyle/>
          <a:p>
            <a:pPr algn="ctr" indent="0" marL="0">
              <a:buNone/>
            </a:pPr>
            <a:r>
              <a:rPr lang="en-US" sz="1200" b="1" dirty="0">
                <a:solidFill>
                  <a:schemeClr val="bg1"/>
                </a:solidFill>
              </a:rPr>
              <a:t>Programa de Integridade da empresa</a:t>
            </a:r>
            <a:endParaRPr lang="en-US" sz="1200" dirty="0"/>
          </a:p>
        </p:txBody>
      </p:sp>
      <p:sp>
        <p:nvSpPr>
          <p:cNvPr id="7" name="PAR"/>
          <p:cNvSpPr/>
          <p:nvPr/>
        </p:nvSpPr>
        <p:spPr>
          <a:xfrm>
            <a:off x="6217920" y="1371600"/>
            <a:ext cx="2468880" cy="868680"/>
          </a:xfrm>
          <a:prstGeom prst="roundRect">
            <a:avLst>
              <a:gd name="adj" fmla="val 10526"/>
            </a:avLst>
          </a:prstGeom>
          <a:solidFill>
            <a:schemeClr val="accent4"/>
          </a:solidFill>
          <a:ln w="12700">
            <a:solidFill>
              <a:schemeClr val="accent4"/>
            </a:solidFill>
            <a:prstDash val="solid"/>
          </a:ln>
        </p:spPr>
      </p:sp>
      <p:sp>
        <p:nvSpPr>
          <p:cNvPr id="8" name="Text 5"/>
          <p:cNvSpPr txBox="1"/>
          <p:nvPr/>
        </p:nvSpPr>
        <p:spPr>
          <a:xfrm>
            <a:off x="6217920" y="1371600"/>
            <a:ext cx="2468880" cy="868680"/>
          </a:xfrm>
          <a:prstGeom prst="rect">
            <a:avLst/>
          </a:prstGeom>
          <a:noFill/>
          <a:ln/>
        </p:spPr>
        <p:txBody>
          <a:bodyPr wrap="square" lIns="1016" tIns="1016" rIns="1016" bIns="1016" rtlCol="0" anchor="ctr"/>
          <a:lstStyle/>
          <a:p>
            <a:pPr algn="ctr" indent="0" marL="0">
              <a:buNone/>
            </a:pPr>
            <a:r>
              <a:rPr lang="en-US" sz="1200" b="1" dirty="0">
                <a:solidFill>
                  <a:schemeClr val="bg1"/>
                </a:solidFill>
              </a:rPr>
              <a:t>PAR (Coger): sanção definitiva</a:t>
            </a:r>
            <a:endParaRPr lang="en-US" sz="1200" dirty="0"/>
          </a:p>
        </p:txBody>
      </p:sp>
      <p:sp>
        <p:nvSpPr>
          <p:cNvPr id="9" name="Seta existente"/>
          <p:cNvSpPr/>
          <p:nvPr/>
        </p:nvSpPr>
        <p:spPr>
          <a:xfrm>
            <a:off x="3017520" y="1645920"/>
            <a:ext cx="3108960" cy="0"/>
          </a:xfrm>
          <a:prstGeom prst="line">
            <a:avLst/>
          </a:prstGeom>
          <a:noFill/>
          <a:ln w="31750">
            <a:solidFill>
              <a:schemeClr val="tx2"/>
            </a:solidFill>
            <a:prstDash val="solid"/>
            <a:tailEnd type="triangle"/>
          </a:ln>
        </p:spPr>
      </p:sp>
      <p:sp>
        <p:nvSpPr>
          <p:cNvPr id="10" name="Text 7"/>
          <p:cNvSpPr txBox="1"/>
          <p:nvPr/>
        </p:nvSpPr>
        <p:spPr>
          <a:xfrm>
            <a:off x="3017520" y="1389888"/>
            <a:ext cx="3108960" cy="228600"/>
          </a:xfrm>
          <a:prstGeom prst="rect">
            <a:avLst/>
          </a:prstGeom>
          <a:noFill/>
          <a:ln/>
        </p:spPr>
        <p:txBody>
          <a:bodyPr wrap="square" lIns="0" tIns="0" rIns="0" bIns="0" rtlCol="0" anchor="ctr"/>
          <a:lstStyle/>
          <a:p>
            <a:pPr algn="ctr" indent="0" marL="0">
              <a:buNone/>
            </a:pPr>
            <a:r>
              <a:rPr lang="en-US" sz="1000" dirty="0">
                <a:solidFill>
                  <a:schemeClr val="tx1"/>
                </a:solidFill>
              </a:rPr>
              <a:t>existe hoje: reduz a sanção</a:t>
            </a:r>
            <a:endParaRPr lang="en-US" sz="1000" dirty="0"/>
          </a:p>
        </p:txBody>
      </p:sp>
      <p:sp>
        <p:nvSpPr>
          <p:cNvPr id="11" name="Seta lacuna"/>
          <p:cNvSpPr/>
          <p:nvPr/>
        </p:nvSpPr>
        <p:spPr>
          <a:xfrm flipH="1">
            <a:off x="3017520" y="2011680"/>
            <a:ext cx="3108960" cy="0"/>
          </a:xfrm>
          <a:prstGeom prst="line">
            <a:avLst/>
          </a:prstGeom>
          <a:noFill/>
          <a:ln w="31750">
            <a:solidFill>
              <a:schemeClr val="accent4"/>
            </a:solidFill>
            <a:prstDash val="dash"/>
            <a:tailEnd type="triangle"/>
          </a:ln>
        </p:spPr>
      </p:sp>
      <p:sp>
        <p:nvSpPr>
          <p:cNvPr id="12" name="Text 9"/>
          <p:cNvSpPr txBox="1"/>
          <p:nvPr/>
        </p:nvSpPr>
        <p:spPr>
          <a:xfrm>
            <a:off x="3017520" y="2029968"/>
            <a:ext cx="3108960" cy="228600"/>
          </a:xfrm>
          <a:prstGeom prst="rect">
            <a:avLst/>
          </a:prstGeom>
          <a:noFill/>
          <a:ln/>
        </p:spPr>
        <p:txBody>
          <a:bodyPr wrap="square" lIns="0" tIns="0" rIns="0" bIns="0" rtlCol="0" anchor="ctr"/>
          <a:lstStyle/>
          <a:p>
            <a:pPr algn="ctr" indent="0" marL="0">
              <a:buNone/>
            </a:pPr>
            <a:r>
              <a:rPr lang="en-US" sz="1000" b="1" dirty="0">
                <a:solidFill>
                  <a:schemeClr val="accent4"/>
                </a:solidFill>
              </a:rPr>
              <a:t>lacuna: impacto nos programas</a:t>
            </a:r>
            <a:endParaRPr lang="en-US" sz="1000" dirty="0"/>
          </a:p>
        </p:txBody>
      </p:sp>
      <p:sp>
        <p:nvSpPr>
          <p:cNvPr id="13" name="Card 1"/>
          <p:cNvSpPr/>
          <p:nvPr/>
        </p:nvSpPr>
        <p:spPr>
          <a:xfrm>
            <a:off x="457200" y="2304288"/>
            <a:ext cx="8229600" cy="616712"/>
          </a:xfrm>
          <a:prstGeom prst="roundRect">
            <a:avLst>
              <a:gd name="adj" fmla="val 11862"/>
            </a:avLst>
          </a:prstGeom>
          <a:solidFill>
            <a:schemeClr val="bg2"/>
          </a:solidFill>
          <a:ln w="12700">
            <a:solidFill>
              <a:schemeClr val="bg2"/>
            </a:solidFill>
            <a:prstDash val="solid"/>
          </a:ln>
        </p:spPr>
      </p:sp>
      <p:sp>
        <p:nvSpPr>
          <p:cNvPr id="14" name="Badge 1"/>
          <p:cNvSpPr/>
          <p:nvPr/>
        </p:nvSpPr>
        <p:spPr>
          <a:xfrm>
            <a:off x="585216" y="2457196"/>
            <a:ext cx="310896" cy="310896"/>
          </a:xfrm>
          <a:prstGeom prst="ellipse">
            <a:avLst/>
          </a:prstGeom>
          <a:solidFill>
            <a:schemeClr val="accent4"/>
          </a:solidFill>
          <a:ln w="12700">
            <a:solidFill>
              <a:schemeClr val="accent4"/>
            </a:solidFill>
            <a:prstDash val="solid"/>
          </a:ln>
        </p:spPr>
      </p:sp>
      <p:sp>
        <p:nvSpPr>
          <p:cNvPr id="15" name="Text 12"/>
          <p:cNvSpPr txBox="1"/>
          <p:nvPr/>
        </p:nvSpPr>
        <p:spPr>
          <a:xfrm>
            <a:off x="585216" y="2457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6" name="Text 13"/>
          <p:cNvSpPr txBox="1"/>
          <p:nvPr/>
        </p:nvSpPr>
        <p:spPr>
          <a:xfrm>
            <a:off x="1024128" y="2304288"/>
            <a:ext cx="7498080" cy="616712"/>
          </a:xfrm>
          <a:prstGeom prst="rect">
            <a:avLst/>
          </a:prstGeom>
          <a:noFill/>
          <a:ln/>
        </p:spPr>
        <p:txBody>
          <a:bodyPr wrap="square" lIns="0" tIns="0" rIns="0" bIns="0" rtlCol="0" anchor="ctr"/>
          <a:lstStyle/>
          <a:p>
            <a:pPr indent="0" marL="0">
              <a:buNone/>
            </a:pPr>
            <a:r>
              <a:rPr lang="en-US" sz="1400" dirty="0">
                <a:solidFill>
                  <a:schemeClr val="tx1"/>
                </a:solidFill>
              </a:rPr>
              <a:t>Hoje, o fluxo de informação é de mão única: Programa de Integridade → reduz sanção do PAR</a:t>
            </a:r>
            <a:endParaRPr lang="en-US" sz="1400" dirty="0"/>
          </a:p>
        </p:txBody>
      </p:sp>
      <p:sp>
        <p:nvSpPr>
          <p:cNvPr id="17" name="Card 2"/>
          <p:cNvSpPr/>
          <p:nvPr/>
        </p:nvSpPr>
        <p:spPr>
          <a:xfrm>
            <a:off x="457200" y="3066288"/>
            <a:ext cx="8229600" cy="502920"/>
          </a:xfrm>
          <a:prstGeom prst="roundRect">
            <a:avLst>
              <a:gd name="adj" fmla="val 14545"/>
            </a:avLst>
          </a:prstGeom>
          <a:solidFill>
            <a:schemeClr val="bg2"/>
          </a:solidFill>
          <a:ln w="12700">
            <a:solidFill>
              <a:schemeClr val="bg2"/>
            </a:solidFill>
            <a:prstDash val="solid"/>
          </a:ln>
        </p:spPr>
      </p:sp>
      <p:sp>
        <p:nvSpPr>
          <p:cNvPr id="18" name="Badge 2"/>
          <p:cNvSpPr/>
          <p:nvPr/>
        </p:nvSpPr>
        <p:spPr>
          <a:xfrm>
            <a:off x="585216" y="3162300"/>
            <a:ext cx="310896" cy="310896"/>
          </a:xfrm>
          <a:prstGeom prst="ellipse">
            <a:avLst/>
          </a:prstGeom>
          <a:solidFill>
            <a:schemeClr val="accent4"/>
          </a:solidFill>
          <a:ln w="12700">
            <a:solidFill>
              <a:schemeClr val="accent4"/>
            </a:solidFill>
            <a:prstDash val="solid"/>
          </a:ln>
        </p:spPr>
      </p:sp>
      <p:sp>
        <p:nvSpPr>
          <p:cNvPr id="19" name="Text 16"/>
          <p:cNvSpPr txBox="1"/>
          <p:nvPr/>
        </p:nvSpPr>
        <p:spPr>
          <a:xfrm>
            <a:off x="585216" y="31623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0" name="Text 17"/>
          <p:cNvSpPr txBox="1"/>
          <p:nvPr/>
        </p:nvSpPr>
        <p:spPr>
          <a:xfrm>
            <a:off x="1024128" y="3066288"/>
            <a:ext cx="7498080" cy="502920"/>
          </a:xfrm>
          <a:prstGeom prst="rect">
            <a:avLst/>
          </a:prstGeom>
          <a:noFill/>
          <a:ln/>
        </p:spPr>
        <p:txBody>
          <a:bodyPr wrap="square" lIns="0" tIns="0" rIns="0" bIns="0" rtlCol="0" anchor="ctr"/>
          <a:lstStyle/>
          <a:p>
            <a:pPr indent="0" marL="0">
              <a:buNone/>
            </a:pPr>
            <a:r>
              <a:rPr lang="en-US" sz="1400" dirty="0">
                <a:solidFill>
                  <a:schemeClr val="tx1"/>
                </a:solidFill>
              </a:rPr>
              <a:t>Falta o fluxo inverso: resultado do PAR → impacto nos programas de conformidade</a:t>
            </a:r>
            <a:endParaRPr lang="en-US" sz="1400" dirty="0"/>
          </a:p>
        </p:txBody>
      </p:sp>
      <p:sp>
        <p:nvSpPr>
          <p:cNvPr id="21" name="Card 3"/>
          <p:cNvSpPr/>
          <p:nvPr/>
        </p:nvSpPr>
        <p:spPr>
          <a:xfrm>
            <a:off x="457200" y="3714496"/>
            <a:ext cx="8229600" cy="502920"/>
          </a:xfrm>
          <a:prstGeom prst="roundRect">
            <a:avLst>
              <a:gd name="adj" fmla="val 14545"/>
            </a:avLst>
          </a:prstGeom>
          <a:solidFill>
            <a:schemeClr val="bg2"/>
          </a:solidFill>
          <a:ln w="12700">
            <a:solidFill>
              <a:schemeClr val="bg2"/>
            </a:solidFill>
            <a:prstDash val="solid"/>
          </a:ln>
        </p:spPr>
      </p:sp>
      <p:sp>
        <p:nvSpPr>
          <p:cNvPr id="22" name="Badge 3"/>
          <p:cNvSpPr/>
          <p:nvPr/>
        </p:nvSpPr>
        <p:spPr>
          <a:xfrm>
            <a:off x="585216" y="3810508"/>
            <a:ext cx="310896" cy="310896"/>
          </a:xfrm>
          <a:prstGeom prst="ellipse">
            <a:avLst/>
          </a:prstGeom>
          <a:solidFill>
            <a:schemeClr val="accent4"/>
          </a:solidFill>
          <a:ln w="12700">
            <a:solidFill>
              <a:schemeClr val="accent4"/>
            </a:solidFill>
            <a:prstDash val="solid"/>
          </a:ln>
        </p:spPr>
      </p:sp>
      <p:sp>
        <p:nvSpPr>
          <p:cNvPr id="23" name="Text 20"/>
          <p:cNvSpPr txBox="1"/>
          <p:nvPr/>
        </p:nvSpPr>
        <p:spPr>
          <a:xfrm>
            <a:off x="585216" y="38105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4" name="Text 21"/>
          <p:cNvSpPr txBox="1"/>
          <p:nvPr/>
        </p:nvSpPr>
        <p:spPr>
          <a:xfrm>
            <a:off x="1024128" y="3714496"/>
            <a:ext cx="7498080" cy="502920"/>
          </a:xfrm>
          <a:prstGeom prst="rect">
            <a:avLst/>
          </a:prstGeom>
          <a:noFill/>
          <a:ln/>
        </p:spPr>
        <p:txBody>
          <a:bodyPr wrap="square" lIns="0" tIns="0" rIns="0" bIns="0" rtlCol="0" anchor="ctr"/>
          <a:lstStyle/>
          <a:p>
            <a:pPr indent="0" marL="0">
              <a:buNone/>
            </a:pPr>
            <a:r>
              <a:rPr lang="en-US" sz="1400" dirty="0">
                <a:solidFill>
                  <a:schemeClr val="tx1"/>
                </a:solidFill>
              </a:rPr>
              <a:t>Uma sanção definitiva no PAR é prova objetiva de falha nos controles internos</a:t>
            </a:r>
            <a:endParaRPr lang="en-US" sz="1400" dirty="0"/>
          </a:p>
        </p:txBody>
      </p:sp>
      <p:sp>
        <p:nvSpPr>
          <p:cNvPr id="25" name="Card 4"/>
          <p:cNvSpPr/>
          <p:nvPr/>
        </p:nvSpPr>
        <p:spPr>
          <a:xfrm>
            <a:off x="457200" y="4362704"/>
            <a:ext cx="8229600" cy="616712"/>
          </a:xfrm>
          <a:prstGeom prst="roundRect">
            <a:avLst>
              <a:gd name="adj" fmla="val 11862"/>
            </a:avLst>
          </a:prstGeom>
          <a:solidFill>
            <a:schemeClr val="bg2"/>
          </a:solidFill>
          <a:ln w="12700">
            <a:solidFill>
              <a:schemeClr val="bg2"/>
            </a:solidFill>
            <a:prstDash val="solid"/>
          </a:ln>
        </p:spPr>
      </p:sp>
      <p:sp>
        <p:nvSpPr>
          <p:cNvPr id="26" name="Badge 4"/>
          <p:cNvSpPr/>
          <p:nvPr/>
        </p:nvSpPr>
        <p:spPr>
          <a:xfrm>
            <a:off x="585216" y="4515612"/>
            <a:ext cx="310896" cy="310896"/>
          </a:xfrm>
          <a:prstGeom prst="ellipse">
            <a:avLst/>
          </a:prstGeom>
          <a:solidFill>
            <a:schemeClr val="accent4"/>
          </a:solidFill>
          <a:ln w="12700">
            <a:solidFill>
              <a:schemeClr val="accent4"/>
            </a:solidFill>
            <a:prstDash val="solid"/>
          </a:ln>
        </p:spPr>
      </p:sp>
      <p:sp>
        <p:nvSpPr>
          <p:cNvPr id="27" name="Text 24"/>
          <p:cNvSpPr txBox="1"/>
          <p:nvPr/>
        </p:nvSpPr>
        <p:spPr>
          <a:xfrm>
            <a:off x="585216" y="451561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8" name="Text 25"/>
          <p:cNvSpPr txBox="1"/>
          <p:nvPr/>
        </p:nvSpPr>
        <p:spPr>
          <a:xfrm>
            <a:off x="1024128" y="4362704"/>
            <a:ext cx="7498080" cy="616712"/>
          </a:xfrm>
          <a:prstGeom prst="rect">
            <a:avLst/>
          </a:prstGeom>
          <a:noFill/>
          <a:ln/>
        </p:spPr>
        <p:txBody>
          <a:bodyPr wrap="square" lIns="0" tIns="0" rIns="0" bIns="0" rtlCol="0" anchor="ctr"/>
          <a:lstStyle/>
          <a:p>
            <a:pPr indent="0" marL="0">
              <a:buNone/>
            </a:pPr>
            <a:r>
              <a:rPr lang="en-US" sz="1400" dirty="0">
                <a:solidFill>
                  <a:schemeClr val="tx1"/>
                </a:solidFill>
              </a:rPr>
              <a:t>Não há, hoje, previsão normativa expressa — uma lacuna identificada pela experiência da Coger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Sinergia com a Difis: o fluxo de indícios da fiscalização</a:t>
            </a:r>
            <a:endParaRPr lang="en-US" sz="2400" dirty="0"/>
          </a:p>
        </p:txBody>
      </p:sp>
      <p:sp>
        <p:nvSpPr>
          <p:cNvPr id="5" name="Card 1"/>
          <p:cNvSpPr/>
          <p:nvPr/>
        </p:nvSpPr>
        <p:spPr>
          <a:xfrm>
            <a:off x="457200" y="1463040"/>
            <a:ext cx="8229600" cy="833628"/>
          </a:xfrm>
          <a:prstGeom prst="roundRect">
            <a:avLst>
              <a:gd name="adj" fmla="val 8775"/>
            </a:avLst>
          </a:prstGeom>
          <a:solidFill>
            <a:schemeClr val="bg2"/>
          </a:solidFill>
          <a:ln w="12700">
            <a:solidFill>
              <a:schemeClr val="bg2"/>
            </a:solidFill>
            <a:prstDash val="solid"/>
          </a:ln>
        </p:spPr>
      </p:sp>
      <p:sp>
        <p:nvSpPr>
          <p:cNvPr id="6" name="Badge 1"/>
          <p:cNvSpPr/>
          <p:nvPr/>
        </p:nvSpPr>
        <p:spPr>
          <a:xfrm>
            <a:off x="585216" y="1724406"/>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72440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833628"/>
          </a:xfrm>
          <a:prstGeom prst="rect">
            <a:avLst/>
          </a:prstGeom>
          <a:noFill/>
          <a:ln/>
        </p:spPr>
        <p:txBody>
          <a:bodyPr wrap="square" lIns="0" tIns="0" rIns="0" bIns="0" rtlCol="0" anchor="ctr"/>
          <a:lstStyle/>
          <a:p>
            <a:pPr indent="0" marL="0">
              <a:buNone/>
            </a:pPr>
            <a:r>
              <a:rPr lang="en-US" sz="1400" dirty="0">
                <a:solidFill>
                  <a:schemeClr val="tx1"/>
                </a:solidFill>
              </a:rPr>
              <a:t>A fiscalização frequentemente identifica, durante seu trabalho, elementos que também configuram atos lesivos do art. 5º — sem que isso seja, hoje, objetivo direto da autuação fiscal</a:t>
            </a:r>
            <a:endParaRPr lang="en-US" sz="1400" dirty="0"/>
          </a:p>
        </p:txBody>
      </p:sp>
      <p:sp>
        <p:nvSpPr>
          <p:cNvPr id="9" name="Card 2"/>
          <p:cNvSpPr/>
          <p:nvPr/>
        </p:nvSpPr>
        <p:spPr>
          <a:xfrm>
            <a:off x="457200" y="2520442"/>
            <a:ext cx="8229600" cy="833628"/>
          </a:xfrm>
          <a:prstGeom prst="roundRect">
            <a:avLst>
              <a:gd name="adj" fmla="val 8775"/>
            </a:avLst>
          </a:prstGeom>
          <a:solidFill>
            <a:schemeClr val="bg2"/>
          </a:solidFill>
          <a:ln w="12700">
            <a:solidFill>
              <a:schemeClr val="bg2"/>
            </a:solidFill>
            <a:prstDash val="solid"/>
          </a:ln>
        </p:spPr>
      </p:sp>
      <p:sp>
        <p:nvSpPr>
          <p:cNvPr id="10" name="Badge 2"/>
          <p:cNvSpPr/>
          <p:nvPr/>
        </p:nvSpPr>
        <p:spPr>
          <a:xfrm>
            <a:off x="585216" y="2781808"/>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818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520442"/>
            <a:ext cx="7498080" cy="833628"/>
          </a:xfrm>
          <a:prstGeom prst="rect">
            <a:avLst/>
          </a:prstGeom>
          <a:noFill/>
          <a:ln/>
        </p:spPr>
        <p:txBody>
          <a:bodyPr wrap="square" lIns="0" tIns="0" rIns="0" bIns="0" rtlCol="0" anchor="ctr"/>
          <a:lstStyle/>
          <a:p>
            <a:pPr indent="0" marL="0">
              <a:buNone/>
            </a:pPr>
            <a:r>
              <a:rPr lang="en-US" sz="1400" b="1" dirty="0">
                <a:solidFill>
                  <a:schemeClr val="accent1"/>
                </a:solidFill>
              </a:rPr>
              <a:t>Exemplos: </a:t>
            </a:r>
            <a:pPr indent="0" marL="0">
              <a:buNone/>
            </a:pPr>
            <a:r>
              <a:rPr lang="en-US" sz="1400" dirty="0">
                <a:solidFill>
                  <a:schemeClr val="tx1"/>
                </a:solidFill>
              </a:rPr>
              <a:t>notas fiscais frias vinculadas a vantagem indevida; estrutura societária usada para ocultar beneficiário real (art. 5º, III); resistência sistemática à ação fiscal (art. 5º, V)</a:t>
            </a:r>
            <a:endParaRPr lang="en-US" sz="1400" dirty="0"/>
          </a:p>
        </p:txBody>
      </p:sp>
      <p:sp>
        <p:nvSpPr>
          <p:cNvPr id="13" name="Card 3"/>
          <p:cNvSpPr/>
          <p:nvPr/>
        </p:nvSpPr>
        <p:spPr>
          <a:xfrm>
            <a:off x="457200" y="3577844"/>
            <a:ext cx="8229600" cy="502920"/>
          </a:xfrm>
          <a:prstGeom prst="roundRect">
            <a:avLst>
              <a:gd name="adj" fmla="val 14545"/>
            </a:avLst>
          </a:prstGeom>
          <a:solidFill>
            <a:schemeClr val="bg2"/>
          </a:solidFill>
          <a:ln w="12700">
            <a:solidFill>
              <a:schemeClr val="bg2"/>
            </a:solidFill>
            <a:prstDash val="solid"/>
          </a:ln>
        </p:spPr>
      </p:sp>
      <p:sp>
        <p:nvSpPr>
          <p:cNvPr id="14" name="Badge 3"/>
          <p:cNvSpPr/>
          <p:nvPr/>
        </p:nvSpPr>
        <p:spPr>
          <a:xfrm>
            <a:off x="585216" y="3673856"/>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67385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77844"/>
            <a:ext cx="7498080" cy="502920"/>
          </a:xfrm>
          <a:prstGeom prst="rect">
            <a:avLst/>
          </a:prstGeom>
          <a:noFill/>
          <a:ln/>
        </p:spPr>
        <p:txBody>
          <a:bodyPr wrap="square" lIns="0" tIns="0" rIns="0" bIns="0" rtlCol="0" anchor="ctr"/>
          <a:lstStyle/>
          <a:p>
            <a:pPr indent="0" marL="0">
              <a:buNone/>
            </a:pPr>
            <a:r>
              <a:rPr lang="en-US" sz="1400" dirty="0">
                <a:solidFill>
                  <a:schemeClr val="tx1"/>
                </a:solidFill>
              </a:rPr>
              <a:t>Hoje, não há canal formal e conhecido de encaminhamento desses indícios à Coger</a:t>
            </a:r>
            <a:endParaRPr lang="en-US" sz="1400" dirty="0"/>
          </a:p>
        </p:txBody>
      </p:sp>
      <p:sp>
        <p:nvSpPr>
          <p:cNvPr id="17" name="Etapa 1"/>
          <p:cNvSpPr/>
          <p:nvPr/>
        </p:nvSpPr>
        <p:spPr>
          <a:xfrm>
            <a:off x="457200" y="4114800"/>
            <a:ext cx="1851660" cy="502920"/>
          </a:xfrm>
          <a:prstGeom prst="roundRect">
            <a:avLst>
              <a:gd name="adj" fmla="val 14545"/>
            </a:avLst>
          </a:prstGeom>
          <a:solidFill>
            <a:schemeClr val="tx2"/>
          </a:solidFill>
          <a:ln w="12700">
            <a:solidFill>
              <a:schemeClr val="tx2"/>
            </a:solidFill>
            <a:prstDash val="solid"/>
          </a:ln>
        </p:spPr>
      </p:sp>
      <p:sp>
        <p:nvSpPr>
          <p:cNvPr id="18" name="Text 15"/>
          <p:cNvSpPr txBox="1"/>
          <p:nvPr/>
        </p:nvSpPr>
        <p:spPr>
          <a:xfrm>
            <a:off x="45720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Indício identificado</a:t>
            </a:r>
            <a:endParaRPr lang="en-US" sz="1100" dirty="0"/>
          </a:p>
        </p:txBody>
      </p:sp>
      <p:sp>
        <p:nvSpPr>
          <p:cNvPr id="19" name="Seta 1"/>
          <p:cNvSpPr/>
          <p:nvPr/>
        </p:nvSpPr>
        <p:spPr>
          <a:xfrm>
            <a:off x="2345436" y="4261104"/>
            <a:ext cx="201168" cy="210312"/>
          </a:xfrm>
          <a:prstGeom prst="rightArrow">
            <a:avLst/>
          </a:prstGeom>
          <a:solidFill>
            <a:schemeClr val="accent2"/>
          </a:solidFill>
          <a:ln w="12700">
            <a:solidFill>
              <a:schemeClr val="accent2"/>
            </a:solidFill>
            <a:prstDash val="solid"/>
          </a:ln>
        </p:spPr>
      </p:sp>
      <p:sp>
        <p:nvSpPr>
          <p:cNvPr id="20" name="Etapa 2"/>
          <p:cNvSpPr/>
          <p:nvPr/>
        </p:nvSpPr>
        <p:spPr>
          <a:xfrm>
            <a:off x="2583180" y="4114800"/>
            <a:ext cx="1851660" cy="502920"/>
          </a:xfrm>
          <a:prstGeom prst="roundRect">
            <a:avLst>
              <a:gd name="adj" fmla="val 14545"/>
            </a:avLst>
          </a:prstGeom>
          <a:solidFill>
            <a:schemeClr val="tx2"/>
          </a:solidFill>
          <a:ln w="12700">
            <a:solidFill>
              <a:schemeClr val="tx2"/>
            </a:solidFill>
            <a:prstDash val="solid"/>
          </a:ln>
        </p:spPr>
      </p:sp>
      <p:sp>
        <p:nvSpPr>
          <p:cNvPr id="21" name="Text 18"/>
          <p:cNvSpPr txBox="1"/>
          <p:nvPr/>
        </p:nvSpPr>
        <p:spPr>
          <a:xfrm>
            <a:off x="258318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Canal de encaminhamento</a:t>
            </a:r>
            <a:endParaRPr lang="en-US" sz="1100" dirty="0"/>
          </a:p>
        </p:txBody>
      </p:sp>
      <p:sp>
        <p:nvSpPr>
          <p:cNvPr id="22" name="Seta 2"/>
          <p:cNvSpPr/>
          <p:nvPr/>
        </p:nvSpPr>
        <p:spPr>
          <a:xfrm>
            <a:off x="4471416" y="4261104"/>
            <a:ext cx="201168" cy="210312"/>
          </a:xfrm>
          <a:prstGeom prst="rightArrow">
            <a:avLst/>
          </a:prstGeom>
          <a:solidFill>
            <a:schemeClr val="accent2"/>
          </a:solidFill>
          <a:ln w="12700">
            <a:solidFill>
              <a:schemeClr val="accent2"/>
            </a:solidFill>
            <a:prstDash val="solid"/>
          </a:ln>
        </p:spPr>
      </p:sp>
      <p:sp>
        <p:nvSpPr>
          <p:cNvPr id="23" name="Etapa 3"/>
          <p:cNvSpPr/>
          <p:nvPr/>
        </p:nvSpPr>
        <p:spPr>
          <a:xfrm>
            <a:off x="4709160" y="4114800"/>
            <a:ext cx="1851660" cy="502920"/>
          </a:xfrm>
          <a:prstGeom prst="roundRect">
            <a:avLst>
              <a:gd name="adj" fmla="val 14545"/>
            </a:avLst>
          </a:prstGeom>
          <a:solidFill>
            <a:schemeClr val="tx2"/>
          </a:solidFill>
          <a:ln w="12700">
            <a:solidFill>
              <a:schemeClr val="tx2"/>
            </a:solidFill>
            <a:prstDash val="solid"/>
          </a:ln>
        </p:spPr>
      </p:sp>
      <p:sp>
        <p:nvSpPr>
          <p:cNvPr id="24" name="Text 21"/>
          <p:cNvSpPr txBox="1"/>
          <p:nvPr/>
        </p:nvSpPr>
        <p:spPr>
          <a:xfrm>
            <a:off x="470916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Coger avalia</a:t>
            </a:r>
            <a:endParaRPr lang="en-US" sz="1100" dirty="0"/>
          </a:p>
        </p:txBody>
      </p:sp>
      <p:sp>
        <p:nvSpPr>
          <p:cNvPr id="25" name="Seta 3"/>
          <p:cNvSpPr/>
          <p:nvPr/>
        </p:nvSpPr>
        <p:spPr>
          <a:xfrm>
            <a:off x="6597396" y="4261104"/>
            <a:ext cx="201168" cy="210312"/>
          </a:xfrm>
          <a:prstGeom prst="rightArrow">
            <a:avLst/>
          </a:prstGeom>
          <a:solidFill>
            <a:schemeClr val="accent2"/>
          </a:solidFill>
          <a:ln w="12700">
            <a:solidFill>
              <a:schemeClr val="accent2"/>
            </a:solidFill>
            <a:prstDash val="solid"/>
          </a:ln>
        </p:spPr>
      </p:sp>
      <p:sp>
        <p:nvSpPr>
          <p:cNvPr id="26" name="Etapa 4"/>
          <p:cNvSpPr/>
          <p:nvPr/>
        </p:nvSpPr>
        <p:spPr>
          <a:xfrm>
            <a:off x="6835140" y="4114800"/>
            <a:ext cx="1851660" cy="502920"/>
          </a:xfrm>
          <a:prstGeom prst="roundRect">
            <a:avLst>
              <a:gd name="adj" fmla="val 14545"/>
            </a:avLst>
          </a:prstGeom>
          <a:solidFill>
            <a:schemeClr val="accent1"/>
          </a:solidFill>
          <a:ln w="12700">
            <a:solidFill>
              <a:schemeClr val="accent1"/>
            </a:solidFill>
            <a:prstDash val="solid"/>
          </a:ln>
        </p:spPr>
      </p:sp>
      <p:sp>
        <p:nvSpPr>
          <p:cNvPr id="27" name="Text 24"/>
          <p:cNvSpPr txBox="1"/>
          <p:nvPr/>
        </p:nvSpPr>
        <p:spPr>
          <a:xfrm>
            <a:off x="683514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Investigação Preliminar (sigilosa)</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Sinergia com a Dipol: licitações, contratos e o art. 5º, IV e V</a:t>
            </a:r>
            <a:endParaRPr lang="en-US" sz="2400" dirty="0"/>
          </a:p>
        </p:txBody>
      </p:sp>
      <p:sp>
        <p:nvSpPr>
          <p:cNvPr id="5" name="Card 1"/>
          <p:cNvSpPr/>
          <p:nvPr/>
        </p:nvSpPr>
        <p:spPr>
          <a:xfrm>
            <a:off x="457200" y="1463040"/>
            <a:ext cx="8229600" cy="678688"/>
          </a:xfrm>
          <a:prstGeom prst="roundRect">
            <a:avLst>
              <a:gd name="adj" fmla="val 10778"/>
            </a:avLst>
          </a:prstGeom>
          <a:solidFill>
            <a:schemeClr val="bg2"/>
          </a:solidFill>
          <a:ln w="12700">
            <a:solidFill>
              <a:schemeClr val="bg2"/>
            </a:solidFill>
            <a:prstDash val="solid"/>
          </a:ln>
        </p:spPr>
      </p:sp>
      <p:sp>
        <p:nvSpPr>
          <p:cNvPr id="6" name="Badge 1"/>
          <p:cNvSpPr/>
          <p:nvPr/>
        </p:nvSpPr>
        <p:spPr>
          <a:xfrm>
            <a:off x="585216" y="1646936"/>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4693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678688"/>
          </a:xfrm>
          <a:prstGeom prst="rect">
            <a:avLst/>
          </a:prstGeom>
          <a:noFill/>
          <a:ln/>
        </p:spPr>
        <p:txBody>
          <a:bodyPr wrap="square" lIns="0" tIns="0" rIns="0" bIns="0" rtlCol="0" anchor="ctr"/>
          <a:lstStyle/>
          <a:p>
            <a:pPr indent="0" marL="0">
              <a:buNone/>
            </a:pPr>
            <a:r>
              <a:rPr lang="en-US" sz="1600" dirty="0">
                <a:solidFill>
                  <a:schemeClr val="tx1"/>
                </a:solidFill>
              </a:rPr>
              <a:t>O inciso IV do art. 5º é o mais extenso do rol de atos lesivos — sete alíneas sobre fraudes em licitações e contratos</a:t>
            </a:r>
            <a:endParaRPr lang="en-US" sz="1600" dirty="0"/>
          </a:p>
        </p:txBody>
      </p:sp>
      <p:sp>
        <p:nvSpPr>
          <p:cNvPr id="9" name="Card 2"/>
          <p:cNvSpPr/>
          <p:nvPr/>
        </p:nvSpPr>
        <p:spPr>
          <a:xfrm>
            <a:off x="457200" y="2257044"/>
            <a:ext cx="8229600" cy="926592"/>
          </a:xfrm>
          <a:prstGeom prst="roundRect">
            <a:avLst>
              <a:gd name="adj" fmla="val 7895"/>
            </a:avLst>
          </a:prstGeom>
          <a:solidFill>
            <a:schemeClr val="bg2"/>
          </a:solidFill>
          <a:ln w="12700">
            <a:solidFill>
              <a:schemeClr val="bg2"/>
            </a:solidFill>
            <a:prstDash val="solid"/>
          </a:ln>
        </p:spPr>
      </p:sp>
      <p:sp>
        <p:nvSpPr>
          <p:cNvPr id="10" name="Badge 2"/>
          <p:cNvSpPr/>
          <p:nvPr/>
        </p:nvSpPr>
        <p:spPr>
          <a:xfrm>
            <a:off x="585216" y="256489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6489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7044"/>
            <a:ext cx="7498080" cy="926592"/>
          </a:xfrm>
          <a:prstGeom prst="rect">
            <a:avLst/>
          </a:prstGeom>
          <a:noFill/>
          <a:ln/>
        </p:spPr>
        <p:txBody>
          <a:bodyPr wrap="square" lIns="0" tIns="0" rIns="0" bIns="0" rtlCol="0" anchor="ctr"/>
          <a:lstStyle/>
          <a:p>
            <a:pPr indent="0" marL="0">
              <a:buNone/>
            </a:pPr>
            <a:r>
              <a:rPr lang="en-US" sz="1600" dirty="0">
                <a:solidFill>
                  <a:schemeClr val="tx1"/>
                </a:solidFill>
              </a:rPr>
              <a:t>A Dipol, na gestão cotidiana de licitações e contratos da RF, tem posição privilegiada para identificar sinais de conluio, direcionamento de edital ou execução contratual em desacordo com o pactuado</a:t>
            </a:r>
            <a:endParaRPr lang="en-US" sz="1600" dirty="0"/>
          </a:p>
        </p:txBody>
      </p:sp>
      <p:sp>
        <p:nvSpPr>
          <p:cNvPr id="13" name="Card 3"/>
          <p:cNvSpPr/>
          <p:nvPr/>
        </p:nvSpPr>
        <p:spPr>
          <a:xfrm>
            <a:off x="457200" y="3298952"/>
            <a:ext cx="8229600" cy="678688"/>
          </a:xfrm>
          <a:prstGeom prst="roundRect">
            <a:avLst>
              <a:gd name="adj" fmla="val 10778"/>
            </a:avLst>
          </a:prstGeom>
          <a:solidFill>
            <a:schemeClr val="bg2"/>
          </a:solidFill>
          <a:ln w="12700">
            <a:solidFill>
              <a:schemeClr val="bg2"/>
            </a:solidFill>
            <a:prstDash val="solid"/>
          </a:ln>
        </p:spPr>
      </p:sp>
      <p:sp>
        <p:nvSpPr>
          <p:cNvPr id="14" name="Badge 3"/>
          <p:cNvSpPr/>
          <p:nvPr/>
        </p:nvSpPr>
        <p:spPr>
          <a:xfrm>
            <a:off x="585216" y="348284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4828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98952"/>
            <a:ext cx="7498080" cy="678688"/>
          </a:xfrm>
          <a:prstGeom prst="rect">
            <a:avLst/>
          </a:prstGeom>
          <a:noFill/>
          <a:ln/>
        </p:spPr>
        <p:txBody>
          <a:bodyPr wrap="square" lIns="0" tIns="0" rIns="0" bIns="0" rtlCol="0" anchor="ctr"/>
          <a:lstStyle/>
          <a:p>
            <a:pPr indent="0" marL="0">
              <a:buNone/>
            </a:pPr>
            <a:r>
              <a:rPr lang="en-US" sz="1600" dirty="0">
                <a:solidFill>
                  <a:schemeClr val="tx1"/>
                </a:solidFill>
              </a:rPr>
              <a:t>Diálogo direto com a Lei nº 14.133, de 1º de abril de 2021 (Nova Lei de Licitações)</a:t>
            </a:r>
            <a:endParaRPr lang="en-US" sz="1600" dirty="0"/>
          </a:p>
        </p:txBody>
      </p:sp>
      <p:sp>
        <p:nvSpPr>
          <p:cNvPr id="17" name="Etapa 1"/>
          <p:cNvSpPr/>
          <p:nvPr/>
        </p:nvSpPr>
        <p:spPr>
          <a:xfrm>
            <a:off x="457200" y="4114800"/>
            <a:ext cx="1851660" cy="502920"/>
          </a:xfrm>
          <a:prstGeom prst="roundRect">
            <a:avLst>
              <a:gd name="adj" fmla="val 14545"/>
            </a:avLst>
          </a:prstGeom>
          <a:solidFill>
            <a:schemeClr val="tx2"/>
          </a:solidFill>
          <a:ln w="12700">
            <a:solidFill>
              <a:schemeClr val="tx2"/>
            </a:solidFill>
            <a:prstDash val="solid"/>
          </a:ln>
        </p:spPr>
      </p:sp>
      <p:sp>
        <p:nvSpPr>
          <p:cNvPr id="18" name="Text 15"/>
          <p:cNvSpPr txBox="1"/>
          <p:nvPr/>
        </p:nvSpPr>
        <p:spPr>
          <a:xfrm>
            <a:off x="45720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Indício identificado</a:t>
            </a:r>
            <a:endParaRPr lang="en-US" sz="1100" dirty="0"/>
          </a:p>
        </p:txBody>
      </p:sp>
      <p:sp>
        <p:nvSpPr>
          <p:cNvPr id="19" name="Seta 1"/>
          <p:cNvSpPr/>
          <p:nvPr/>
        </p:nvSpPr>
        <p:spPr>
          <a:xfrm>
            <a:off x="2345436" y="4261104"/>
            <a:ext cx="201168" cy="210312"/>
          </a:xfrm>
          <a:prstGeom prst="rightArrow">
            <a:avLst/>
          </a:prstGeom>
          <a:solidFill>
            <a:schemeClr val="accent2"/>
          </a:solidFill>
          <a:ln w="12700">
            <a:solidFill>
              <a:schemeClr val="accent2"/>
            </a:solidFill>
            <a:prstDash val="solid"/>
          </a:ln>
        </p:spPr>
      </p:sp>
      <p:sp>
        <p:nvSpPr>
          <p:cNvPr id="20" name="Etapa 2"/>
          <p:cNvSpPr/>
          <p:nvPr/>
        </p:nvSpPr>
        <p:spPr>
          <a:xfrm>
            <a:off x="2583180" y="4114800"/>
            <a:ext cx="1851660" cy="502920"/>
          </a:xfrm>
          <a:prstGeom prst="roundRect">
            <a:avLst>
              <a:gd name="adj" fmla="val 14545"/>
            </a:avLst>
          </a:prstGeom>
          <a:solidFill>
            <a:schemeClr val="tx2"/>
          </a:solidFill>
          <a:ln w="12700">
            <a:solidFill>
              <a:schemeClr val="tx2"/>
            </a:solidFill>
            <a:prstDash val="solid"/>
          </a:ln>
        </p:spPr>
      </p:sp>
      <p:sp>
        <p:nvSpPr>
          <p:cNvPr id="21" name="Text 18"/>
          <p:cNvSpPr txBox="1"/>
          <p:nvPr/>
        </p:nvSpPr>
        <p:spPr>
          <a:xfrm>
            <a:off x="258318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Canal de encaminhamento</a:t>
            </a:r>
            <a:endParaRPr lang="en-US" sz="1100" dirty="0"/>
          </a:p>
        </p:txBody>
      </p:sp>
      <p:sp>
        <p:nvSpPr>
          <p:cNvPr id="22" name="Seta 2"/>
          <p:cNvSpPr/>
          <p:nvPr/>
        </p:nvSpPr>
        <p:spPr>
          <a:xfrm>
            <a:off x="4471416" y="4261104"/>
            <a:ext cx="201168" cy="210312"/>
          </a:xfrm>
          <a:prstGeom prst="rightArrow">
            <a:avLst/>
          </a:prstGeom>
          <a:solidFill>
            <a:schemeClr val="accent2"/>
          </a:solidFill>
          <a:ln w="12700">
            <a:solidFill>
              <a:schemeClr val="accent2"/>
            </a:solidFill>
            <a:prstDash val="solid"/>
          </a:ln>
        </p:spPr>
      </p:sp>
      <p:sp>
        <p:nvSpPr>
          <p:cNvPr id="23" name="Etapa 3"/>
          <p:cNvSpPr/>
          <p:nvPr/>
        </p:nvSpPr>
        <p:spPr>
          <a:xfrm>
            <a:off x="4709160" y="4114800"/>
            <a:ext cx="1851660" cy="502920"/>
          </a:xfrm>
          <a:prstGeom prst="roundRect">
            <a:avLst>
              <a:gd name="adj" fmla="val 14545"/>
            </a:avLst>
          </a:prstGeom>
          <a:solidFill>
            <a:schemeClr val="tx2"/>
          </a:solidFill>
          <a:ln w="12700">
            <a:solidFill>
              <a:schemeClr val="tx2"/>
            </a:solidFill>
            <a:prstDash val="solid"/>
          </a:ln>
        </p:spPr>
      </p:sp>
      <p:sp>
        <p:nvSpPr>
          <p:cNvPr id="24" name="Text 21"/>
          <p:cNvSpPr txBox="1"/>
          <p:nvPr/>
        </p:nvSpPr>
        <p:spPr>
          <a:xfrm>
            <a:off x="470916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Coger avalia</a:t>
            </a:r>
            <a:endParaRPr lang="en-US" sz="1100" dirty="0"/>
          </a:p>
        </p:txBody>
      </p:sp>
      <p:sp>
        <p:nvSpPr>
          <p:cNvPr id="25" name="Seta 3"/>
          <p:cNvSpPr/>
          <p:nvPr/>
        </p:nvSpPr>
        <p:spPr>
          <a:xfrm>
            <a:off x="6597396" y="4261104"/>
            <a:ext cx="201168" cy="210312"/>
          </a:xfrm>
          <a:prstGeom prst="rightArrow">
            <a:avLst/>
          </a:prstGeom>
          <a:solidFill>
            <a:schemeClr val="accent2"/>
          </a:solidFill>
          <a:ln w="12700">
            <a:solidFill>
              <a:schemeClr val="accent2"/>
            </a:solidFill>
            <a:prstDash val="solid"/>
          </a:ln>
        </p:spPr>
      </p:sp>
      <p:sp>
        <p:nvSpPr>
          <p:cNvPr id="26" name="Etapa 4"/>
          <p:cNvSpPr/>
          <p:nvPr/>
        </p:nvSpPr>
        <p:spPr>
          <a:xfrm>
            <a:off x="6835140" y="4114800"/>
            <a:ext cx="1851660" cy="502920"/>
          </a:xfrm>
          <a:prstGeom prst="roundRect">
            <a:avLst>
              <a:gd name="adj" fmla="val 14545"/>
            </a:avLst>
          </a:prstGeom>
          <a:solidFill>
            <a:schemeClr val="accent1"/>
          </a:solidFill>
          <a:ln w="12700">
            <a:solidFill>
              <a:schemeClr val="accent1"/>
            </a:solidFill>
            <a:prstDash val="solid"/>
          </a:ln>
        </p:spPr>
      </p:sp>
      <p:sp>
        <p:nvSpPr>
          <p:cNvPr id="27" name="Text 24"/>
          <p:cNvSpPr txBox="1"/>
          <p:nvPr/>
        </p:nvSpPr>
        <p:spPr>
          <a:xfrm>
            <a:off x="683514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Investigação Preliminar (sigilosa)</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Sinergia com a Diana: interposição fraudulenta e obstrução aduaneira</a:t>
            </a:r>
            <a:endParaRPr lang="en-US" sz="2400" dirty="0"/>
          </a:p>
        </p:txBody>
      </p:sp>
      <p:sp>
        <p:nvSpPr>
          <p:cNvPr id="5" name="Card 1"/>
          <p:cNvSpPr/>
          <p:nvPr/>
        </p:nvSpPr>
        <p:spPr>
          <a:xfrm>
            <a:off x="457200" y="1463040"/>
            <a:ext cx="8229600" cy="616712"/>
          </a:xfrm>
          <a:prstGeom prst="roundRect">
            <a:avLst>
              <a:gd name="adj" fmla="val 11862"/>
            </a:avLst>
          </a:prstGeom>
          <a:solidFill>
            <a:schemeClr val="bg2"/>
          </a:solidFill>
          <a:ln w="12700">
            <a:solidFill>
              <a:schemeClr val="bg2"/>
            </a:solidFill>
            <a:prstDash val="solid"/>
          </a:ln>
        </p:spPr>
      </p:sp>
      <p:sp>
        <p:nvSpPr>
          <p:cNvPr id="6" name="Badge 1"/>
          <p:cNvSpPr/>
          <p:nvPr/>
        </p:nvSpPr>
        <p:spPr>
          <a:xfrm>
            <a:off x="585216" y="1615948"/>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159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616712"/>
          </a:xfrm>
          <a:prstGeom prst="rect">
            <a:avLst/>
          </a:prstGeom>
          <a:noFill/>
          <a:ln/>
        </p:spPr>
        <p:txBody>
          <a:bodyPr wrap="square" lIns="0" tIns="0" rIns="0" bIns="0" rtlCol="0" anchor="ctr"/>
          <a:lstStyle/>
          <a:p>
            <a:pPr indent="0" marL="0">
              <a:buNone/>
            </a:pPr>
            <a:r>
              <a:rPr lang="en-US" sz="1400" dirty="0">
                <a:solidFill>
                  <a:schemeClr val="tx1"/>
                </a:solidFill>
              </a:rPr>
              <a:t>Atos que embaraçam ou frustram a fiscalização aduaneira também podem configurar ato lesivo (art. 5º, V)</a:t>
            </a:r>
            <a:endParaRPr lang="en-US" sz="1400" dirty="0"/>
          </a:p>
        </p:txBody>
      </p:sp>
      <p:sp>
        <p:nvSpPr>
          <p:cNvPr id="9" name="Card 2"/>
          <p:cNvSpPr/>
          <p:nvPr/>
        </p:nvSpPr>
        <p:spPr>
          <a:xfrm>
            <a:off x="457200" y="2195068"/>
            <a:ext cx="8229600" cy="1050544"/>
          </a:xfrm>
          <a:prstGeom prst="roundRect">
            <a:avLst>
              <a:gd name="adj" fmla="val 6963"/>
            </a:avLst>
          </a:prstGeom>
          <a:solidFill>
            <a:schemeClr val="bg2"/>
          </a:solidFill>
          <a:ln w="12700">
            <a:solidFill>
              <a:schemeClr val="bg2"/>
            </a:solidFill>
            <a:prstDash val="solid"/>
          </a:ln>
        </p:spPr>
      </p:sp>
      <p:sp>
        <p:nvSpPr>
          <p:cNvPr id="10" name="Badge 2"/>
          <p:cNvSpPr/>
          <p:nvPr/>
        </p:nvSpPr>
        <p:spPr>
          <a:xfrm>
            <a:off x="585216" y="256489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6489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195068"/>
            <a:ext cx="7498080" cy="1050544"/>
          </a:xfrm>
          <a:prstGeom prst="rect">
            <a:avLst/>
          </a:prstGeom>
          <a:noFill/>
          <a:ln/>
        </p:spPr>
        <p:txBody>
          <a:bodyPr wrap="square" lIns="0" tIns="0" rIns="0" bIns="0" rtlCol="0" anchor="ctr"/>
          <a:lstStyle/>
          <a:p>
            <a:pPr indent="0" marL="0">
              <a:buNone/>
            </a:pPr>
            <a:r>
              <a:rPr lang="en-US" sz="1400" b="1" dirty="0">
                <a:solidFill>
                  <a:schemeClr val="accent1"/>
                </a:solidFill>
              </a:rPr>
              <a:t>Interposição fraudulenta: </a:t>
            </a:r>
            <a:pPr indent="0" marL="0">
              <a:buNone/>
            </a:pPr>
            <a:r>
              <a:rPr lang="en-US" sz="1400" dirty="0">
                <a:solidFill>
                  <a:schemeClr val="tx1"/>
                </a:solidFill>
              </a:rPr>
              <a:t>gera perdimento da mercadoria (Decreto-Lei nº 1.455, de 7 de abril de 1976); quando associada a vantagem indevida a agente público para viabilizar o desembaraço, configura também ato lesivo autônomo à Lei nº 12.846, de 2013</a:t>
            </a:r>
            <a:endParaRPr lang="en-US" sz="1400" dirty="0"/>
          </a:p>
        </p:txBody>
      </p:sp>
      <p:sp>
        <p:nvSpPr>
          <p:cNvPr id="13" name="Card 3"/>
          <p:cNvSpPr/>
          <p:nvPr/>
        </p:nvSpPr>
        <p:spPr>
          <a:xfrm>
            <a:off x="457200" y="3360928"/>
            <a:ext cx="8229600" cy="616712"/>
          </a:xfrm>
          <a:prstGeom prst="roundRect">
            <a:avLst>
              <a:gd name="adj" fmla="val 11862"/>
            </a:avLst>
          </a:prstGeom>
          <a:solidFill>
            <a:schemeClr val="bg2"/>
          </a:solidFill>
          <a:ln w="12700">
            <a:solidFill>
              <a:schemeClr val="bg2"/>
            </a:solidFill>
            <a:prstDash val="solid"/>
          </a:ln>
        </p:spPr>
      </p:sp>
      <p:sp>
        <p:nvSpPr>
          <p:cNvPr id="14" name="Badge 3"/>
          <p:cNvSpPr/>
          <p:nvPr/>
        </p:nvSpPr>
        <p:spPr>
          <a:xfrm>
            <a:off x="585216" y="3513836"/>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51383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360928"/>
            <a:ext cx="7498080" cy="616712"/>
          </a:xfrm>
          <a:prstGeom prst="rect">
            <a:avLst/>
          </a:prstGeom>
          <a:noFill/>
          <a:ln/>
        </p:spPr>
        <p:txBody>
          <a:bodyPr wrap="square" lIns="0" tIns="0" rIns="0" bIns="0" rtlCol="0" anchor="ctr"/>
          <a:lstStyle/>
          <a:p>
            <a:pPr indent="0" marL="0">
              <a:buNone/>
            </a:pPr>
            <a:r>
              <a:rPr lang="en-US" sz="1400" dirty="0">
                <a:solidFill>
                  <a:schemeClr val="tx1"/>
                </a:solidFill>
              </a:rPr>
              <a:t>Hoje, essas duas esferas — aduaneira e anticorrupção — tramitam de forma desconectada</a:t>
            </a:r>
            <a:endParaRPr lang="en-US" sz="1400" dirty="0"/>
          </a:p>
        </p:txBody>
      </p:sp>
      <p:sp>
        <p:nvSpPr>
          <p:cNvPr id="17" name="Etapa 1"/>
          <p:cNvSpPr/>
          <p:nvPr/>
        </p:nvSpPr>
        <p:spPr>
          <a:xfrm>
            <a:off x="457200" y="4114800"/>
            <a:ext cx="1851660" cy="502920"/>
          </a:xfrm>
          <a:prstGeom prst="roundRect">
            <a:avLst>
              <a:gd name="adj" fmla="val 14545"/>
            </a:avLst>
          </a:prstGeom>
          <a:solidFill>
            <a:schemeClr val="tx2"/>
          </a:solidFill>
          <a:ln w="12700">
            <a:solidFill>
              <a:schemeClr val="tx2"/>
            </a:solidFill>
            <a:prstDash val="solid"/>
          </a:ln>
        </p:spPr>
      </p:sp>
      <p:sp>
        <p:nvSpPr>
          <p:cNvPr id="18" name="Text 15"/>
          <p:cNvSpPr txBox="1"/>
          <p:nvPr/>
        </p:nvSpPr>
        <p:spPr>
          <a:xfrm>
            <a:off x="45720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Indício identificado</a:t>
            </a:r>
            <a:endParaRPr lang="en-US" sz="1100" dirty="0"/>
          </a:p>
        </p:txBody>
      </p:sp>
      <p:sp>
        <p:nvSpPr>
          <p:cNvPr id="19" name="Seta 1"/>
          <p:cNvSpPr/>
          <p:nvPr/>
        </p:nvSpPr>
        <p:spPr>
          <a:xfrm>
            <a:off x="2345436" y="4261104"/>
            <a:ext cx="201168" cy="210312"/>
          </a:xfrm>
          <a:prstGeom prst="rightArrow">
            <a:avLst/>
          </a:prstGeom>
          <a:solidFill>
            <a:schemeClr val="accent2"/>
          </a:solidFill>
          <a:ln w="12700">
            <a:solidFill>
              <a:schemeClr val="accent2"/>
            </a:solidFill>
            <a:prstDash val="solid"/>
          </a:ln>
        </p:spPr>
      </p:sp>
      <p:sp>
        <p:nvSpPr>
          <p:cNvPr id="20" name="Etapa 2"/>
          <p:cNvSpPr/>
          <p:nvPr/>
        </p:nvSpPr>
        <p:spPr>
          <a:xfrm>
            <a:off x="2583180" y="4114800"/>
            <a:ext cx="1851660" cy="502920"/>
          </a:xfrm>
          <a:prstGeom prst="roundRect">
            <a:avLst>
              <a:gd name="adj" fmla="val 14545"/>
            </a:avLst>
          </a:prstGeom>
          <a:solidFill>
            <a:schemeClr val="tx2"/>
          </a:solidFill>
          <a:ln w="12700">
            <a:solidFill>
              <a:schemeClr val="tx2"/>
            </a:solidFill>
            <a:prstDash val="solid"/>
          </a:ln>
        </p:spPr>
      </p:sp>
      <p:sp>
        <p:nvSpPr>
          <p:cNvPr id="21" name="Text 18"/>
          <p:cNvSpPr txBox="1"/>
          <p:nvPr/>
        </p:nvSpPr>
        <p:spPr>
          <a:xfrm>
            <a:off x="258318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Canal de encaminhamento</a:t>
            </a:r>
            <a:endParaRPr lang="en-US" sz="1100" dirty="0"/>
          </a:p>
        </p:txBody>
      </p:sp>
      <p:sp>
        <p:nvSpPr>
          <p:cNvPr id="22" name="Seta 2"/>
          <p:cNvSpPr/>
          <p:nvPr/>
        </p:nvSpPr>
        <p:spPr>
          <a:xfrm>
            <a:off x="4471416" y="4261104"/>
            <a:ext cx="201168" cy="210312"/>
          </a:xfrm>
          <a:prstGeom prst="rightArrow">
            <a:avLst/>
          </a:prstGeom>
          <a:solidFill>
            <a:schemeClr val="accent2"/>
          </a:solidFill>
          <a:ln w="12700">
            <a:solidFill>
              <a:schemeClr val="accent2"/>
            </a:solidFill>
            <a:prstDash val="solid"/>
          </a:ln>
        </p:spPr>
      </p:sp>
      <p:sp>
        <p:nvSpPr>
          <p:cNvPr id="23" name="Etapa 3"/>
          <p:cNvSpPr/>
          <p:nvPr/>
        </p:nvSpPr>
        <p:spPr>
          <a:xfrm>
            <a:off x="4709160" y="4114800"/>
            <a:ext cx="1851660" cy="502920"/>
          </a:xfrm>
          <a:prstGeom prst="roundRect">
            <a:avLst>
              <a:gd name="adj" fmla="val 14545"/>
            </a:avLst>
          </a:prstGeom>
          <a:solidFill>
            <a:schemeClr val="tx2"/>
          </a:solidFill>
          <a:ln w="12700">
            <a:solidFill>
              <a:schemeClr val="tx2"/>
            </a:solidFill>
            <a:prstDash val="solid"/>
          </a:ln>
        </p:spPr>
      </p:sp>
      <p:sp>
        <p:nvSpPr>
          <p:cNvPr id="24" name="Text 21"/>
          <p:cNvSpPr txBox="1"/>
          <p:nvPr/>
        </p:nvSpPr>
        <p:spPr>
          <a:xfrm>
            <a:off x="470916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Coger avalia</a:t>
            </a:r>
            <a:endParaRPr lang="en-US" sz="1100" dirty="0"/>
          </a:p>
        </p:txBody>
      </p:sp>
      <p:sp>
        <p:nvSpPr>
          <p:cNvPr id="25" name="Seta 3"/>
          <p:cNvSpPr/>
          <p:nvPr/>
        </p:nvSpPr>
        <p:spPr>
          <a:xfrm>
            <a:off x="6597396" y="4261104"/>
            <a:ext cx="201168" cy="210312"/>
          </a:xfrm>
          <a:prstGeom prst="rightArrow">
            <a:avLst/>
          </a:prstGeom>
          <a:solidFill>
            <a:schemeClr val="accent2"/>
          </a:solidFill>
          <a:ln w="12700">
            <a:solidFill>
              <a:schemeClr val="accent2"/>
            </a:solidFill>
            <a:prstDash val="solid"/>
          </a:ln>
        </p:spPr>
      </p:sp>
      <p:sp>
        <p:nvSpPr>
          <p:cNvPr id="26" name="Etapa 4"/>
          <p:cNvSpPr/>
          <p:nvPr/>
        </p:nvSpPr>
        <p:spPr>
          <a:xfrm>
            <a:off x="6835140" y="4114800"/>
            <a:ext cx="1851660" cy="502920"/>
          </a:xfrm>
          <a:prstGeom prst="roundRect">
            <a:avLst>
              <a:gd name="adj" fmla="val 14545"/>
            </a:avLst>
          </a:prstGeom>
          <a:solidFill>
            <a:schemeClr val="accent1"/>
          </a:solidFill>
          <a:ln w="12700">
            <a:solidFill>
              <a:schemeClr val="accent1"/>
            </a:solidFill>
            <a:prstDash val="solid"/>
          </a:ln>
        </p:spPr>
      </p:sp>
      <p:sp>
        <p:nvSpPr>
          <p:cNvPr id="27" name="Text 24"/>
          <p:cNvSpPr txBox="1"/>
          <p:nvPr/>
        </p:nvSpPr>
        <p:spPr>
          <a:xfrm>
            <a:off x="683514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Investigação Preliminar (sigilosa)</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CONFORMIDADE E SINERGIAS</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Sinergia com a Espei: o trabalho de inteligência como insumo direto</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A Espei já produz, por natureza, relatórios de pesquisa e investigação com elementos de autoria e materialidade</a:t>
            </a:r>
            <a:endParaRPr lang="en-US" sz="1800" dirty="0"/>
          </a:p>
        </p:txBody>
      </p:sp>
      <p:sp>
        <p:nvSpPr>
          <p:cNvPr id="9" name="Card 2"/>
          <p:cNvSpPr/>
          <p:nvPr/>
        </p:nvSpPr>
        <p:spPr>
          <a:xfrm>
            <a:off x="457200" y="2350008"/>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56489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56489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350008"/>
            <a:ext cx="7498080" cy="740664"/>
          </a:xfrm>
          <a:prstGeom prst="rect">
            <a:avLst/>
          </a:prstGeom>
          <a:noFill/>
          <a:ln/>
        </p:spPr>
        <p:txBody>
          <a:bodyPr wrap="square" lIns="0" tIns="0" rIns="0" bIns="0" rtlCol="0" anchor="ctr"/>
          <a:lstStyle/>
          <a:p>
            <a:pPr indent="0" marL="0">
              <a:buNone/>
            </a:pPr>
            <a:r>
              <a:rPr lang="en-US" sz="1800" dirty="0">
                <a:solidFill>
                  <a:schemeClr val="tx1"/>
                </a:solidFill>
              </a:rPr>
              <a:t>É a área com maior proximidade metodológica ao próprio trabalho da Coger</a:t>
            </a:r>
            <a:endParaRPr lang="en-US" sz="1800" dirty="0"/>
          </a:p>
        </p:txBody>
      </p:sp>
      <p:sp>
        <p:nvSpPr>
          <p:cNvPr id="13" name="Card 3"/>
          <p:cNvSpPr/>
          <p:nvPr/>
        </p:nvSpPr>
        <p:spPr>
          <a:xfrm>
            <a:off x="457200" y="3236976"/>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451860"/>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45186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36976"/>
            <a:ext cx="7498080" cy="740664"/>
          </a:xfrm>
          <a:prstGeom prst="rect">
            <a:avLst/>
          </a:prstGeom>
          <a:noFill/>
          <a:ln/>
        </p:spPr>
        <p:txBody>
          <a:bodyPr wrap="square" lIns="0" tIns="0" rIns="0" bIns="0" rtlCol="0" anchor="ctr"/>
          <a:lstStyle/>
          <a:p>
            <a:pPr indent="0" marL="0">
              <a:buNone/>
            </a:pPr>
            <a:r>
              <a:rPr lang="en-US" sz="1800" dirty="0">
                <a:solidFill>
                  <a:schemeClr val="tx1"/>
                </a:solidFill>
              </a:rPr>
              <a:t>Pode ser, muitas vezes, o primeiro ponto de contato com denúncias externas ou sinais informais que mereçam avaliação formal</a:t>
            </a:r>
            <a:endParaRPr lang="en-US" sz="1800" dirty="0"/>
          </a:p>
        </p:txBody>
      </p:sp>
      <p:sp>
        <p:nvSpPr>
          <p:cNvPr id="17" name="Etapa 1"/>
          <p:cNvSpPr/>
          <p:nvPr/>
        </p:nvSpPr>
        <p:spPr>
          <a:xfrm>
            <a:off x="457200" y="4114800"/>
            <a:ext cx="1851660" cy="502920"/>
          </a:xfrm>
          <a:prstGeom prst="roundRect">
            <a:avLst>
              <a:gd name="adj" fmla="val 14545"/>
            </a:avLst>
          </a:prstGeom>
          <a:solidFill>
            <a:schemeClr val="tx2"/>
          </a:solidFill>
          <a:ln w="12700">
            <a:solidFill>
              <a:schemeClr val="tx2"/>
            </a:solidFill>
            <a:prstDash val="solid"/>
          </a:ln>
        </p:spPr>
      </p:sp>
      <p:sp>
        <p:nvSpPr>
          <p:cNvPr id="18" name="Text 15"/>
          <p:cNvSpPr txBox="1"/>
          <p:nvPr/>
        </p:nvSpPr>
        <p:spPr>
          <a:xfrm>
            <a:off x="45720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Indício identificado</a:t>
            </a:r>
            <a:endParaRPr lang="en-US" sz="1100" dirty="0"/>
          </a:p>
        </p:txBody>
      </p:sp>
      <p:sp>
        <p:nvSpPr>
          <p:cNvPr id="19" name="Seta 1"/>
          <p:cNvSpPr/>
          <p:nvPr/>
        </p:nvSpPr>
        <p:spPr>
          <a:xfrm>
            <a:off x="2345436" y="4261104"/>
            <a:ext cx="201168" cy="210312"/>
          </a:xfrm>
          <a:prstGeom prst="rightArrow">
            <a:avLst/>
          </a:prstGeom>
          <a:solidFill>
            <a:schemeClr val="accent2"/>
          </a:solidFill>
          <a:ln w="12700">
            <a:solidFill>
              <a:schemeClr val="accent2"/>
            </a:solidFill>
            <a:prstDash val="solid"/>
          </a:ln>
        </p:spPr>
      </p:sp>
      <p:sp>
        <p:nvSpPr>
          <p:cNvPr id="20" name="Etapa 2"/>
          <p:cNvSpPr/>
          <p:nvPr/>
        </p:nvSpPr>
        <p:spPr>
          <a:xfrm>
            <a:off x="2583180" y="4114800"/>
            <a:ext cx="1851660" cy="502920"/>
          </a:xfrm>
          <a:prstGeom prst="roundRect">
            <a:avLst>
              <a:gd name="adj" fmla="val 14545"/>
            </a:avLst>
          </a:prstGeom>
          <a:solidFill>
            <a:schemeClr val="tx2"/>
          </a:solidFill>
          <a:ln w="12700">
            <a:solidFill>
              <a:schemeClr val="tx2"/>
            </a:solidFill>
            <a:prstDash val="solid"/>
          </a:ln>
        </p:spPr>
      </p:sp>
      <p:sp>
        <p:nvSpPr>
          <p:cNvPr id="21" name="Text 18"/>
          <p:cNvSpPr txBox="1"/>
          <p:nvPr/>
        </p:nvSpPr>
        <p:spPr>
          <a:xfrm>
            <a:off x="258318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Canal de encaminhamento</a:t>
            </a:r>
            <a:endParaRPr lang="en-US" sz="1100" dirty="0"/>
          </a:p>
        </p:txBody>
      </p:sp>
      <p:sp>
        <p:nvSpPr>
          <p:cNvPr id="22" name="Seta 2"/>
          <p:cNvSpPr/>
          <p:nvPr/>
        </p:nvSpPr>
        <p:spPr>
          <a:xfrm>
            <a:off x="4471416" y="4261104"/>
            <a:ext cx="201168" cy="210312"/>
          </a:xfrm>
          <a:prstGeom prst="rightArrow">
            <a:avLst/>
          </a:prstGeom>
          <a:solidFill>
            <a:schemeClr val="accent2"/>
          </a:solidFill>
          <a:ln w="12700">
            <a:solidFill>
              <a:schemeClr val="accent2"/>
            </a:solidFill>
            <a:prstDash val="solid"/>
          </a:ln>
        </p:spPr>
      </p:sp>
      <p:sp>
        <p:nvSpPr>
          <p:cNvPr id="23" name="Etapa 3"/>
          <p:cNvSpPr/>
          <p:nvPr/>
        </p:nvSpPr>
        <p:spPr>
          <a:xfrm>
            <a:off x="4709160" y="4114800"/>
            <a:ext cx="1851660" cy="502920"/>
          </a:xfrm>
          <a:prstGeom prst="roundRect">
            <a:avLst>
              <a:gd name="adj" fmla="val 14545"/>
            </a:avLst>
          </a:prstGeom>
          <a:solidFill>
            <a:schemeClr val="tx2"/>
          </a:solidFill>
          <a:ln w="12700">
            <a:solidFill>
              <a:schemeClr val="tx2"/>
            </a:solidFill>
            <a:prstDash val="solid"/>
          </a:ln>
        </p:spPr>
      </p:sp>
      <p:sp>
        <p:nvSpPr>
          <p:cNvPr id="24" name="Text 21"/>
          <p:cNvSpPr txBox="1"/>
          <p:nvPr/>
        </p:nvSpPr>
        <p:spPr>
          <a:xfrm>
            <a:off x="470916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Coger avalia</a:t>
            </a:r>
            <a:endParaRPr lang="en-US" sz="1100" dirty="0"/>
          </a:p>
        </p:txBody>
      </p:sp>
      <p:sp>
        <p:nvSpPr>
          <p:cNvPr id="25" name="Seta 3"/>
          <p:cNvSpPr/>
          <p:nvPr/>
        </p:nvSpPr>
        <p:spPr>
          <a:xfrm>
            <a:off x="6597396" y="4261104"/>
            <a:ext cx="201168" cy="210312"/>
          </a:xfrm>
          <a:prstGeom prst="rightArrow">
            <a:avLst/>
          </a:prstGeom>
          <a:solidFill>
            <a:schemeClr val="accent2"/>
          </a:solidFill>
          <a:ln w="12700">
            <a:solidFill>
              <a:schemeClr val="accent2"/>
            </a:solidFill>
            <a:prstDash val="solid"/>
          </a:ln>
        </p:spPr>
      </p:sp>
      <p:sp>
        <p:nvSpPr>
          <p:cNvPr id="26" name="Etapa 4"/>
          <p:cNvSpPr/>
          <p:nvPr/>
        </p:nvSpPr>
        <p:spPr>
          <a:xfrm>
            <a:off x="6835140" y="4114800"/>
            <a:ext cx="1851660" cy="502920"/>
          </a:xfrm>
          <a:prstGeom prst="roundRect">
            <a:avLst>
              <a:gd name="adj" fmla="val 14545"/>
            </a:avLst>
          </a:prstGeom>
          <a:solidFill>
            <a:schemeClr val="accent1"/>
          </a:solidFill>
          <a:ln w="12700">
            <a:solidFill>
              <a:schemeClr val="accent1"/>
            </a:solidFill>
            <a:prstDash val="solid"/>
          </a:ln>
        </p:spPr>
      </p:sp>
      <p:sp>
        <p:nvSpPr>
          <p:cNvPr id="27" name="Text 24"/>
          <p:cNvSpPr txBox="1"/>
          <p:nvPr/>
        </p:nvSpPr>
        <p:spPr>
          <a:xfrm>
            <a:off x="6835140" y="4114800"/>
            <a:ext cx="1851660" cy="502920"/>
          </a:xfrm>
          <a:prstGeom prst="rect">
            <a:avLst/>
          </a:prstGeom>
          <a:noFill/>
          <a:ln/>
        </p:spPr>
        <p:txBody>
          <a:bodyPr wrap="square" lIns="635" tIns="635" rIns="635" bIns="635" rtlCol="0" anchor="ctr"/>
          <a:lstStyle/>
          <a:p>
            <a:pPr algn="ctr" indent="0" marL="0">
              <a:buNone/>
            </a:pPr>
            <a:r>
              <a:rPr lang="en-US" sz="1100" b="1" dirty="0">
                <a:solidFill>
                  <a:schemeClr val="bg1"/>
                </a:solidFill>
              </a:rPr>
              <a:t>Investigação Preliminar (sigilosa)</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CAMINHOS DE COLABORAÇÃO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Como representar à Coger</a:t>
            </a:r>
            <a:endParaRPr lang="en-US" sz="2400" dirty="0"/>
          </a:p>
        </p:txBody>
      </p:sp>
      <p:sp>
        <p:nvSpPr>
          <p:cNvPr id="5" name="Card 1"/>
          <p:cNvSpPr/>
          <p:nvPr/>
        </p:nvSpPr>
        <p:spPr>
          <a:xfrm>
            <a:off x="457200" y="1463040"/>
            <a:ext cx="8229600" cy="833628"/>
          </a:xfrm>
          <a:prstGeom prst="roundRect">
            <a:avLst>
              <a:gd name="adj" fmla="val 8775"/>
            </a:avLst>
          </a:prstGeom>
          <a:solidFill>
            <a:schemeClr val="bg2"/>
          </a:solidFill>
          <a:ln w="12700">
            <a:solidFill>
              <a:schemeClr val="bg2"/>
            </a:solidFill>
            <a:prstDash val="solid"/>
          </a:ln>
        </p:spPr>
      </p:sp>
      <p:sp>
        <p:nvSpPr>
          <p:cNvPr id="6" name="Badge 1"/>
          <p:cNvSpPr/>
          <p:nvPr/>
        </p:nvSpPr>
        <p:spPr>
          <a:xfrm>
            <a:off x="585216" y="1724406"/>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72440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833628"/>
          </a:xfrm>
          <a:prstGeom prst="rect">
            <a:avLst/>
          </a:prstGeom>
          <a:noFill/>
          <a:ln/>
        </p:spPr>
        <p:txBody>
          <a:bodyPr wrap="square" lIns="0" tIns="0" rIns="0" bIns="0" rtlCol="0" anchor="ctr"/>
          <a:lstStyle/>
          <a:p>
            <a:pPr indent="0" marL="0">
              <a:buNone/>
            </a:pPr>
            <a:r>
              <a:rPr lang="en-US" sz="1400" b="1" dirty="0">
                <a:solidFill>
                  <a:schemeClr val="accent1"/>
                </a:solidFill>
              </a:rPr>
              <a:t>Elementos mínimos: </a:t>
            </a:r>
            <a:pPr indent="0" marL="0">
              <a:buNone/>
            </a:pPr>
            <a:r>
              <a:rPr lang="en-US" sz="1400" dirty="0">
                <a:solidFill>
                  <a:schemeClr val="tx1"/>
                </a:solidFill>
              </a:rPr>
              <a:t>fato descrito objetivamente; enquadramento aparente no art. 5º (qual inciso); documentos ou evidências já disponíveis; identificação da pessoa jurídica envolvida</a:t>
            </a:r>
            <a:endParaRPr lang="en-US" sz="1400" dirty="0"/>
          </a:p>
        </p:txBody>
      </p:sp>
      <p:sp>
        <p:nvSpPr>
          <p:cNvPr id="9" name="Card 2"/>
          <p:cNvSpPr/>
          <p:nvPr/>
        </p:nvSpPr>
        <p:spPr>
          <a:xfrm>
            <a:off x="457200" y="2468880"/>
            <a:ext cx="8229600" cy="616712"/>
          </a:xfrm>
          <a:prstGeom prst="roundRect">
            <a:avLst>
              <a:gd name="adj" fmla="val 11862"/>
            </a:avLst>
          </a:prstGeom>
          <a:solidFill>
            <a:schemeClr val="bg2"/>
          </a:solidFill>
          <a:ln w="12700">
            <a:solidFill>
              <a:schemeClr val="bg2"/>
            </a:solidFill>
            <a:prstDash val="solid"/>
          </a:ln>
        </p:spPr>
      </p:sp>
      <p:sp>
        <p:nvSpPr>
          <p:cNvPr id="10" name="Badge 2"/>
          <p:cNvSpPr/>
          <p:nvPr/>
        </p:nvSpPr>
        <p:spPr>
          <a:xfrm>
            <a:off x="585216" y="2621788"/>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6217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68880"/>
            <a:ext cx="7498080" cy="616712"/>
          </a:xfrm>
          <a:prstGeom prst="rect">
            <a:avLst/>
          </a:prstGeom>
          <a:noFill/>
          <a:ln/>
        </p:spPr>
        <p:txBody>
          <a:bodyPr wrap="square" lIns="0" tIns="0" rIns="0" bIns="0" rtlCol="0" anchor="ctr"/>
          <a:lstStyle/>
          <a:p>
            <a:pPr indent="0" marL="0">
              <a:buNone/>
            </a:pPr>
            <a:r>
              <a:rPr lang="en-US" sz="1400" b="1" dirty="0">
                <a:solidFill>
                  <a:schemeClr val="accent1"/>
                </a:solidFill>
              </a:rPr>
              <a:t>Não é necessário: </a:t>
            </a:r>
            <a:pPr indent="0" marL="0">
              <a:buNone/>
            </a:pPr>
            <a:r>
              <a:rPr lang="en-US" sz="1400" dirty="0">
                <a:solidFill>
                  <a:schemeClr val="tx1"/>
                </a:solidFill>
              </a:rPr>
              <a:t>prova plena, qualificação jurídica completa, ou certeza sobre o resultado final</a:t>
            </a:r>
            <a:endParaRPr lang="en-US" sz="1400" dirty="0"/>
          </a:p>
        </p:txBody>
      </p:sp>
      <p:sp>
        <p:nvSpPr>
          <p:cNvPr id="13" name="Card 3"/>
          <p:cNvSpPr/>
          <p:nvPr/>
        </p:nvSpPr>
        <p:spPr>
          <a:xfrm>
            <a:off x="457200" y="3257804"/>
            <a:ext cx="8229600" cy="616712"/>
          </a:xfrm>
          <a:prstGeom prst="roundRect">
            <a:avLst>
              <a:gd name="adj" fmla="val 11862"/>
            </a:avLst>
          </a:prstGeom>
          <a:solidFill>
            <a:schemeClr val="bg2"/>
          </a:solidFill>
          <a:ln w="12700">
            <a:solidFill>
              <a:schemeClr val="bg2"/>
            </a:solidFill>
            <a:prstDash val="solid"/>
          </a:ln>
        </p:spPr>
      </p:sp>
      <p:sp>
        <p:nvSpPr>
          <p:cNvPr id="14" name="Badge 3"/>
          <p:cNvSpPr/>
          <p:nvPr/>
        </p:nvSpPr>
        <p:spPr>
          <a:xfrm>
            <a:off x="585216" y="3410712"/>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41071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257804"/>
            <a:ext cx="7498080" cy="616712"/>
          </a:xfrm>
          <a:prstGeom prst="rect">
            <a:avLst/>
          </a:prstGeom>
          <a:noFill/>
          <a:ln/>
        </p:spPr>
        <p:txBody>
          <a:bodyPr wrap="square" lIns="0" tIns="0" rIns="0" bIns="0" rtlCol="0" anchor="ctr"/>
          <a:lstStyle/>
          <a:p>
            <a:pPr indent="0" marL="0">
              <a:buNone/>
            </a:pPr>
            <a:r>
              <a:rPr lang="en-US" sz="1400" b="1" dirty="0">
                <a:solidFill>
                  <a:schemeClr val="accent1"/>
                </a:solidFill>
              </a:rPr>
              <a:t>Canal: </a:t>
            </a:r>
            <a:pPr indent="0" marL="0">
              <a:buNone/>
            </a:pPr>
            <a:r>
              <a:rPr lang="en-US" sz="1400" dirty="0">
                <a:solidFill>
                  <a:schemeClr val="tx1"/>
                </a:solidFill>
              </a:rPr>
              <a:t>[Ponto de contato a definir nesta Região — ex.: ofício ao Subcorregedor responsável, ou ponto focal indicado no Slide 45]</a:t>
            </a:r>
            <a:endParaRPr lang="en-US" sz="1400" dirty="0"/>
          </a:p>
        </p:txBody>
      </p:sp>
      <p:sp>
        <p:nvSpPr>
          <p:cNvPr id="17" name="Card 4"/>
          <p:cNvSpPr/>
          <p:nvPr/>
        </p:nvSpPr>
        <p:spPr>
          <a:xfrm>
            <a:off x="457200" y="4046728"/>
            <a:ext cx="8229600" cy="616712"/>
          </a:xfrm>
          <a:prstGeom prst="roundRect">
            <a:avLst>
              <a:gd name="adj" fmla="val 11862"/>
            </a:avLst>
          </a:prstGeom>
          <a:solidFill>
            <a:schemeClr val="bg2"/>
          </a:solidFill>
          <a:ln w="12700">
            <a:solidFill>
              <a:schemeClr val="bg2"/>
            </a:solidFill>
            <a:prstDash val="solid"/>
          </a:ln>
        </p:spPr>
      </p:sp>
      <p:sp>
        <p:nvSpPr>
          <p:cNvPr id="18" name="Badge 4"/>
          <p:cNvSpPr/>
          <p:nvPr/>
        </p:nvSpPr>
        <p:spPr>
          <a:xfrm>
            <a:off x="585216" y="4199636"/>
            <a:ext cx="310896" cy="310896"/>
          </a:xfrm>
          <a:prstGeom prst="ellipse">
            <a:avLst/>
          </a:prstGeom>
          <a:solidFill>
            <a:schemeClr val="accent1"/>
          </a:solidFill>
          <a:ln w="12700">
            <a:solidFill>
              <a:schemeClr val="accent1"/>
            </a:solidFill>
            <a:prstDash val="solid"/>
          </a:ln>
        </p:spPr>
      </p:sp>
      <p:sp>
        <p:nvSpPr>
          <p:cNvPr id="19" name="Text 16"/>
          <p:cNvSpPr txBox="1"/>
          <p:nvPr/>
        </p:nvSpPr>
        <p:spPr>
          <a:xfrm>
            <a:off x="585216" y="419963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7"/>
          <p:cNvSpPr txBox="1"/>
          <p:nvPr/>
        </p:nvSpPr>
        <p:spPr>
          <a:xfrm>
            <a:off x="1024128" y="4046728"/>
            <a:ext cx="7498080" cy="616712"/>
          </a:xfrm>
          <a:prstGeom prst="rect">
            <a:avLst/>
          </a:prstGeom>
          <a:noFill/>
          <a:ln/>
        </p:spPr>
        <p:txBody>
          <a:bodyPr wrap="square" lIns="0" tIns="0" rIns="0" bIns="0" rtlCol="0" anchor="ctr"/>
          <a:lstStyle/>
          <a:p>
            <a:pPr indent="0" marL="0">
              <a:buNone/>
            </a:pPr>
            <a:r>
              <a:rPr lang="en-US" sz="1400" b="1" dirty="0">
                <a:solidFill>
                  <a:schemeClr val="accent1"/>
                </a:solidFill>
              </a:rPr>
              <a:t>O que acontece depois: </a:t>
            </a:r>
            <a:pPr indent="0" marL="0">
              <a:buNone/>
            </a:pPr>
            <a:r>
              <a:rPr lang="en-US" sz="1400" dirty="0">
                <a:solidFill>
                  <a:schemeClr val="tx1"/>
                </a:solidFill>
              </a:rPr>
              <a:t>o indício alimenta uma possível Investigação Preliminar, sigilosa — sem exposição imediata da divisão de origem nem da empresa (Slide 14)</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CAMINHOS DE COLABORAÇÃO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Um convite concreto para esta Região Fiscal</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PAR não é assunto exclusivo da Coger — é parte de um sistema que Difis, Dipol, Diana e Espei também operam na ponta</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b="1" dirty="0">
                <a:solidFill>
                  <a:schemeClr val="accent1"/>
                </a:solidFill>
              </a:rPr>
              <a:t>Proposta prática: </a:t>
            </a:r>
            <a:pPr indent="0" marL="0">
              <a:buNone/>
            </a:pPr>
            <a:r>
              <a:rPr lang="en-US" sz="1800" dirty="0">
                <a:solidFill>
                  <a:schemeClr val="tx1"/>
                </a:solidFill>
              </a:rPr>
              <a:t>um ponto focal de contato entre a Coger e cada uma dessas quatro divisões/escritórios desta RF</a:t>
            </a:r>
            <a:endParaRPr lang="en-US" sz="1800" dirty="0"/>
          </a:p>
        </p:txBody>
      </p:sp>
      <p:sp>
        <p:nvSpPr>
          <p:cNvPr id="13" name="Card 3"/>
          <p:cNvSpPr/>
          <p:nvPr/>
        </p:nvSpPr>
        <p:spPr>
          <a:xfrm>
            <a:off x="457200" y="3529584"/>
            <a:ext cx="8229600" cy="740664"/>
          </a:xfrm>
          <a:prstGeom prst="roundRect">
            <a:avLst>
              <a:gd name="adj" fmla="val 9877"/>
            </a:avLst>
          </a:prstGeom>
          <a:solidFill>
            <a:schemeClr val="bg2"/>
          </a:solidFill>
          <a:ln w="12700">
            <a:solidFill>
              <a:schemeClr val="bg2"/>
            </a:solidFill>
            <a:prstDash val="solid"/>
          </a:ln>
        </p:spPr>
      </p:sp>
      <p:sp>
        <p:nvSpPr>
          <p:cNvPr id="14" name="Badge 3"/>
          <p:cNvSpPr/>
          <p:nvPr/>
        </p:nvSpPr>
        <p:spPr>
          <a:xfrm>
            <a:off x="585216" y="3744468"/>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85216" y="37444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1024128" y="3529584"/>
            <a:ext cx="7498080" cy="740664"/>
          </a:xfrm>
          <a:prstGeom prst="rect">
            <a:avLst/>
          </a:prstGeom>
          <a:noFill/>
          <a:ln/>
        </p:spPr>
        <p:txBody>
          <a:bodyPr wrap="square" lIns="0" tIns="0" rIns="0" bIns="0" rtlCol="0" anchor="ctr"/>
          <a:lstStyle/>
          <a:p>
            <a:pPr indent="0" marL="0">
              <a:buNone/>
            </a:pPr>
            <a:r>
              <a:rPr lang="en-US" sz="1800" dirty="0">
                <a:solidFill>
                  <a:schemeClr val="tx1"/>
                </a:solidFill>
              </a:rPr>
              <a:t>Objetivo inicial modesto: canal simples e conhecido, não um novo processo burocrático</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CAMINHOS DE COLABORAÇÃO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Prevenção como eixo estratégico</a:t>
            </a:r>
            <a:endParaRPr lang="en-US" sz="2400" dirty="0"/>
          </a:p>
        </p:txBody>
      </p:sp>
      <p:sp>
        <p:nvSpPr>
          <p:cNvPr id="5" name="Card 1"/>
          <p:cNvSpPr/>
          <p:nvPr/>
        </p:nvSpPr>
        <p:spPr>
          <a:xfrm>
            <a:off x="457200" y="1463040"/>
            <a:ext cx="8229600" cy="740664"/>
          </a:xfrm>
          <a:prstGeom prst="roundRect">
            <a:avLst>
              <a:gd name="adj" fmla="val 9877"/>
            </a:avLst>
          </a:prstGeom>
          <a:solidFill>
            <a:schemeClr val="bg2"/>
          </a:solidFill>
          <a:ln w="12700">
            <a:solidFill>
              <a:schemeClr val="bg2"/>
            </a:solidFill>
            <a:prstDash val="solid"/>
          </a:ln>
        </p:spPr>
      </p:sp>
      <p:sp>
        <p:nvSpPr>
          <p:cNvPr id="6" name="Badge 1"/>
          <p:cNvSpPr/>
          <p:nvPr/>
        </p:nvSpPr>
        <p:spPr>
          <a:xfrm>
            <a:off x="585216" y="1677924"/>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67792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740664"/>
          </a:xfrm>
          <a:prstGeom prst="rect">
            <a:avLst/>
          </a:prstGeom>
          <a:noFill/>
          <a:ln/>
        </p:spPr>
        <p:txBody>
          <a:bodyPr wrap="square" lIns="0" tIns="0" rIns="0" bIns="0" rtlCol="0" anchor="ctr"/>
          <a:lstStyle/>
          <a:p>
            <a:pPr indent="0" marL="0">
              <a:buNone/>
            </a:pPr>
            <a:r>
              <a:rPr lang="en-US" sz="1800" dirty="0">
                <a:solidFill>
                  <a:schemeClr val="tx1"/>
                </a:solidFill>
              </a:rPr>
              <a:t>Quanto mais eficazes os programas de conformidade, menor a demanda futura por PARs</a:t>
            </a:r>
            <a:endParaRPr lang="en-US" sz="1800" dirty="0"/>
          </a:p>
        </p:txBody>
      </p:sp>
      <p:sp>
        <p:nvSpPr>
          <p:cNvPr id="9" name="Card 2"/>
          <p:cNvSpPr/>
          <p:nvPr/>
        </p:nvSpPr>
        <p:spPr>
          <a:xfrm>
            <a:off x="457200" y="2496312"/>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711196"/>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7111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496312"/>
            <a:ext cx="7498080" cy="740664"/>
          </a:xfrm>
          <a:prstGeom prst="rect">
            <a:avLst/>
          </a:prstGeom>
          <a:noFill/>
          <a:ln/>
        </p:spPr>
        <p:txBody>
          <a:bodyPr wrap="square" lIns="0" tIns="0" rIns="0" bIns="0" rtlCol="0" anchor="ctr"/>
          <a:lstStyle/>
          <a:p>
            <a:pPr indent="0" marL="0">
              <a:buNone/>
            </a:pPr>
            <a:r>
              <a:rPr lang="en-US" sz="1800" dirty="0">
                <a:solidFill>
                  <a:schemeClr val="tx1"/>
                </a:solidFill>
              </a:rPr>
              <a:t>A Coger não busca punir por punir — busca fortalecer a integridade do ambiente de negócios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Text 0"/>
          <p:cNvSpPr txBox="1"/>
          <p:nvPr/>
        </p:nvSpPr>
        <p:spPr>
          <a:xfrm>
            <a:off x="457200" y="274320"/>
            <a:ext cx="6400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CAMINHOS DE COLABORAÇÃO</a:t>
            </a:r>
            <a:endParaRPr lang="en-US" sz="1000" dirty="0"/>
          </a:p>
        </p:txBody>
      </p:sp>
      <p:sp>
        <p:nvSpPr>
          <p:cNvPr id="4" name="Text 0"/>
          <p:cNvSpPr/>
          <p:nvPr>
            <p:ph idx="100" type="title" hasCustomPrompt="1"/>
          </p:nvPr>
        </p:nvSpPr>
        <p:spPr>
          <a:xfrm>
            <a:off x="457200" y="566928"/>
            <a:ext cx="8229600" cy="731520"/>
          </a:xfrm>
          <a:prstGeom prst="rect">
            <a:avLst/>
          </a:prstGeom>
          <a:noFill/>
          <a:ln/>
        </p:spPr>
        <p:txBody>
          <a:bodyPr wrap="square" lIns="0" tIns="0" rIns="0" bIns="0" rtlCol="0" anchor="t"/>
          <a:lstStyle/>
          <a:p>
            <a:pPr indent="0" marL="0">
              <a:buNone/>
            </a:pPr>
            <a:r>
              <a:rPr lang="en-US" sz="2400" b="1" dirty="0">
                <a:solidFill>
                  <a:schemeClr val="tx2"/>
                </a:solidFill>
              </a:rPr>
              <a:t>Fechamento institucional</a:t>
            </a:r>
            <a:endParaRPr lang="en-US" sz="2400" dirty="0"/>
          </a:p>
        </p:txBody>
      </p:sp>
      <p:sp>
        <p:nvSpPr>
          <p:cNvPr id="5" name="Card 1"/>
          <p:cNvSpPr/>
          <p:nvPr/>
        </p:nvSpPr>
        <p:spPr>
          <a:xfrm>
            <a:off x="457200" y="1463040"/>
            <a:ext cx="8229600" cy="502920"/>
          </a:xfrm>
          <a:prstGeom prst="roundRect">
            <a:avLst>
              <a:gd name="adj" fmla="val 14545"/>
            </a:avLst>
          </a:prstGeom>
          <a:solidFill>
            <a:schemeClr val="bg2"/>
          </a:solidFill>
          <a:ln w="12700">
            <a:solidFill>
              <a:schemeClr val="bg2"/>
            </a:solidFill>
            <a:prstDash val="solid"/>
          </a:ln>
        </p:spPr>
      </p:sp>
      <p:sp>
        <p:nvSpPr>
          <p:cNvPr id="6" name="Badge 1"/>
          <p:cNvSpPr/>
          <p:nvPr/>
        </p:nvSpPr>
        <p:spPr>
          <a:xfrm>
            <a:off x="585216" y="1559052"/>
            <a:ext cx="310896" cy="310896"/>
          </a:xfrm>
          <a:prstGeom prst="ellipse">
            <a:avLst/>
          </a:prstGeom>
          <a:solidFill>
            <a:schemeClr val="accent1"/>
          </a:solidFill>
          <a:ln w="12700">
            <a:solidFill>
              <a:schemeClr val="accent1"/>
            </a:solidFill>
            <a:prstDash val="solid"/>
          </a:ln>
        </p:spPr>
      </p:sp>
      <p:sp>
        <p:nvSpPr>
          <p:cNvPr id="7" name="Text 4"/>
          <p:cNvSpPr txBox="1"/>
          <p:nvPr/>
        </p:nvSpPr>
        <p:spPr>
          <a:xfrm>
            <a:off x="585216" y="15590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1024128" y="1463040"/>
            <a:ext cx="7498080" cy="502920"/>
          </a:xfrm>
          <a:prstGeom prst="rect">
            <a:avLst/>
          </a:prstGeom>
          <a:noFill/>
          <a:ln/>
        </p:spPr>
        <p:txBody>
          <a:bodyPr wrap="square" lIns="0" tIns="0" rIns="0" bIns="0" rtlCol="0" anchor="ctr"/>
          <a:lstStyle/>
          <a:p>
            <a:pPr indent="0" marL="0">
              <a:buNone/>
            </a:pPr>
            <a:r>
              <a:rPr lang="en-US" sz="1800" dirty="0">
                <a:solidFill>
                  <a:schemeClr val="tx1"/>
                </a:solidFill>
              </a:rPr>
              <a:t>O PAR é parte de um ecossistema maior de integridade na RFB</a:t>
            </a:r>
            <a:endParaRPr lang="en-US" sz="1800" dirty="0"/>
          </a:p>
        </p:txBody>
      </p:sp>
      <p:sp>
        <p:nvSpPr>
          <p:cNvPr id="9" name="Card 2"/>
          <p:cNvSpPr/>
          <p:nvPr/>
        </p:nvSpPr>
        <p:spPr>
          <a:xfrm>
            <a:off x="457200" y="2258568"/>
            <a:ext cx="8229600" cy="740664"/>
          </a:xfrm>
          <a:prstGeom prst="roundRect">
            <a:avLst>
              <a:gd name="adj" fmla="val 9877"/>
            </a:avLst>
          </a:prstGeom>
          <a:solidFill>
            <a:schemeClr val="bg2"/>
          </a:solidFill>
          <a:ln w="12700">
            <a:solidFill>
              <a:schemeClr val="bg2"/>
            </a:solidFill>
            <a:prstDash val="solid"/>
          </a:ln>
        </p:spPr>
      </p:sp>
      <p:sp>
        <p:nvSpPr>
          <p:cNvPr id="10" name="Badge 2"/>
          <p:cNvSpPr/>
          <p:nvPr/>
        </p:nvSpPr>
        <p:spPr>
          <a:xfrm>
            <a:off x="585216" y="2473452"/>
            <a:ext cx="310896" cy="310896"/>
          </a:xfrm>
          <a:prstGeom prst="ellipse">
            <a:avLst/>
          </a:prstGeom>
          <a:solidFill>
            <a:schemeClr val="accent1"/>
          </a:solidFill>
          <a:ln w="12700">
            <a:solidFill>
              <a:schemeClr val="accent1"/>
            </a:solidFill>
            <a:prstDash val="solid"/>
          </a:ln>
        </p:spPr>
      </p:sp>
      <p:sp>
        <p:nvSpPr>
          <p:cNvPr id="11" name="Text 8"/>
          <p:cNvSpPr txBox="1"/>
          <p:nvPr/>
        </p:nvSpPr>
        <p:spPr>
          <a:xfrm>
            <a:off x="585216" y="24734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024128" y="2258568"/>
            <a:ext cx="7498080" cy="740664"/>
          </a:xfrm>
          <a:prstGeom prst="rect">
            <a:avLst/>
          </a:prstGeom>
          <a:noFill/>
          <a:ln/>
        </p:spPr>
        <p:txBody>
          <a:bodyPr wrap="square" lIns="0" tIns="0" rIns="0" bIns="0" rtlCol="0" anchor="ctr"/>
          <a:lstStyle/>
          <a:p>
            <a:pPr indent="0" marL="0">
              <a:buNone/>
            </a:pPr>
            <a:r>
              <a:rPr lang="en-US" sz="1800" dirty="0">
                <a:solidFill>
                  <a:schemeClr val="tx1"/>
                </a:solidFill>
              </a:rPr>
              <a:t>Coger, Confia, Sintonia, OEA, Receita de Consenso, Difis, Dipol, Diana, Espei: instrumentos e áreas complementares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Motivo"/>
          <p:cNvSpPr/>
          <p:nvPr/>
        </p:nvSpPr>
        <p:spPr>
          <a:xfrm>
            <a:off x="7406640" y="-822960"/>
            <a:ext cx="2926080" cy="2926080"/>
          </a:xfrm>
          <a:prstGeom prst="ellipse">
            <a:avLst/>
          </a:prstGeom>
          <a:solidFill>
            <a:schemeClr val="accent1">
              <a:alpha val="30000"/>
            </a:schemeClr>
          </a:solidFill>
          <a:ln w="12700">
            <a:solidFill>
              <a:schemeClr val="accent1">
                <a:alpha val="30000"/>
              </a:schemeClr>
            </a:solidFill>
            <a:prstDash val="solid"/>
          </a:ln>
        </p:spPr>
      </p:sp>
      <p:sp>
        <p:nvSpPr>
          <p:cNvPr id="4" name="Text 1"/>
          <p:cNvSpPr txBox="1"/>
          <p:nvPr/>
        </p:nvSpPr>
        <p:spPr>
          <a:xfrm>
            <a:off x="731520" y="640080"/>
            <a:ext cx="54864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PERGUNTAS E DEBATE</a:t>
            </a:r>
            <a:endParaRPr lang="en-US" sz="1200" dirty="0"/>
          </a:p>
        </p:txBody>
      </p:sp>
      <p:sp>
        <p:nvSpPr>
          <p:cNvPr id="5" name="Text 0"/>
          <p:cNvSpPr/>
          <p:nvPr>
            <p:ph idx="100" type="title" hasCustomPrompt="1"/>
          </p:nvPr>
        </p:nvSpPr>
        <p:spPr>
          <a:xfrm>
            <a:off x="731520" y="1188720"/>
            <a:ext cx="7680960" cy="1463040"/>
          </a:xfrm>
          <a:prstGeom prst="rect">
            <a:avLst/>
          </a:prstGeom>
          <a:noFill/>
          <a:ln/>
        </p:spPr>
        <p:txBody>
          <a:bodyPr wrap="square" lIns="0" tIns="0" rIns="0" bIns="0" rtlCol="0" anchor="b"/>
          <a:lstStyle/>
          <a:p>
            <a:pPr indent="0" marL="0">
              <a:buNone/>
            </a:pPr>
            <a:r>
              <a:rPr lang="en-US" sz="3400" b="1" dirty="0">
                <a:solidFill>
                  <a:schemeClr val="bg1"/>
                </a:solidFill>
              </a:rPr>
              <a:t>Perguntas e debate</a:t>
            </a:r>
            <a:endParaRPr lang="en-US" sz="3400" dirty="0"/>
          </a:p>
        </p:txBody>
      </p:sp>
      <p:sp>
        <p:nvSpPr>
          <p:cNvPr id="6" name="Text 0"/>
          <p:cNvSpPr/>
          <p:nvPr>
            <p:ph idx="101" type="body" hasCustomPrompt="1"/>
          </p:nvPr>
        </p:nvSpPr>
        <p:spPr>
          <a:xfrm>
            <a:off x="731520" y="2880360"/>
            <a:ext cx="7680960" cy="822960"/>
          </a:xfrm>
          <a:prstGeom prst="rect">
            <a:avLst/>
          </a:prstGeom>
          <a:noFill/>
          <a:ln/>
        </p:spPr>
        <p:txBody>
          <a:bodyPr wrap="square" lIns="0" tIns="0" rIns="0" bIns="0" rtlCol="0" anchor="t"/>
          <a:lstStyle/>
          <a:p>
            <a:pPr indent="0" marL="0">
              <a:buNone/>
            </a:pPr>
            <a:r>
              <a:rPr lang="en-US" sz="1800" dirty="0">
                <a:solidFill>
                  <a:schemeClr val="bg2"/>
                </a:solidFill>
              </a:rPr>
              <a:t>[Contato institucional para dúvidas posteriores]</a:t>
            </a:r>
            <a:endParaRPr lang="en-US" sz="18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chemeClr val="accent5"/>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3" name="Motivo"/>
          <p:cNvSpPr/>
          <p:nvPr/>
        </p:nvSpPr>
        <p:spPr>
          <a:xfrm>
            <a:off x="7406640" y="-822960"/>
            <a:ext cx="2926080" cy="2926080"/>
          </a:xfrm>
          <a:prstGeom prst="ellipse">
            <a:avLst/>
          </a:prstGeom>
          <a:solidFill>
            <a:schemeClr val="accent1">
              <a:alpha val="30000"/>
            </a:schemeClr>
          </a:solidFill>
          <a:ln w="12700">
            <a:solidFill>
              <a:schemeClr val="accent1">
                <a:alpha val="30000"/>
              </a:schemeClr>
            </a:solidFill>
            <a:prstDash val="solid"/>
          </a:ln>
        </p:spPr>
      </p:sp>
      <p:sp>
        <p:nvSpPr>
          <p:cNvPr id="4" name="Text 1"/>
          <p:cNvSpPr txBox="1"/>
          <p:nvPr/>
        </p:nvSpPr>
        <p:spPr>
          <a:xfrm>
            <a:off x="731520" y="640080"/>
            <a:ext cx="54864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PERGUNTAS E DEBATE</a:t>
            </a:r>
            <a:endParaRPr lang="en-US" sz="1200" dirty="0"/>
          </a:p>
        </p:txBody>
      </p:sp>
      <p:sp>
        <p:nvSpPr>
          <p:cNvPr id="5" name="Text 0"/>
          <p:cNvSpPr/>
          <p:nvPr>
            <p:ph idx="100" type="title" hasCustomPrompt="1"/>
          </p:nvPr>
        </p:nvSpPr>
        <p:spPr>
          <a:xfrm>
            <a:off x="731520" y="1188720"/>
            <a:ext cx="7680960" cy="1463040"/>
          </a:xfrm>
          <a:prstGeom prst="rect">
            <a:avLst/>
          </a:prstGeom>
          <a:noFill/>
          <a:ln/>
        </p:spPr>
        <p:txBody>
          <a:bodyPr wrap="square" lIns="0" tIns="0" rIns="0" bIns="0" rtlCol="0" anchor="b"/>
          <a:lstStyle/>
          <a:p>
            <a:pPr indent="0" marL="0">
              <a:buNone/>
            </a:pPr>
            <a:r>
              <a:rPr lang="en-US" sz="3400" b="1" dirty="0">
                <a:solidFill>
                  <a:schemeClr val="bg1"/>
                </a:solidFill>
              </a:rPr>
              <a:t>Obrigado(a)!</a:t>
            </a:r>
            <a:endParaRPr lang="en-US" sz="3400" dirty="0"/>
          </a:p>
        </p:txBody>
      </p:sp>
      <p:sp>
        <p:nvSpPr>
          <p:cNvPr id="6" name="Text 0"/>
          <p:cNvSpPr/>
          <p:nvPr>
            <p:ph idx="101" type="body" hasCustomPrompt="1"/>
          </p:nvPr>
        </p:nvSpPr>
        <p:spPr>
          <a:xfrm>
            <a:off x="731520" y="2880360"/>
            <a:ext cx="7680960" cy="822960"/>
          </a:xfrm>
          <a:prstGeom prst="rect">
            <a:avLst/>
          </a:prstGeom>
          <a:noFill/>
          <a:ln/>
        </p:spPr>
        <p:txBody>
          <a:bodyPr wrap="square" lIns="0" tIns="0" rIns="0" bIns="0" rtlCol="0" anchor="t"/>
          <a:lstStyle/>
          <a:p>
            <a:pPr indent="0" marL="0">
              <a:buNone/>
            </a:pPr>
            <a:r>
              <a:rPr lang="en-US" sz="1800" dirty="0">
                <a:solidFill>
                  <a:schemeClr val="bg2"/>
                </a:solidFill>
              </a:rPr>
              <a:t>[E-mail institucional / canal de contato da Coger]  ·  [Referência ao Manual Teórico-Prático da Calculadora de Sanções PAR, se aplicável divulgar]</a:t>
            </a:r>
            <a:endParaRPr lang="en-US" sz="18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chemeClr val="accent5"/>
                </a:solidFill>
              </a:rPr>
              <a:t>49</a:t>
            </a:r>
            <a:endParaRPr lang="en-US" sz="900" dirty="0"/>
          </a:p>
        </p:txBody>
      </p:sp>
    </p:spTree>
  </p:cSld>
  <p:clrMapOvr>
    <a:masterClrMapping/>
  </p:clrMapOvr>
</p:sld>
</file>

<file path=ppt/theme/theme1.xml><?xml version="1.0" encoding="utf-8"?>
<a:theme xmlns:a="http://schemas.openxmlformats.org/drawingml/2006/main" name="PAR Coger">
  <a:themeElements>
    <a:clrScheme name="PAR Coger">
      <a:dk1>
        <a:srgbClr val="14213D"/>
      </a:dk1>
      <a:lt1>
        <a:srgbClr val="FFFFFF"/>
      </a:lt1>
      <a:dk2>
        <a:srgbClr val="0B1F3A"/>
      </a:dk2>
      <a:lt2>
        <a:srgbClr val="EDF1F6"/>
      </a:lt2>
      <a:accent1>
        <a:srgbClr val="0F766E"/>
      </a:accent1>
      <a:accent2>
        <a:srgbClr val="C9A227"/>
      </a:accent2>
      <a:accent3>
        <a:srgbClr val="1D4E89"/>
      </a:accent3>
      <a:accent4>
        <a:srgbClr val="B4472F"/>
      </a:accent4>
      <a:accent5>
        <a:srgbClr val="6B7A90"/>
      </a:accent5>
      <a:accent6>
        <a:srgbClr val="2E7D5B"/>
      </a:accent6>
      <a:hlink>
        <a:srgbClr val="1D4E89"/>
      </a:hlink>
      <a:folHlink>
        <a:srgbClr val="6B7A90"/>
      </a:folHlink>
    </a:clrScheme>
    <a:fontScheme name="PAR Co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 Processo Administrativo de Responsabilização (PAR) na RFB — Atuação da Coger</dc:title>
  <dc:subject>PptxGenJS Presentation</dc:subject>
  <dc:creator>Coger/RFB</dc:creator>
  <cp:lastModifiedBy>Coger/RFB</cp:lastModifiedBy>
  <cp:revision>1</cp:revision>
  <dcterms:created xsi:type="dcterms:W3CDTF">2026-10-02T11:01:02Z</dcterms:created>
  <dcterms:modified xsi:type="dcterms:W3CDTF">2026-10-02T11:01:02Z</dcterms:modified>
</cp:coreProperties>
</file>