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 e contextualização" id="{da982cf6-0724-102d-1243-f5e96ceb33a2}">
          <p14:sldIdLst>
            <p14:sldId id="256"/>
            <p14:sldId id="257"/>
          </p14:sldIdLst>
        </p14:section>
        <p14:section name="Marco legal" id="{de5b7f0d-72bc-162c-af93-3d9525c39eb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O que é o PAR na prática" id="{5fd6761b-f1dd-67ca-67cc-bd3678724371}">
          <p14:sldIdLst>
            <p14:sldId id="268"/>
            <p14:sldId id="269"/>
            <p14:sldId id="270"/>
          </p14:sldIdLst>
        </p14:section>
        <p14:section name="Dosimetria da sanção" id="{c89df191-759d-5997-8563-664568de202c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sultados e atuação da Coger" id="{b8291b77-7b6d-54ff-31e1-2ad82c7c57f5}">
          <p14:sldIdLst>
            <p14:sldId id="280"/>
            <p14:sldId id="281"/>
            <p14:sldId id="282"/>
            <p14:sldId id="283"/>
            <p14:sldId id="284"/>
          </p14:sldIdLst>
        </p14:section>
        <p14:section name="Conformidade e sinergias" id="{41d296c3-c070-da28-ea68-f055e967776f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Caminhos de colaboração" id="{af8d9b0f-6466-7651-e147-2b97ca30b1ca}">
          <p14:sldIdLst>
            <p14:sldId id="297"/>
            <p14:sldId id="298"/>
            <p14:sldId id="299"/>
            <p14:sldId id="300"/>
            <p14:sldId id="301"/>
          </p14:sldIdLst>
        </p14:section>
        <p14:section name="Perguntas e debate" id="{15e62e92-d63d-5919-b223-e55660c3e515}">
          <p14:sldIdLst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dia/tarde a todos. Hoje vamos falar sobre um instrumento que, embora exista desde 2013, ainda é pouco conhecido fora do universo correcional: o PAR — o processo pelo qual a administração pública responsabiliza empresas por atos de corrupção contra ela praticados. A ideia é sair daqui com uma visão clara do que é, como funciona, de onde vem, e por que ele importa para a RFB como um todo — tanto para quem formula os programas de conformidade da Casa quanto para quem, no dia a dia da fiscalização, da aduana, da logística ou da inteligência, pode esbarrar em indícios relevantes para a Coger. Vou trazer duas camadas de reflexão: uma institucional, sobre como o PAR dialoga com os programas de conformidade da RFB, e outra bem prática, sobre como e quando representar à Coger.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se fala em Corregedoria, o primeiro pensamento costuma ser apuração de conduta de servidores. Mas a Coger também apura responsabilidade administrativa de empresas que praticam atos lesivos contra a administração pública. Essa atuação dialoga com toda a política de integridade da RFB — inclusive, como veremos, com os programas de conformidade e com o trabalho que várias áreas desta Casa já produzem no dia a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 nº 12.846, de 1º de agosto de 2013, a Lei Anticorrupção, nasceu em um momento histórico específico: forte cobrança social por transparência, em meio às manifestações de 2013. Até então, faltava um instrumento para responsabilizar diretamente a pessoa jurídica. [Ao mostrar a linha do tempo] Esses são os marcos normativos que vamos percorrer ao longo da apresentação — vale guardar essa sequência como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Brasil não inventou essa lógica isoladamente. Desde 1997, o país é signatário da Convenção Anticorrupção da OCDE, internalizada pelo Decreto nº 3.678, de 30 de novembro de 2000. Os Estados Unidos tinham, desde 1977, o FCPA, referência mundial. A Lei nº 12.846, de 2013, veio alinhar o Brasil a um movimento internacional que já vinha se consolidando havia décadas.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mais importante para entender o PAR é a responsabilização objetiva. Não é necessário provar dolo ou culpa da empresa — a responsabilidade decorre do próprio fato de o ato lesivo ter sido praticado em seu benefício, ainda que por terceiros. É uma inovação que gera debate doutrinário, como veremos adiante. Esse ponto também importa para quem for representar à Coger: não é preciso comprovar a intenção da empresa, apenas descrever o fato e o benefício que ele gerou.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quase dez anos, a lei foi regulamentada pelo Decreto nº 8.420, de 2015. Em 2022, foi substituído pelo Decreto nº 11.129, de 11 de julho de 2022, que trouxe mais objetividade à dosimetria da multa — essencial, inclusive, para o desenvolvimento da Calculadora de Sanções da Coger.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artigo 5º não é uma lista aleatória — reflete uma arquitetura pensada pelo legislador, agrupando condutas que tutelam bens jurídicos distintos: da moralidade da função pública, no inciso I, à isonomia licitatória, no inciso IV, passando pela transparência, nos incisos II e III, e pelo poder de polícia do Estado, no inciso V. A doutrina majoritária trata esse rol como taxativo — não cabe enquadrar por analogia uma conduta que não se enquadre literalmente em um desses incisos. Guardem essa estrutura em quatro grupos: ela é exatamente o que vai nos ajudar, mais à frente, a mapear qual área desta Casa tende a identificar cada tipo de indício no seu trabalho ordinário.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incisos II e III trazem a expressão "comprovadamente", que não aparece nos incisos I, IV e V. Para a CGU, é apenas exigência de prova do fato em si, sem alterar a natureza objetiva da responsabilidade. Já parte da doutrina argumenta que essa exigência aproxima esses incisos de um standard probatório mais rigoroso, quase subjetivo. É um debate técnico, mas relevante para quem atua na instrução do 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comum confundir o PAR com outros instrumentos. A Lei de Improbidade, Lei nº 8.429, de 1992, com as alterações da Lei nº 14.230, de 25 de outubro de 2021, atinge agentes públicos e terceiros, mas exige dolo. O TCU atua sobre dano ao erário. O processo penal recai, em regra, sobre pessoas físicas. O PAR é o único com responsabilização objetiva da pessoa jurídica.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uma mesma empresa responder simultaneamente pela Lei Anticorrupção e pela Lei de Improbidade? Durante anos, isso foi um debate aberto na doutrina e na jurisprudência.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debate foi, em grande medida, pacificado pela Lei nº 14.230, de 25 de outubro de 2021, que inseriu o parágrafo 2º ao artigo 3º da LIA, vedando expressamente a cumulação de sanções contra pessoa jurídica já sancionada com base na Lei nº 12.846, de 2013, pelo mesmo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precedentes valem destaque. No STJ, o Recurso Especial 1.803.585-RN reforça a independência entre as esferas administrativa e judicial. No TCU, o Acórdão 225/2015-Plenário trata da interface entre a apuração de dano ao erário pela Corte de Contas e os acordos de leniência da Lei Anticorrupção — mostrando que a interlocução entre órgãos de controle já é uma realidade consolidada nesse ecossistema.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 segue um fluxo bem definido, com prazo legal de referência de 180 dias. Não vou me deter no detalhe de cada etapa interna — a condução do processo, da instauração ao julgamento, é atribuição própria da Coger. O que importa para vocês, e para onde vou direcionar o restante deste bloco, é o que acontece logo na entrada do processo: a Investigação Preliminar, e o que está em jogo ao final dele, com a inscrição em CEIS e CNEP.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instaurar o processo, a administração pode realizar investigação preliminar sigilosa, para não expor a empresa a um processo público sem indícios mínimos consistentes. Esse ponto é importante para quem for representar à Coger: o sigilo dessa fase significa que um indício encaminhado, mesmo que ao final não se confirme, não expõe publicamente nem a empresa, nem a área que o identificou. Vou retomar esse ponto com mais detalhe no Bloco 7, quando falarmos sobre como representar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comum dizer que a lei "criou" o CEIS — não é exatamente isso. O CEIS já existia, criado administrativamente pela CGU em 2008. A lei tornou obrigatório o registro no artigo 23. Já o CNEP foi efetivamente instituído pela própria lei. Vale terem em mente esse efeito final: é isso que está em jogo quando um indício identificado por vocês chega até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multa tem como base o faturamento bruto no último exercício anterior à instauração, entre 0,1% e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bloco de não incidência evita que uma mesma circunstância seja contabilizada duas vezes, distorcendo o resultado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 os agravantes: reincidência, interrupção de serviço público essencial em razão do ato, tolerância ou participação da alta administração.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Comunicação espontânea antes da instauração, colaboração efetiva, cessação da prática ilícita — fatores que conectam diretamente com a lógica de conformidade que veremos no bloco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[Inserir 1-2 casos ilustrativos, sem identificar a empresa.]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art. 23, V, do Decreto nº 11.129, de 2022, prevê redução de até 5% da multa por Programa de Integridade eficaz, avaliado em três eixos: comprometimento da organização, mecanismos e procedimentos, e atuação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Portaria Conjunta CGU/STPC nº 6, de 9 de setembro de 2022, estabeleceu que, quando o resultado da planilha atinge 1% ou mais, esse percentual deve ser multiplicado por 1,25 — ajuste ao novo teto de 5%. Esse detalhe é frequentemente esquecido, e é por isso que a Calculadora de Sanções aplica esse fator automaticamente. [FRASE-SEMENTE — dizer com ênfase e pausa]: "Vale registrar algo para guardarmos: esse fluxo de informação anda hoje em uma única via — é a governança da empresa, apurada dentro do PAR, que reduz a sanção. Mais à frente, quando falarmos dos programas de conformidade da RFB, vou voltar a essa observação, porque ela levanta uma pergunta que ainda não tem resposta pronta."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Diante dessa complexidade, a Coger desenvolveu a Calculadora de Sanções, com 14 passos sequenciais. Não faremos demonstração ao vivo, mas quero que entendam 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lógica segue a estrutura da norma: define-se a base, aplicam-se individualmente os fatores de ajuste, e por fim os limites até o valor final consolidado.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[Linha do tempo com dados reais da evolução institucional.]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[Apresentar 3-4 indicadores-chave.]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[1-2 casos concretos para humanizar os números.]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reconhecer os desafios: complexidade probatória em grupos econômicos multinacionais, capacitação continuada, e a importância de seguir padronizando metodologia.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trabalho foi submetido ao Concurso de Boas Práticas Correcionais da CGU/CRG — reconhecimento do esforço de qualificação técnica da Coger.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 não é um instrumento isolado da Coger — integra uma política mais ampla da RFB. De um lado, a atuação repressiva e corretiva; de outro, uma série de programas que atuam preventivamente. Essa lógica acaba de ganhar um novo e importante marco 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2026, Confia, Sintonia e OEA existiam basicamente por portaria e instrução normativa. Isso mudou com a Lei Complementar nº 225, de 8 de janeiro de 2026, que deu a esses programas base em lei complementar — mesma hierarquia normativa do Código Tributário Nacional. E, de forma simétrica, essa mesma lei também positivou o Devedor Contumaz, o polo repressivo dessa política, que veremos ainda neste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Confia eleva a relação entre fisco e contribuinte a um patamar de diálogo direto. A empresa é incentivada a revelar espontaneamente operações sobre as quais tem dúvida quanto ao efeito tributário — e, se a Receita discordar, não há multa de ofício, apenas o lançamento do tributo.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Confia é voluntário e restrito a grandes contribuintes, o Sintonia nasce para alcançar todos os contribuintes, com uma classificação construída a partir de indicadores objetivos de comportamento fiscal — e com total transparência sobre os critérios que a formaram.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OEA é o programa de conformidade mais consolidado da RFB. Com a LC nº 225, de 2026, passa a integrar formalmente a política de conformidade em sentido amplo, com reformulação em curso para níveis diferenciados de conformidade.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Receita de Consenso é um benefício de acesso reservado às empresas mais bem classificadas: em vez de a divergência seguir para uma disputa formal, a posição institucional da Receita é construída de forma consensual.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[RESGATE DA SEMENTE — retomar o tom da frase-semente do slide 22]: "Lembram que, lá na dosimetria, eu disse que esse fluxo de informação era de mão única? Chegou a hora de olhar para isso de novo. Assim como o Programa de Integridade reduz a multa no PAR, o histórico de boa conduta e governança abre as portas dos programas de conformidade. É a mesma lógica institucional, aplicada em dois momentos distintos: antes e depois de um eventual problema. Mas note: em ambos os casos, a via ainda corre no mesmo sentido — da governança para o benefício. Ainda não vimos o caminho inverso."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generalizar a reflexão, vale mostrar como ela se aplicaria, concretamente, a cada programa. No Confia, um PAR concluído por fraude com repercussão tributária atinge diretamente o pré-requisito de "sistema de gestão de conformidade em vigor". No OEA, a correlação é ainda mais direta quando o PAR envolve atos ligados ao comércio exterior. Já no Sintonia, é onde a lacuna aparece com mais clareza: o rating de hoje é construído por quatro pilares estritamente fiscais, e nenhum deles capturaria, por exemplo, uma sanção por corrupção de agente público em outra esfera. E o Receita de Consenso, por depender da classificação nos demais, herdaria automaticamente qualquer mudança que fizéssemos nos dois primeiros.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a simetria: assim como o PAR é o polo repressivo que convive com os programas preventivos de conformidade, a própria LC nº 225, de 2026, trouxe seu contraponto repressivo específico — o Devedor Contumaz. É um mecanismo repressivo próprio, pensado especificamente para dialogar com essa política de conformidade. E isso me leva à reflexão com a qual quero fechar a parte institucional deste bloco — antes de descermos ao nível mais prático, de como algumas áreas desta Casa já produzem, no seu trabalho diário, exatamente o tipo de informação de que a Coger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Devedor Contumaz já mostra que a RFB tem um critério repressivo próprio dentro da própria política de conformidade, cabe a pergunta: por que o resultado do PAR — outro instrumento repressivo, e um dos mais completos do ponto de vista de apuração de controles internos — ainda não dialoga formalmente com Confia, Sintonia e OEA? Uma sanção definitiva no PAR, após esgotado o contraditório e a ampla defesa, é prova objetiva de que os controles internos da empresa falharam em impedir um ato lesivo contra a administração pública. Isso é exatamente o tipo de informação que esses programas avaliam como pré-requisito. Quero deixar claro: não estou aqui propondo um critério normativo fechado — isso exigiria todo o processo legislativo e normativo próprio, e envolve decisões de política pública que não cabem à Corregedoria decidir sozinha. O que trago é uma reflexão institucional, um convite ao debate: será que faz sentido diferenciar o peso de uma sanção obtida em processo integralmente litigioso do peso de um acordo de leniência, em que a empresa colaborou ativamente? E será que essa lacuna — hoje real, segundo as normas vigentes — não deveria ser preenchida, para que o próprio sistema de conformidade da RFB não fique cego a uma informação que ele mesmo, através da Coger, já produz? Com isso fecho a reflexão institucional. Quero agora descer para um terreno bem mais concreto: duas frentes operacionais onde a sinergia com a Coger já poderia começar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Quero trazer essa reflexão para o terreno mais concreto possível, começando pela Fiscalização e pela Aduana. No dia a dia da ação fiscal, vocês frequentemente esbarram em situações que vão além do objeto estrito da autuação — uma estrutura societária artificial para esconder o real responsável, uma resistência sistemática à ação fiscal, um indício de vantagem indevida embutido numa operação. Na Aduana, o caso mais relevante é o da interposição fraudulenta: hoje ela já gera perdimento da mercadoria, mas quando está associada a uma vantagem indevida para viabilizar o desembaraço, configura também ato lesivo autônomo — e essa segunda camada, hoje, raramente chega até a Coger. Não estou pedindo que a Fiscalização ou a Aduana mudem seu foco — só que, quando esse tipo de indício aparecer, exista um caminho simples e conhecido para que a Coger possa avaliar se há elementos para uma Investigação Preliminar.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últimas sinergias que quero trazer são, de certa forma, as mais naturais de todas. A Copol já lida, no cotidiano, com licitações e contratos de âmbito nacional — exatamente o terreno do inciso IV do art. 5º, o mais detalhado da lei. Propostas com redação muito parecida, um edital com especificação que parece desenhada para uma única empresa, um aditivo contratual fora do razoável: são sinais que a Copol já está em posição de perceber. Já a Copei tem uma proximidade ainda mais direta com o nosso trabalho: um relatório de inteligência e investigação, por definição, já reúne elementos de autoria e materialidade — muitas vezes é praticamente o insumo que a Coger precisaria para avaliar a abertura de uma Investigação Preliminar. Nos dois casos, o que falta não é capacidade técnica de identificar o indício — é um canal formal e conhecido de encaminhamento até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mais prático de toda a apresentação, e para onde converge tudo o que vimos até aqui. Uma representação não precisa ser um trabalho de investigação pronto — precisa apenas descrever o fato com objetividade, indicar que inciso do art. 5º parece se aplicar, anexar o que já estiver disponível, e identificar a empresa. A qualificação jurídica completa e a produção de prova são, a partir daí, trabalho da Coger. E, como vimos no Bloco 3, o sigilo da Investigação Preliminar protege tanto a área que representou quanto a empresa envolvida, caso o indício não se confirme.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está aqui representando Confia, Sintonia, OEA ou Receita de Consenso: a reflexão que trouxe no Bloco 6 não é uma tarefa que a Corregedoria possa resolver sozinha. Deixo um convite concreto: formar, a partir de hoje, um espaço de trabalho conjunto entre a Coger e essas áreas, para estudar, com calma e rigor técnico, se e como essa integração poderia ser desenhada.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representa a Fiscalização, a Aduana, a Logística ou a Inteligência: o convite aqui é mais simples e mais direto — que cada área indique um ponto focal de contato com a Coger, para que, quando um indício do tipo que vimos nos Slides 40 e 41 aparecer, exista alguém para quem encaminhar. Não é um novo processo formal — é abrir e manter viva essa 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da Coger, ao atuar no PAR, não é punir por punir — é fortalecer a integridade do ambiente de negócios. Quanto mais eficazes os programas preventivos, e quanto mais afiados os canais de identificação de indícios nas áreas operacionais, menor tende a ser, no futuro, a necessidade de atuação repressiva.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Encerro com uma mensagem simples: o PAR não deve ser visto como instrumento isolado da Coger, mas como parte de um ecossistema maior de integridade que a RFB vem construindo — do qual todos vocês também fazem parte, e cujo próximo capítulo pode ser escrito em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Abro agora para perguntas e comentários — inclusive sobre o grupo de trabalho e o canal de representação que acabei de propor. Fiquem à vontade.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Muito obrigado(a) pela atenção de todos. Para quem quiser se aprofundar, estamos à disposição pelos canais institucionais da Coger.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o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 · COGER/RFB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Processo Administrativo de Responsabilização (PAR) na RFB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Atuação da Corregedoria (Coger) na apuração de responsabilidade de pessoas jurídicas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[Nome do palestrante] | Coger/RFB | [Data]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ABERTURA E CONTEXTUALIZAÇÃO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Por que a Coger fala sobre isso?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Corregedoria: também responsável por apurar responsabilidade de pessoas jurídicas, não só de servidores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111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11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integra o sistema nacional de combate à corrupção e de integridade pública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52958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444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44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52958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Conexão direta com a missão da RFB: relação íntegra entre fisco e contribuintes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Lei Anticorrupção: contexto de criação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3931920" cy="647700"/>
          </a:xfrm>
          <a:prstGeom prst="roundRect">
            <a:avLst>
              <a:gd name="adj" fmla="val 112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3144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314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32004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Lei nº 12.846, de 1º de agosto de 2013</a:t>
            </a:r>
            <a:endParaRPr lang="en-US" sz="1500" dirty="0"/>
          </a:p>
        </p:txBody>
      </p:sp>
      <p:sp>
        <p:nvSpPr>
          <p:cNvPr id="9" name="Card 2"/>
          <p:cNvSpPr/>
          <p:nvPr/>
        </p:nvSpPr>
        <p:spPr>
          <a:xfrm>
            <a:off x="457200" y="2274570"/>
            <a:ext cx="3931920" cy="111252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67538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6753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74570"/>
            <a:ext cx="320040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Editada no contexto pós-Jornadas de Junho de 2013, sob forte pressão social por combate à corrupção corporativa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457200" y="3550920"/>
            <a:ext cx="3931920" cy="1112520"/>
          </a:xfrm>
          <a:prstGeom prst="roundRect">
            <a:avLst>
              <a:gd name="adj" fmla="val 65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95173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9517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550920"/>
            <a:ext cx="3200400" cy="111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Primeira norma brasileira a responsabilizar objetivamente pessoas jurídicas por atos de corrupção</a:t>
            </a:r>
            <a:endParaRPr lang="en-US" sz="1500" dirty="0"/>
          </a:p>
        </p:txBody>
      </p:sp>
      <p:sp>
        <p:nvSpPr>
          <p:cNvPr id="17" name="Linha do tempo"/>
          <p:cNvSpPr/>
          <p:nvPr/>
        </p:nvSpPr>
        <p:spPr>
          <a:xfrm>
            <a:off x="4828032" y="1691640"/>
            <a:ext cx="0" cy="25603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8" name="Marco 1"/>
          <p:cNvSpPr/>
          <p:nvPr/>
        </p:nvSpPr>
        <p:spPr>
          <a:xfrm>
            <a:off x="4709160" y="1572768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74920" y="1463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2013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Lei nº 12.846, de 1º de agosto de 2013 — marco fundador</a:t>
            </a:r>
            <a:endParaRPr lang="en-US" sz="1050" dirty="0"/>
          </a:p>
        </p:txBody>
      </p:sp>
      <p:sp>
        <p:nvSpPr>
          <p:cNvPr id="20" name="Marco 2"/>
          <p:cNvSpPr/>
          <p:nvPr/>
        </p:nvSpPr>
        <p:spPr>
          <a:xfrm>
            <a:off x="4709160" y="2084832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74920" y="19751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2015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Decreto nº 8.420, de 18 de março de 2015 — primeira regulamentação</a:t>
            </a:r>
            <a:endParaRPr lang="en-US" sz="1050" dirty="0"/>
          </a:p>
        </p:txBody>
      </p:sp>
      <p:sp>
        <p:nvSpPr>
          <p:cNvPr id="22" name="Marco 3"/>
          <p:cNvSpPr/>
          <p:nvPr/>
        </p:nvSpPr>
        <p:spPr>
          <a:xfrm>
            <a:off x="4709160" y="2596896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74920" y="24871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2021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Lei nº 14.230, de 25 de outubro de 2021 — veda cumulação de sanções LAC/LIA</a:t>
            </a:r>
            <a:endParaRPr lang="en-US" sz="1050" dirty="0"/>
          </a:p>
        </p:txBody>
      </p:sp>
      <p:sp>
        <p:nvSpPr>
          <p:cNvPr id="24" name="Marco 4"/>
          <p:cNvSpPr/>
          <p:nvPr/>
        </p:nvSpPr>
        <p:spPr>
          <a:xfrm>
            <a:off x="4709160" y="3108960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74920" y="2999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2022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Decreto nº 11.129, de 11 de julho de 2022 — nova regulamentação</a:t>
            </a:r>
            <a:endParaRPr lang="en-US" sz="1050" dirty="0"/>
          </a:p>
        </p:txBody>
      </p:sp>
      <p:sp>
        <p:nvSpPr>
          <p:cNvPr id="26" name="Marco 5"/>
          <p:cNvSpPr/>
          <p:nvPr/>
        </p:nvSpPr>
        <p:spPr>
          <a:xfrm>
            <a:off x="4709160" y="3621024"/>
            <a:ext cx="237744" cy="237744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74920" y="35112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2022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Portaria Conjunta CGU/STPC nº 6, de 9 de setembro de 2022 — multiplicador de integridade</a:t>
            </a:r>
            <a:endParaRPr lang="en-US" sz="1050" dirty="0"/>
          </a:p>
        </p:txBody>
      </p:sp>
      <p:sp>
        <p:nvSpPr>
          <p:cNvPr id="28" name="Marco 6"/>
          <p:cNvSpPr/>
          <p:nvPr/>
        </p:nvSpPr>
        <p:spPr>
          <a:xfrm>
            <a:off x="4709160" y="4133088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749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Hoje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Atuação consolidada da Coger/RFB, com metodologia própria de dosimetria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Pressão internacional e evolução do combate à corrupção corporativa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9568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Convenção da OCDE sobre o Combate da Corrupção de Funcionários Públicos Estrangeiros em Transações Comerciais Internacionais (1997) — ratificada pelo Brasil pelo Decreto nº 3.678, de 30 de novembro de 2000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97180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31866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31866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97180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Referência global: Foreign Corrupt Practices Act (FCPA), EUA, 1977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922776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413766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41376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922776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Onda internacional de leis de responsabilização objetiva de pessoas jurídicas (décadas de 2000-2010)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Responsabilização objetiva: o conceito-chave</a:t>
            </a:r>
            <a:endParaRPr lang="en-US" sz="2400" dirty="0"/>
          </a:p>
        </p:txBody>
      </p:sp>
      <p:sp>
        <p:nvSpPr>
          <p:cNvPr id="5" name="Ideia 1"/>
          <p:cNvSpPr/>
          <p:nvPr/>
        </p:nvSpPr>
        <p:spPr>
          <a:xfrm>
            <a:off x="457200" y="1417320"/>
            <a:ext cx="26212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243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Não depende de comprovação de dolo ou culpa da pessoa jurídica</a:t>
            </a:r>
            <a:endParaRPr lang="en-US" sz="1150" dirty="0"/>
          </a:p>
        </p:txBody>
      </p:sp>
      <p:sp>
        <p:nvSpPr>
          <p:cNvPr id="7" name="Ideia 2"/>
          <p:cNvSpPr/>
          <p:nvPr/>
        </p:nvSpPr>
        <p:spPr>
          <a:xfrm>
            <a:off x="3261360" y="1417320"/>
            <a:ext cx="26212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52800" y="1417320"/>
            <a:ext cx="243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Basta o nexo entre o ato lesivo e o benefício (direto ou indireto) à empresa</a:t>
            </a:r>
            <a:endParaRPr lang="en-US" sz="1150" dirty="0"/>
          </a:p>
        </p:txBody>
      </p:sp>
      <p:sp>
        <p:nvSpPr>
          <p:cNvPr id="9" name="Ideia 3"/>
          <p:cNvSpPr/>
          <p:nvPr/>
        </p:nvSpPr>
        <p:spPr>
          <a:xfrm>
            <a:off x="6065520" y="1417320"/>
            <a:ext cx="26212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56960" y="1417320"/>
            <a:ext cx="243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Rompe com a lógica tradicional de responsabilização subjetiva do direito administrativo sancionador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Responsabilização subjetiva (regra geral)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Responsabilização objetiva (Lei nº 12.846, de 2013)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Elemento exigido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Dolo ou culpa do agente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Nexo entre o ato lesivo e o benefício à pessoa jurídica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Ônus da prova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Comprovar a intenção ou negligência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Comprovar apenas o fato e o benefício, direto ou indireto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Fundamento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Regra geral do direito administrativo sancionador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Exceção expressa, prevista em lei específica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Exemplo de aplicação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Processo disciplinar de servidor (Lei nº 8.112, de 11 de dezembro de 1990)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PAR — apuração de pessoa jurídica por ato lesivo</a:t>
                      </a:r>
                      <a:endParaRPr lang="en-US" sz="10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Decreto nº 11.129, de 2022: a regulamentação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Decreto nº 11.129, de 11 de julho de 2022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3545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354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Revogou o Decreto nº 8.420, de 2015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054096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40842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4084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054096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Trouxe parâmetros objetivos de dosimetria, novo regramento da Investigação Preliminar e do PAR, e critérios de avaliação de Programas de Integridade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Análise dogmática: os atos lesivos do art. 5º, incisos I a V</a:t>
            </a:r>
            <a:endParaRPr lang="en-US" sz="2400" dirty="0"/>
          </a:p>
        </p:txBody>
      </p:sp>
      <p:sp>
        <p:nvSpPr>
          <p:cNvPr id="5" name="Natureza do rol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417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Natureza do rol: a doutrina majoritária entende o art. 5º como taxativo (numerus clausus) — sem cláusula aberta que permita enquadramento por analogia</a:t>
            </a:r>
            <a:endParaRPr lang="en-US" sz="1200" dirty="0"/>
          </a:p>
        </p:txBody>
      </p:sp>
      <p:sp>
        <p:nvSpPr>
          <p:cNvPr id="7" name="Grupo 1 cartão"/>
          <p:cNvSpPr/>
          <p:nvPr/>
        </p:nvSpPr>
        <p:spPr>
          <a:xfrm>
            <a:off x="457200" y="219456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Grupo 1 cabeçalho"/>
          <p:cNvSpPr/>
          <p:nvPr/>
        </p:nvSpPr>
        <p:spPr>
          <a:xfrm>
            <a:off x="45720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Grupo 1 · Inciso I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Núcleo corruptivo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92608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Suborno clássico. Tutela a moralidade e a probidade da função pública.</a:t>
            </a:r>
            <a:endParaRPr lang="en-US" sz="1100" dirty="0"/>
          </a:p>
        </p:txBody>
      </p:sp>
      <p:sp>
        <p:nvSpPr>
          <p:cNvPr id="11" name="Grupo 2 cartão"/>
          <p:cNvSpPr/>
          <p:nvPr/>
        </p:nvSpPr>
        <p:spPr>
          <a:xfrm>
            <a:off x="2560320" y="219456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Grupo 2 cabeçalho"/>
          <p:cNvSpPr/>
          <p:nvPr/>
        </p:nvSpPr>
        <p:spPr>
          <a:xfrm>
            <a:off x="256032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Grupo 2 · Incisos II e III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Favorecimento e ocultação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670048" y="292608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Financiamento de atos ilícitos e uso de interpostas pessoas. Tutela a transparência e a rastreabilidade dos responsáveis.</a:t>
            </a:r>
            <a:endParaRPr lang="en-US" sz="1100" dirty="0"/>
          </a:p>
        </p:txBody>
      </p:sp>
      <p:sp>
        <p:nvSpPr>
          <p:cNvPr id="15" name="Grupo 3 cartão"/>
          <p:cNvSpPr/>
          <p:nvPr/>
        </p:nvSpPr>
        <p:spPr>
          <a:xfrm>
            <a:off x="4663440" y="219456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Grupo 3 cabeçalho"/>
          <p:cNvSpPr/>
          <p:nvPr/>
        </p:nvSpPr>
        <p:spPr>
          <a:xfrm>
            <a:off x="466344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Grupo 3 · Inciso IV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Fraude a licitações e contratos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292608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 mais extenso, com sete alíneas. Tutela a isonomia e a competitividade do certame. Possível concurso aparente com a Lei nº 14.133, de 1º de abril de 2021.</a:t>
            </a:r>
            <a:endParaRPr lang="en-US" sz="1100" dirty="0"/>
          </a:p>
        </p:txBody>
      </p:sp>
      <p:sp>
        <p:nvSpPr>
          <p:cNvPr id="19" name="Grupo 4 cartão"/>
          <p:cNvSpPr/>
          <p:nvPr/>
        </p:nvSpPr>
        <p:spPr>
          <a:xfrm>
            <a:off x="6766560" y="2194560"/>
            <a:ext cx="1920240" cy="24688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Grupo 4 cabeçalho"/>
          <p:cNvSpPr/>
          <p:nvPr/>
        </p:nvSpPr>
        <p:spPr>
          <a:xfrm>
            <a:off x="6766560" y="2194560"/>
            <a:ext cx="192024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0" y="2194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Grupo 4 · Inciso V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Obstrução à fiscalização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876288" y="2926080"/>
            <a:ext cx="17007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Tutela o poder de polícia do Estado. Alcança inclusive agências reguladoras e órgãos do sistema financeiro nacional.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Controvérsia doutrinária: a expressão “comprovadamente” nos incisos II e III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CGU: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expressão não altera a natureza objetiva da responsabilização — é apenas exigência de prova do fato, não de dolo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85064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8506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Doutrina divergente: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exigência de comprovação específica nesses incisos introduziria, na prática, um standard probatório mais próximo da responsabilização subjetiva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80847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9044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80847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Sem precedente vinculante que resolva definitivamente a questão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PAR x outros instrumentos de responsabilização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 (Lei nº 12.846, de 2013):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pessoa jurídica, dolo/culpa irrelevante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4246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4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Improbidade Administrativa (Lei nº 8.429, de 2 de junho de 1992):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pessoa física e jurídica, exige dolo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457200" y="3229864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41376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413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229864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TCU: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responsabilização por dano ao erário, foco em gestores públicos e, subsidiariamente, terceiros</a:t>
            </a:r>
            <a:endParaRPr lang="en-US" sz="1600" dirty="0"/>
          </a:p>
        </p:txBody>
      </p:sp>
      <p:sp>
        <p:nvSpPr>
          <p:cNvPr id="17" name="Card 4"/>
          <p:cNvSpPr/>
          <p:nvPr/>
        </p:nvSpPr>
        <p:spPr>
          <a:xfrm>
            <a:off x="457200" y="42011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2971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2971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4201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Processo Penal: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responsabilidade subjetiva, pessoa física (em regra)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Controvérsia doutrinária: o bis in idem entre LAC e LIA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Debate histórico: pode a mesma empresa ser sancionada tanto pela Lei nº 12.846, de 2013, quanto pela Lei nº 8.429, de 1992?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111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11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Posição da CGU: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sanções possuem naturezas e finalidades distintas — cumulação seria possível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52958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444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44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52958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Posição divergente na doutrina: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risco de dupla punição pelo mesmo fato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virada normativa: art. 3º, §2º da LIA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Lei nº 14.230, de 25 de outubro de 2021, alterou a Lei nº 8.429, de 1992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85064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8506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Novo art. 3º, 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2º: veda a aplicação de sanções da LIA contra pessoa jurídica já sancionada pela Lei nº 12.846, de 2013, pelo mesmo fato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808476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402336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808476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debate deixa de ser doutrinário e passa a ser regra legal expressa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MARCO LEGAL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Panorama jurisprudencial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1189990"/>
          </a:xfrm>
          <a:prstGeom prst="roundRect">
            <a:avLst>
              <a:gd name="adj" fmla="val 61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902587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90258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1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STJ — REsp nº 1.803.585-RN (2ª Turma):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Lei nº 12.846, de 2013, não condiciona a apuração judicial das infrações à prévia instauração de PAR; reitera o princípio da independência das instâncias (art. 18 da lei). No mesmo julgamento: constituição de “empresa de fachada” para dificultar fiscalização já configura ato lesivo (art. 5º, III e V), permitindo dissolução compulsória sem PAR prévio</a:t>
            </a:r>
            <a:endParaRPr lang="en-US" sz="1300" dirty="0"/>
          </a:p>
        </p:txBody>
      </p:sp>
      <p:sp>
        <p:nvSpPr>
          <p:cNvPr id="9" name="Card 2"/>
          <p:cNvSpPr/>
          <p:nvPr/>
        </p:nvSpPr>
        <p:spPr>
          <a:xfrm>
            <a:off x="457200" y="2770378"/>
            <a:ext cx="8229600" cy="1189990"/>
          </a:xfrm>
          <a:prstGeom prst="roundRect">
            <a:avLst>
              <a:gd name="adj" fmla="val 61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3209925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320992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770378"/>
            <a:ext cx="7498080" cy="1189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TCU — Acórdão nº 225/2015-Plenário (Rel. Min. José Múcio Monteiro, j. 11 de fevereiro de 2015):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origem do entendimento sobre a competência do TCU para fiscalizar acordos de leniência da Lei nº 12.846, de 2013, base da IN TCU nº 74, de 2015; lógica hoje refletida no art. 16, </a:t>
            </a:r>
            <a:endParaRPr lang="en-US" sz="1300" dirty="0"/>
          </a:p>
        </p:txBody>
      </p:sp>
      <p:sp>
        <p:nvSpPr>
          <p:cNvPr id="13" name="Card 3"/>
          <p:cNvSpPr/>
          <p:nvPr/>
        </p:nvSpPr>
        <p:spPr>
          <a:xfrm>
            <a:off x="457200" y="4077716"/>
            <a:ext cx="8229600" cy="585724"/>
          </a:xfrm>
          <a:prstGeom prst="roundRect">
            <a:avLst>
              <a:gd name="adj" fmla="val 12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421513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42151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4077716"/>
            <a:ext cx="7498080" cy="58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[DADO A CONFIRMAR: verificar diretamente no portal de jurisprudência do STJ e do TCU o número exato e a ementa completa dos precedentes citados]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 QUE É O PAR NA PRÁTICA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Visão geral do fluxo processual</a:t>
            </a:r>
            <a:endParaRPr lang="en-US" sz="2400" dirty="0"/>
          </a:p>
        </p:txBody>
      </p:sp>
      <p:sp>
        <p:nvSpPr>
          <p:cNvPr id="5" name="Etapa 1"/>
          <p:cNvSpPr/>
          <p:nvPr/>
        </p:nvSpPr>
        <p:spPr>
          <a:xfrm>
            <a:off x="457200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Investigação Preliminar (facultativa)</a:t>
            </a:r>
            <a:endParaRPr lang="en-US" sz="1200" dirty="0"/>
          </a:p>
        </p:txBody>
      </p:sp>
      <p:sp>
        <p:nvSpPr>
          <p:cNvPr id="7" name="Seta 1"/>
          <p:cNvSpPr/>
          <p:nvPr/>
        </p:nvSpPr>
        <p:spPr>
          <a:xfrm>
            <a:off x="1920240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Etapa 2"/>
          <p:cNvSpPr/>
          <p:nvPr/>
        </p:nvSpPr>
        <p:spPr>
          <a:xfrm>
            <a:off x="2157984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57984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Instauração</a:t>
            </a:r>
            <a:endParaRPr lang="en-US" sz="1200" dirty="0"/>
          </a:p>
        </p:txBody>
      </p:sp>
      <p:sp>
        <p:nvSpPr>
          <p:cNvPr id="10" name="Seta 2"/>
          <p:cNvSpPr/>
          <p:nvPr/>
        </p:nvSpPr>
        <p:spPr>
          <a:xfrm>
            <a:off x="3621024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Etapa 3"/>
          <p:cNvSpPr/>
          <p:nvPr/>
        </p:nvSpPr>
        <p:spPr>
          <a:xfrm>
            <a:off x="3858768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58768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Instrução</a:t>
            </a:r>
            <a:endParaRPr lang="en-US" sz="1200" dirty="0"/>
          </a:p>
        </p:txBody>
      </p:sp>
      <p:sp>
        <p:nvSpPr>
          <p:cNvPr id="13" name="Seta 3"/>
          <p:cNvSpPr/>
          <p:nvPr/>
        </p:nvSpPr>
        <p:spPr>
          <a:xfrm>
            <a:off x="5321808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Etapa 4"/>
          <p:cNvSpPr/>
          <p:nvPr/>
        </p:nvSpPr>
        <p:spPr>
          <a:xfrm>
            <a:off x="5559552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9552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Relatório Final</a:t>
            </a:r>
            <a:endParaRPr lang="en-US" sz="1200" dirty="0"/>
          </a:p>
        </p:txBody>
      </p:sp>
      <p:sp>
        <p:nvSpPr>
          <p:cNvPr id="16" name="Seta 4"/>
          <p:cNvSpPr/>
          <p:nvPr/>
        </p:nvSpPr>
        <p:spPr>
          <a:xfrm>
            <a:off x="7022592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Etapa 5"/>
          <p:cNvSpPr/>
          <p:nvPr/>
        </p:nvSpPr>
        <p:spPr>
          <a:xfrm>
            <a:off x="7260336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0336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Julgamento</a:t>
            </a:r>
            <a:endParaRPr lang="en-US" sz="1200" dirty="0"/>
          </a:p>
        </p:txBody>
      </p:sp>
      <p:sp>
        <p:nvSpPr>
          <p:cNvPr id="19" name="Card 1"/>
          <p:cNvSpPr/>
          <p:nvPr/>
        </p:nvSpPr>
        <p:spPr>
          <a:xfrm>
            <a:off x="457200" y="265176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1"/>
          <p:cNvSpPr/>
          <p:nvPr/>
        </p:nvSpPr>
        <p:spPr>
          <a:xfrm>
            <a:off x="585216" y="286664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" y="28666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" y="265176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Prazo de referência: 180 dias, prorrogável (art. 13, Decreto nº 11.129, de 2022)</a:t>
            </a:r>
            <a:endParaRPr lang="en-US" sz="1800" dirty="0"/>
          </a:p>
        </p:txBody>
      </p:sp>
      <p:sp>
        <p:nvSpPr>
          <p:cNvPr id="23" name="Card 2"/>
          <p:cNvSpPr/>
          <p:nvPr/>
        </p:nvSpPr>
        <p:spPr>
          <a:xfrm>
            <a:off x="457200" y="368503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 2"/>
          <p:cNvSpPr/>
          <p:nvPr/>
        </p:nvSpPr>
        <p:spPr>
          <a:xfrm>
            <a:off x="585216" y="389991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5216" y="3899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368503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partir do encaminhamento de uma representação, a condução de todas essas etapas é atribuição da Coger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 QUE É O PAR NA PRÁTICA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Investigação Preliminar: o sigilo que protege quem representa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Natureza sigilosa e facultativa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734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73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Objetivo: reunir elementos mínimos de autoria e materialidade antes de instaurar o PAR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2918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5067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5067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2918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sigilo protege tanto a empresa quanto a área que representou, evitando exposição prematura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O QUE É O PAR NA PRÁTICA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CEIS e CNEP: a consequência do PAR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CEIS e CNEP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734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734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Criado administrativamente pela CGU em 2008; a Lei nº 12.846, de 2013, tornou o registro obrigatório (art. 23)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2918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5067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5067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2918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Efeito: publicidade da sanção e restrição de contratar com a administração pública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lógica geral da multa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Base: faturamento bruto do último exercício anterior à instauração do PAR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5923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592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Percentual entre 0,1% e 20% (art. 6º, I, Lei nº 12.846, de 2013)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2918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3878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3878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Piso e teto: art. 25, Decreto nº 11.129, de 2022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Bloco de não incidência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Situações em que certos fatores não se aplicam ao cálculo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3545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354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Objetivo: evitar dupla contagem de circunstâncias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Agravantes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Reincidência, interrupção de serviço público essencial, tolerância da alta administração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5923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592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Percentuais específicos no Decreto nº 11.129, de 2022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Atenuantes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Comunicação espontânea, colaboração efetiva, cessação da conduta ilícita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5923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592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Reduzem o percentual final da multa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Casuística: exemplos aplicados</a:t>
            </a:r>
            <a:endParaRPr lang="en-US" sz="2400" dirty="0"/>
          </a:p>
        </p:txBody>
      </p:sp>
      <p:sp>
        <p:nvSpPr>
          <p:cNvPr id="5" name="Espaço de dado 1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DADO A PREENCHER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1-2 exemplos anonimizados de aplicação de agravantes/atenuantes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Programa de Integridade como atenuante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Art. 23, V, Decreto nº 11.129, de 2022: redução de até 5%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3545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354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Avaliação em três eixos: COI, MPI, APJ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multiplicador de integridade de 1,25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Portaria Conjunta CGU/STPC nº 6, de 9 de setembro de 2022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3545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354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Resultado ≥ 1% → multiplicador de 1,25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05409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1501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1501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0540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Reflete o novo teto de 5% (antes 4%)</a:t>
            </a:r>
            <a:endParaRPr lang="en-US" sz="1800" dirty="0"/>
          </a:p>
        </p:txBody>
      </p:sp>
      <p:sp>
        <p:nvSpPr>
          <p:cNvPr id="17" name="Card 4"/>
          <p:cNvSpPr/>
          <p:nvPr/>
        </p:nvSpPr>
        <p:spPr>
          <a:xfrm>
            <a:off x="457200" y="384962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0645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064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84962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Fluxo de informação: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 governança da empresa → para a sanção do PAR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Metodologia da Calculadora de Sanções: visão geral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Ferramenta da Coger/RFB para padronizar e dar transparência à dosimetria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5923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5923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Estrutura em 14 passos sequenciais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DOSIMETRIA DA SANÇÃO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Os 14 passos: lógica de construção</a:t>
            </a:r>
            <a:endParaRPr lang="en-US" sz="2400" dirty="0"/>
          </a:p>
        </p:txBody>
      </p:sp>
      <p:sp>
        <p:nvSpPr>
          <p:cNvPr id="5" name="Etapa 1"/>
          <p:cNvSpPr/>
          <p:nvPr/>
        </p:nvSpPr>
        <p:spPr>
          <a:xfrm>
            <a:off x="457200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Base de cálculo</a:t>
            </a:r>
            <a:endParaRPr lang="en-US" sz="1200" dirty="0"/>
          </a:p>
        </p:txBody>
      </p:sp>
      <p:sp>
        <p:nvSpPr>
          <p:cNvPr id="7" name="Seta 1"/>
          <p:cNvSpPr/>
          <p:nvPr/>
        </p:nvSpPr>
        <p:spPr>
          <a:xfrm>
            <a:off x="1920240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Etapa 2"/>
          <p:cNvSpPr/>
          <p:nvPr/>
        </p:nvSpPr>
        <p:spPr>
          <a:xfrm>
            <a:off x="2157984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57984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Agravantes</a:t>
            </a:r>
            <a:endParaRPr lang="en-US" sz="1200" dirty="0"/>
          </a:p>
        </p:txBody>
      </p:sp>
      <p:sp>
        <p:nvSpPr>
          <p:cNvPr id="10" name="Seta 2"/>
          <p:cNvSpPr/>
          <p:nvPr/>
        </p:nvSpPr>
        <p:spPr>
          <a:xfrm>
            <a:off x="3621024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Etapa 3"/>
          <p:cNvSpPr/>
          <p:nvPr/>
        </p:nvSpPr>
        <p:spPr>
          <a:xfrm>
            <a:off x="3858768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58768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Atenuantes</a:t>
            </a:r>
            <a:endParaRPr lang="en-US" sz="1200" dirty="0"/>
          </a:p>
        </p:txBody>
      </p:sp>
      <p:sp>
        <p:nvSpPr>
          <p:cNvPr id="13" name="Seta 3"/>
          <p:cNvSpPr/>
          <p:nvPr/>
        </p:nvSpPr>
        <p:spPr>
          <a:xfrm>
            <a:off x="5321808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Etapa 4"/>
          <p:cNvSpPr/>
          <p:nvPr/>
        </p:nvSpPr>
        <p:spPr>
          <a:xfrm>
            <a:off x="5559552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59552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Não incidência</a:t>
            </a:r>
            <a:endParaRPr lang="en-US" sz="1200" dirty="0"/>
          </a:p>
        </p:txBody>
      </p:sp>
      <p:sp>
        <p:nvSpPr>
          <p:cNvPr id="16" name="Seta 4"/>
          <p:cNvSpPr/>
          <p:nvPr/>
        </p:nvSpPr>
        <p:spPr>
          <a:xfrm>
            <a:off x="7022592" y="1801368"/>
            <a:ext cx="201168" cy="23774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Etapa 5"/>
          <p:cNvSpPr/>
          <p:nvPr/>
        </p:nvSpPr>
        <p:spPr>
          <a:xfrm>
            <a:off x="7260336" y="1463040"/>
            <a:ext cx="1426464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0336" y="1463040"/>
            <a:ext cx="1426464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Consolidação final (piso/teto)</a:t>
            </a:r>
            <a:endParaRPr lang="en-US" sz="1200" dirty="0"/>
          </a:p>
        </p:txBody>
      </p:sp>
      <p:sp>
        <p:nvSpPr>
          <p:cNvPr id="19" name="Card 1"/>
          <p:cNvSpPr/>
          <p:nvPr/>
        </p:nvSpPr>
        <p:spPr>
          <a:xfrm>
            <a:off x="457200" y="3012948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 1"/>
          <p:cNvSpPr/>
          <p:nvPr/>
        </p:nvSpPr>
        <p:spPr>
          <a:xfrm>
            <a:off x="585216" y="322783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" y="3227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" y="3012948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Base de cálculo → fatores de ajuste (agravantes, atenuantes, não incidência) → consolidação final (piso/teto)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RESULTADOS E ATUAÇÃO DA COGER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Evolução histórica da atuação da Coger no PAR</a:t>
            </a:r>
            <a:endParaRPr lang="en-US" sz="2400" dirty="0"/>
          </a:p>
        </p:txBody>
      </p:sp>
      <p:sp>
        <p:nvSpPr>
          <p:cNvPr id="5" name="Espaço de dado 1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DADO A PREENCHER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ano de início da atuação sistemática, evolução anual do nº de processos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RESULTADOS E ATUAÇÃO DA COGER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Panorama quantitativo atual</a:t>
            </a:r>
            <a:endParaRPr lang="en-US" sz="2400" dirty="0"/>
          </a:p>
        </p:txBody>
      </p:sp>
      <p:sp>
        <p:nvSpPr>
          <p:cNvPr id="5" name="Espaço de dado 1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DADO A PREENCHER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total de PARs em andamento/concluídos, valor total de multas, nº de empresas no CEIS/CNEP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RESULTADOS E ATUAÇÃO DA COGER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Casos emblemáticos (anonimizados)</a:t>
            </a:r>
            <a:endParaRPr lang="en-US" sz="2400" dirty="0"/>
          </a:p>
        </p:txBody>
      </p:sp>
      <p:sp>
        <p:nvSpPr>
          <p:cNvPr id="5" name="Espaço de dado 1"/>
          <p:cNvSpPr/>
          <p:nvPr/>
        </p:nvSpPr>
        <p:spPr>
          <a:xfrm>
            <a:off x="457200" y="1463040"/>
            <a:ext cx="822960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7680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DADO A PREENCHER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1-2 casos ilustrativos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RESULTADOS E ATUAÇÃO DA COGER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Desafios atuais da atuação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Complexidade probatória em estruturas multinacionais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3545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354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Capacitação continuada das comissões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05409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1501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1501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05409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Padronização metodológica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RESULTADOS E ATUAÇÃO DA COGER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Reconhecimento institucional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73736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95224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9522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73736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Calculadora de Sanções PAR submetida ao Concurso de Boas Práticas Correcionais (CGU/CRG), Categoria II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Duas faces da mesma política</a:t>
            </a:r>
            <a:endParaRPr lang="en-US" sz="2400" dirty="0"/>
          </a:p>
        </p:txBody>
      </p:sp>
      <p:sp>
        <p:nvSpPr>
          <p:cNvPr id="5" name="Coluna 1"/>
          <p:cNvSpPr/>
          <p:nvPr/>
        </p:nvSpPr>
        <p:spPr>
          <a:xfrm>
            <a:off x="457200" y="141732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beçalho 1"/>
          <p:cNvSpPr/>
          <p:nvPr/>
        </p:nvSpPr>
        <p:spPr>
          <a:xfrm>
            <a:off x="457200" y="14173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Repressivo — PAR (Coger)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Dimensão repressiva/corretiva: responde a atos lesivos já praticados</a:t>
            </a:r>
            <a:endParaRPr lang="en-US" sz="1500" dirty="0"/>
          </a:p>
        </p:txBody>
      </p:sp>
      <p:sp>
        <p:nvSpPr>
          <p:cNvPr id="9" name="Coluna 2"/>
          <p:cNvSpPr/>
          <p:nvPr/>
        </p:nvSpPr>
        <p:spPr>
          <a:xfrm>
            <a:off x="4663440" y="141732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beçalho 2"/>
          <p:cNvSpPr/>
          <p:nvPr/>
        </p:nvSpPr>
        <p:spPr>
          <a:xfrm>
            <a:off x="4663440" y="14173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Preventivo — Programas de conformidade (RFB)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Dimensão preventiva/cooperativa: evita que a infração ou o litígio se instalem</a:t>
            </a:r>
            <a:endParaRPr lang="en-US" sz="1500" dirty="0"/>
          </a:p>
        </p:txBody>
      </p:sp>
      <p:sp>
        <p:nvSpPr>
          <p:cNvPr id="13" name="Síntese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Ambos partem da mesma premissa: quanto mais robusta a integridade da empresa, menor o risco — e maior o benefício no relacionamento com a administração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novo marco legal: Lei Complementar nº 225, de 2026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Lei Complementar nº 225, de 8 de janeiro de 2026 — institui o Código de Defesa do Contribuinte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37591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719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71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3759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Origem no Projeto de Lei Complementar nº 125, de 2022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051048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26593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265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051048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Unifica, em nível de lei complementar, os Programas Confia, Sintonia e OEA</a:t>
            </a:r>
            <a:endParaRPr lang="en-US" sz="1800" dirty="0"/>
          </a:p>
        </p:txBody>
      </p:sp>
      <p:sp>
        <p:nvSpPr>
          <p:cNvPr id="17" name="Card 4"/>
          <p:cNvSpPr/>
          <p:nvPr/>
        </p:nvSpPr>
        <p:spPr>
          <a:xfrm>
            <a:off x="457200" y="396392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1788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178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96392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Também positiva a figura do Devedor Contumaz — contraponto repressivo dessa mesma lei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Confia: Programa de Conformidade Cooperativa Fiscal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469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4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Voltado a grandes contribuintes com bom histórico de conformidade, governança tributária estruturada e complexidade de estrutura/transações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57200" y="2434336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61823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618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34336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Baseado em transparência, segurança jurídica e cooperação — modelo recomendado pela OCDE desde 2013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457200" y="3405632"/>
            <a:ext cx="8229600" cy="926592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134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1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405632"/>
            <a:ext cx="749808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Principais benefícios: autorregularização em 120 dias sem multa de mora; ausência de multa de ofício em caso de divergência revelada espontaneamente; dedução da CSLL; prioridade em análises e licitações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Sintonia: Programa de Estímulo à Conformidade Tributária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469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46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Abrangência ampla: todos os contribuintes (Lucro Real, Presumido, Simples Nacional)</a:t>
            </a:r>
            <a:endParaRPr lang="en-US" sz="1600" dirty="0"/>
          </a:p>
        </p:txBody>
      </p:sp>
      <p:sp>
        <p:nvSpPr>
          <p:cNvPr id="9" name="Card 2"/>
          <p:cNvSpPr/>
          <p:nvPr/>
        </p:nvSpPr>
        <p:spPr>
          <a:xfrm>
            <a:off x="457200" y="2303611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87507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875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303611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Classificação (rating) de A+ a D, por 4 pilares: cadastro, pagamento, declarações/escriturações e consistência das informações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457200" y="3144181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328077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3280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144181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Classificação comunicada apenas ao contribuinte, com transparência sobre os critérios</a:t>
            </a:r>
            <a:endParaRPr lang="en-US" sz="1600" dirty="0"/>
          </a:p>
        </p:txBody>
      </p:sp>
      <p:sp>
        <p:nvSpPr>
          <p:cNvPr id="17" name="Card 4"/>
          <p:cNvSpPr/>
          <p:nvPr/>
        </p:nvSpPr>
        <p:spPr>
          <a:xfrm>
            <a:off x="457200" y="3984752"/>
            <a:ext cx="8229600" cy="678688"/>
          </a:xfrm>
          <a:prstGeom prst="roundRect">
            <a:avLst>
              <a:gd name="adj" fmla="val 10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16864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16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3984752"/>
            <a:ext cx="7498080" cy="67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Selo Sintonia (nível mais alto): desconto progressivo na CSLL e liberação rápida de restituições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OEA: Programa Brasileiro de Operador Econômico Autorizado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Certificação de operadores de comércio exterior com controles aduaneiros confiáveis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111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11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Alinhado à Estrutura Normativa SAFE da Organização Mundial de Aduanas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52958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444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44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52958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Facilitação escalonada: diferimento de tributos na importação e canal verde prioritário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Receita de Consenso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Procedimento de mediação e solução consensual de divergências fiscais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111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11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Acessível a contribuintes vinculados ao Confia ou com alta classificação no Sintonia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529584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4446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44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529584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Evita a judicialização de conflitos antes que se tornem litígio formal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paralelo com o multiplicador de integridade</a:t>
            </a:r>
            <a:endParaRPr lang="en-US" sz="2400" dirty="0"/>
          </a:p>
        </p:txBody>
      </p:sp>
      <p:sp>
        <p:nvSpPr>
          <p:cNvPr id="5" name="Coluna 1"/>
          <p:cNvSpPr/>
          <p:nvPr/>
        </p:nvSpPr>
        <p:spPr>
          <a:xfrm>
            <a:off x="457200" y="141732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beçalho 1"/>
          <p:cNvSpPr/>
          <p:nvPr/>
        </p:nvSpPr>
        <p:spPr>
          <a:xfrm>
            <a:off x="457200" y="14173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 PAR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Programa de Integridade eficaz → redução de até 5% da multa, com multiplicador de 1,25</a:t>
            </a:r>
            <a:endParaRPr lang="en-US" sz="1500" dirty="0"/>
          </a:p>
        </p:txBody>
      </p:sp>
      <p:sp>
        <p:nvSpPr>
          <p:cNvPr id="9" name="Coluna 2"/>
          <p:cNvSpPr/>
          <p:nvPr/>
        </p:nvSpPr>
        <p:spPr>
          <a:xfrm>
            <a:off x="4663440" y="1417320"/>
            <a:ext cx="402336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beçalho 2"/>
          <p:cNvSpPr/>
          <p:nvPr/>
        </p:nvSpPr>
        <p:spPr>
          <a:xfrm>
            <a:off x="4663440" y="1417320"/>
            <a:ext cx="40233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417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Nos programas de conformidade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05740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Histórico de boa governança → acesso a Confia, Sintonia, OEA e Receita de Consenso</a:t>
            </a:r>
            <a:endParaRPr lang="en-US" sz="1500" dirty="0"/>
          </a:p>
        </p:txBody>
      </p:sp>
      <p:sp>
        <p:nvSpPr>
          <p:cNvPr id="13" name="Síntese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Mensagem-síntese: em toda a RFB, conformidade é reconhecida e recompensada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correlação, programa a programa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22860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Programa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 que o PAR poderia informar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Tipo de PAR com maior correlação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Situação normativa atual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Confia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Falha no sistema de gestão de conformidade tributária — pré-requisito de ingresso e manutenção no programa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PARs envolvendo agentes da própria RFB ou fraude com repercussão tributária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Sem previsão expressa de impacto do PAR na elegibilidade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Sintonia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Hoje o rating é estritamente fiscal (cadastro, pagamento, declarações, consistência) — correlação não é automática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Qualquer PAR concluído, se o rating passasse a considerar histórico de integridade geral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Maior lacuna do grupo — nenhum dos 4 pilares atuais contempla resultado de PAR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OEA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Falha em controles aduaneiros — objeto central da certificação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PARs por atos lesivos ligados a comércio exterior (art. 5º, IV, LAC)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Sem previsão expressa; correlação conceitual mais direta dos quatro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Receita de Consenso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Efeito indireto — herdaria qualquer impacto do PAR sobre Confia/Sintonia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Não aplicável diretamente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13D"/>
                          </a:solidFill>
                        </a:rPr>
                        <a:t>Acesso já condicionado à classificação nos outros dois programas</a:t>
                      </a:r>
                      <a:endParaRPr lang="en-US" sz="10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O contraponto: Devedor Contumaz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Também positivado pela LC nº 225, de 8 de janeiro de 2026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138172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49250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4925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138172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Critérios objetivos: inadimplência substancial (débito acima de R$ 15 milhões e superior a 100% do patrimônio conhecido), reiterada e injustificada</a:t>
            </a:r>
            <a:endParaRPr lang="en-US" sz="1800" dirty="0"/>
          </a:p>
        </p:txBody>
      </p:sp>
      <p:sp>
        <p:nvSpPr>
          <p:cNvPr id="13" name="Card 3"/>
          <p:cNvSpPr/>
          <p:nvPr/>
        </p:nvSpPr>
        <p:spPr>
          <a:xfrm>
            <a:off x="457200" y="33299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4259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425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3299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Devido processo legal: notificação prévia, prazo de 30 dias</a:t>
            </a:r>
            <a:endParaRPr lang="en-US" sz="1800" dirty="0"/>
          </a:p>
        </p:txBody>
      </p:sp>
      <p:sp>
        <p:nvSpPr>
          <p:cNvPr id="17" name="Card 4"/>
          <p:cNvSpPr/>
          <p:nvPr/>
        </p:nvSpPr>
        <p:spPr>
          <a:xfrm>
            <a:off x="457200" y="400507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21995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2199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400507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Consequências: impedimento de benefícios fiscais, de licitar e de contratar; possível CNPJ inapto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 mão dupla: PAR e Programas de Conformidade</a:t>
            </a:r>
            <a:endParaRPr lang="en-US" sz="2400" dirty="0"/>
          </a:p>
        </p:txBody>
      </p:sp>
      <p:sp>
        <p:nvSpPr>
          <p:cNvPr id="5" name="Programa de Integridade"/>
          <p:cNvSpPr/>
          <p:nvPr/>
        </p:nvSpPr>
        <p:spPr>
          <a:xfrm>
            <a:off x="457200" y="1371600"/>
            <a:ext cx="246888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Programa de Integridade da empresa</a:t>
            </a:r>
            <a:endParaRPr lang="en-US" sz="1200" dirty="0"/>
          </a:p>
        </p:txBody>
      </p:sp>
      <p:sp>
        <p:nvSpPr>
          <p:cNvPr id="7" name="PAR"/>
          <p:cNvSpPr/>
          <p:nvPr/>
        </p:nvSpPr>
        <p:spPr>
          <a:xfrm>
            <a:off x="6217920" y="1371600"/>
            <a:ext cx="2468880" cy="868680"/>
          </a:xfrm>
          <a:prstGeom prst="roundRect">
            <a:avLst>
              <a:gd name="adj" fmla="val 1052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1371600"/>
            <a:ext cx="246888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PAR (Coger): sanção definitiva</a:t>
            </a:r>
            <a:endParaRPr lang="en-US" sz="1200" dirty="0"/>
          </a:p>
        </p:txBody>
      </p:sp>
      <p:sp>
        <p:nvSpPr>
          <p:cNvPr id="9" name="Seta existente"/>
          <p:cNvSpPr/>
          <p:nvPr/>
        </p:nvSpPr>
        <p:spPr>
          <a:xfrm>
            <a:off x="3017520" y="1645920"/>
            <a:ext cx="31089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017520" y="13898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existe hoje: reduz a sanção</a:t>
            </a:r>
            <a:endParaRPr lang="en-US" sz="1000" dirty="0"/>
          </a:p>
        </p:txBody>
      </p:sp>
      <p:sp>
        <p:nvSpPr>
          <p:cNvPr id="11" name="Seta lacuna"/>
          <p:cNvSpPr/>
          <p:nvPr/>
        </p:nvSpPr>
        <p:spPr>
          <a:xfrm flipH="1">
            <a:off x="3017520" y="2011680"/>
            <a:ext cx="310896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3017520" y="20299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lacuna: impacto nos programas</a:t>
            </a:r>
            <a:endParaRPr lang="en-US" sz="1000" dirty="0"/>
          </a:p>
        </p:txBody>
      </p:sp>
      <p:sp>
        <p:nvSpPr>
          <p:cNvPr id="13" name="Card 1"/>
          <p:cNvSpPr/>
          <p:nvPr/>
        </p:nvSpPr>
        <p:spPr>
          <a:xfrm>
            <a:off x="457200" y="230428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1"/>
          <p:cNvSpPr/>
          <p:nvPr/>
        </p:nvSpPr>
        <p:spPr>
          <a:xfrm>
            <a:off x="585216" y="240030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2400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230428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Hoje, o fluxo de informação é de mão única: Programa de Integridade → reduz sanção do PAR</a:t>
            </a:r>
            <a:endParaRPr lang="en-US" sz="1000" dirty="0"/>
          </a:p>
        </p:txBody>
      </p:sp>
      <p:sp>
        <p:nvSpPr>
          <p:cNvPr id="17" name="Card 2"/>
          <p:cNvSpPr/>
          <p:nvPr/>
        </p:nvSpPr>
        <p:spPr>
          <a:xfrm>
            <a:off x="457200" y="2924683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2"/>
          <p:cNvSpPr/>
          <p:nvPr/>
        </p:nvSpPr>
        <p:spPr>
          <a:xfrm>
            <a:off x="585216" y="3020695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30206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2924683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Falta o fluxo inverso: resultado do PAR → impacto nos programas de conformidade</a:t>
            </a:r>
            <a:endParaRPr lang="en-US" sz="1000" dirty="0"/>
          </a:p>
        </p:txBody>
      </p:sp>
      <p:sp>
        <p:nvSpPr>
          <p:cNvPr id="21" name="Card 3"/>
          <p:cNvSpPr/>
          <p:nvPr/>
        </p:nvSpPr>
        <p:spPr>
          <a:xfrm>
            <a:off x="457200" y="354507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 3"/>
          <p:cNvSpPr/>
          <p:nvPr/>
        </p:nvSpPr>
        <p:spPr>
          <a:xfrm>
            <a:off x="585216" y="364109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" y="36410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24128" y="354507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Uma sanção definitiva no PAR é prova objetiva de falha nos controles internos — exatamente o que Confia, Sintonia e OEA se propõem a avaliar</a:t>
            </a:r>
            <a:endParaRPr lang="en-US" sz="1000" dirty="0"/>
          </a:p>
        </p:txBody>
      </p:sp>
      <p:sp>
        <p:nvSpPr>
          <p:cNvPr id="25" name="Card 4"/>
          <p:cNvSpPr/>
          <p:nvPr/>
        </p:nvSpPr>
        <p:spPr>
          <a:xfrm>
            <a:off x="457200" y="4165473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 4"/>
          <p:cNvSpPr/>
          <p:nvPr/>
        </p:nvSpPr>
        <p:spPr>
          <a:xfrm>
            <a:off x="585216" y="4261485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5216" y="42614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24128" y="4165473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Peso diferenciado sugerido: sanção definitiva após processo litigioso ≠ acordo de leniência com colaboração ativa</a:t>
            </a:r>
            <a:endParaRPr lang="en-US" sz="1000" dirty="0"/>
          </a:p>
        </p:txBody>
      </p:sp>
      <p:sp>
        <p:nvSpPr>
          <p:cNvPr id="29" name="Card 5"/>
          <p:cNvSpPr/>
          <p:nvPr/>
        </p:nvSpPr>
        <p:spPr>
          <a:xfrm>
            <a:off x="457200" y="4785868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 5"/>
          <p:cNvSpPr/>
          <p:nvPr/>
        </p:nvSpPr>
        <p:spPr>
          <a:xfrm>
            <a:off x="585216" y="4881880"/>
            <a:ext cx="310896" cy="3108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" y="488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478586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Não há, hoje, previsão normativa expressa cruzando PAR e elegibilidade nesses programas — uma lacuna identificada pela experiência da Coger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Sinergia com a Fiscalização e a Aduana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864616"/>
          </a:xfrm>
          <a:prstGeom prst="roundRect">
            <a:avLst>
              <a:gd name="adj" fmla="val 84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73990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7399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Subsecretaria de Fiscalização: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ações fiscais frequentemente identificam elementos que também configuram ato lesivo — vantagem indevida a agente público vinculada a esquema de fraude, ocultação de beneficiário real via estrutura societária artificial (art. 5º, II e III), resistência sistemática e deliberada à ação fiscal (art. 5º, V) — sem que isso seja, hoje, objetivo direto da autuação em si</a:t>
            </a:r>
            <a:endParaRPr lang="en-US" sz="1100" dirty="0"/>
          </a:p>
        </p:txBody>
      </p:sp>
      <p:sp>
        <p:nvSpPr>
          <p:cNvPr id="9" name="Card 2"/>
          <p:cNvSpPr/>
          <p:nvPr/>
        </p:nvSpPr>
        <p:spPr>
          <a:xfrm>
            <a:off x="457200" y="2543683"/>
            <a:ext cx="8229600" cy="864616"/>
          </a:xfrm>
          <a:prstGeom prst="roundRect">
            <a:avLst>
              <a:gd name="adj" fmla="val 84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820543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8205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543683"/>
            <a:ext cx="7498080" cy="864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Suana (Subsecretaria de Administração Aduaneira):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interposição fraudulenta já gera perdimento da mercadoria (Decreto-Lei nº 1.455, de 7 de abril de 1976); quando associada a vantagem indevida a agente público para viabilizar o desembaraço, configura também ato lesivo autônomo à Lei nº 12.846, de 2013 — hoje essas duas esferas tramitam de forma desconectada</a:t>
            </a:r>
            <a:endParaRPr lang="en-US" sz="1100" dirty="0"/>
          </a:p>
        </p:txBody>
      </p:sp>
      <p:sp>
        <p:nvSpPr>
          <p:cNvPr id="13" name="Card 3"/>
          <p:cNvSpPr/>
          <p:nvPr/>
        </p:nvSpPr>
        <p:spPr>
          <a:xfrm>
            <a:off x="457200" y="3624326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72033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72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62432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 ambos os casos, hoje não há canal formal e conhecido de encaminhamento desses indícios à Coger</a:t>
            </a:r>
            <a:endParaRPr lang="en-US" sz="1100" dirty="0"/>
          </a:p>
        </p:txBody>
      </p:sp>
      <p:sp>
        <p:nvSpPr>
          <p:cNvPr id="17" name="Etapa 1"/>
          <p:cNvSpPr/>
          <p:nvPr/>
        </p:nvSpPr>
        <p:spPr>
          <a:xfrm>
            <a:off x="45720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Indício identificado</a:t>
            </a:r>
            <a:endParaRPr lang="en-US" sz="1100" dirty="0"/>
          </a:p>
        </p:txBody>
      </p:sp>
      <p:sp>
        <p:nvSpPr>
          <p:cNvPr id="19" name="Seta 1"/>
          <p:cNvSpPr/>
          <p:nvPr/>
        </p:nvSpPr>
        <p:spPr>
          <a:xfrm>
            <a:off x="234543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Etapa 2"/>
          <p:cNvSpPr/>
          <p:nvPr/>
        </p:nvSpPr>
        <p:spPr>
          <a:xfrm>
            <a:off x="258318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318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Canal de encaminhamento</a:t>
            </a:r>
            <a:endParaRPr lang="en-US" sz="1100" dirty="0"/>
          </a:p>
        </p:txBody>
      </p:sp>
      <p:sp>
        <p:nvSpPr>
          <p:cNvPr id="22" name="Seta 2"/>
          <p:cNvSpPr/>
          <p:nvPr/>
        </p:nvSpPr>
        <p:spPr>
          <a:xfrm>
            <a:off x="447141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Etapa 3"/>
          <p:cNvSpPr/>
          <p:nvPr/>
        </p:nvSpPr>
        <p:spPr>
          <a:xfrm>
            <a:off x="470916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916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Coger avalia</a:t>
            </a:r>
            <a:endParaRPr lang="en-US" sz="1100" dirty="0"/>
          </a:p>
        </p:txBody>
      </p:sp>
      <p:sp>
        <p:nvSpPr>
          <p:cNvPr id="25" name="Seta 3"/>
          <p:cNvSpPr/>
          <p:nvPr/>
        </p:nvSpPr>
        <p:spPr>
          <a:xfrm>
            <a:off x="659739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Etapa 4"/>
          <p:cNvSpPr/>
          <p:nvPr/>
        </p:nvSpPr>
        <p:spPr>
          <a:xfrm>
            <a:off x="683514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3514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Investigação Preliminar (sigilosa)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CONFORMIDADE E SINERGIAS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Sinergia com a Logística e a Inteligência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926592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77088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770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Copol (Coordenação-Geral de Programação e Logística):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gestão de licitações e contratos administrativos de âmbito nacional, posição privilegiada para identificar sinais de conluio entre licitantes, direcionamento de edital ou execução contratual em desacordo com o pactuado — art. 5º, IV, o mais extenso do rol, com sete alíneas dedicadas a esse tipo de fraude</a:t>
            </a:r>
            <a:endParaRPr lang="en-US" sz="1200" dirty="0"/>
          </a:p>
        </p:txBody>
      </p:sp>
      <p:sp>
        <p:nvSpPr>
          <p:cNvPr id="9" name="Card 2"/>
          <p:cNvSpPr/>
          <p:nvPr/>
        </p:nvSpPr>
        <p:spPr>
          <a:xfrm>
            <a:off x="457200" y="2535936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508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508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535936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Copei (Coordenação-Geral de Pesquisa e Investigação):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 natureza, já produz relatórios de inteligência e investigação que frequentemente contêm, em si, elementos de autoria e materialidade de atos lesivos — é a área com maior proximidade metodológica ao próprio trabalho da Coger</a:t>
            </a:r>
            <a:endParaRPr lang="en-US" sz="1200" dirty="0"/>
          </a:p>
        </p:txBody>
      </p:sp>
      <p:sp>
        <p:nvSpPr>
          <p:cNvPr id="13" name="Card 3"/>
          <p:cNvSpPr/>
          <p:nvPr/>
        </p:nvSpPr>
        <p:spPr>
          <a:xfrm>
            <a:off x="457200" y="3422904"/>
            <a:ext cx="8229600" cy="554736"/>
          </a:xfrm>
          <a:prstGeom prst="roundRect">
            <a:avLst>
              <a:gd name="adj" fmla="val 131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5448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544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422904"/>
            <a:ext cx="7498080" cy="554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Diálogo direto com a Lei nº 14.133, de 1º de abril de 2021 (Nova Lei de Licitações), no caso da Copol</a:t>
            </a:r>
            <a:endParaRPr lang="en-US" sz="1200" dirty="0"/>
          </a:p>
        </p:txBody>
      </p:sp>
      <p:sp>
        <p:nvSpPr>
          <p:cNvPr id="17" name="Etapa 1"/>
          <p:cNvSpPr/>
          <p:nvPr/>
        </p:nvSpPr>
        <p:spPr>
          <a:xfrm>
            <a:off x="45720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Indício identificado</a:t>
            </a:r>
            <a:endParaRPr lang="en-US" sz="1100" dirty="0"/>
          </a:p>
        </p:txBody>
      </p:sp>
      <p:sp>
        <p:nvSpPr>
          <p:cNvPr id="19" name="Seta 1"/>
          <p:cNvSpPr/>
          <p:nvPr/>
        </p:nvSpPr>
        <p:spPr>
          <a:xfrm>
            <a:off x="234543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Etapa 2"/>
          <p:cNvSpPr/>
          <p:nvPr/>
        </p:nvSpPr>
        <p:spPr>
          <a:xfrm>
            <a:off x="258318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58318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Canal de encaminhamento</a:t>
            </a:r>
            <a:endParaRPr lang="en-US" sz="1100" dirty="0"/>
          </a:p>
        </p:txBody>
      </p:sp>
      <p:sp>
        <p:nvSpPr>
          <p:cNvPr id="22" name="Seta 2"/>
          <p:cNvSpPr/>
          <p:nvPr/>
        </p:nvSpPr>
        <p:spPr>
          <a:xfrm>
            <a:off x="447141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Etapa 3"/>
          <p:cNvSpPr/>
          <p:nvPr/>
        </p:nvSpPr>
        <p:spPr>
          <a:xfrm>
            <a:off x="470916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70916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Coger avalia</a:t>
            </a:r>
            <a:endParaRPr lang="en-US" sz="1100" dirty="0"/>
          </a:p>
        </p:txBody>
      </p:sp>
      <p:sp>
        <p:nvSpPr>
          <p:cNvPr id="25" name="Seta 3"/>
          <p:cNvSpPr/>
          <p:nvPr/>
        </p:nvSpPr>
        <p:spPr>
          <a:xfrm>
            <a:off x="6597396" y="4261104"/>
            <a:ext cx="201168" cy="210312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Etapa 4"/>
          <p:cNvSpPr/>
          <p:nvPr/>
        </p:nvSpPr>
        <p:spPr>
          <a:xfrm>
            <a:off x="6835140" y="4114800"/>
            <a:ext cx="18516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35140" y="4114800"/>
            <a:ext cx="185166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Investigação Preliminar (sigilosa)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CAMINHOS DE COLABORAÇÃO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Como representar à Coger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87146"/>
          </a:xfrm>
          <a:prstGeom prst="roundRect">
            <a:avLst>
              <a:gd name="adj" fmla="val 92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701165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70116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87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Elementos mínimos de uma representação bem formada: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fato descrito objetivamente; enquadramento aparente no art. 5º (qual inciso); documentos ou evidências já disponíveis; identificação da pessoa jurídica envolvida</a:t>
            </a:r>
            <a:endParaRPr lang="en-US" sz="1300" dirty="0"/>
          </a:p>
        </p:txBody>
      </p:sp>
      <p:sp>
        <p:nvSpPr>
          <p:cNvPr id="9" name="Card 2"/>
          <p:cNvSpPr/>
          <p:nvPr/>
        </p:nvSpPr>
        <p:spPr>
          <a:xfrm>
            <a:off x="457200" y="2468880"/>
            <a:ext cx="8229600" cy="585724"/>
          </a:xfrm>
          <a:prstGeom prst="roundRect">
            <a:avLst>
              <a:gd name="adj" fmla="val 12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60629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6062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68880"/>
            <a:ext cx="7498080" cy="58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Não é necessário: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prova plena, qualificação jurídica do enquadramento, ou certeza sobre o resultado final — isso é tarefa da Coger na Investigação Preliminar</a:t>
            </a:r>
            <a:endParaRPr lang="en-US" sz="1300" dirty="0"/>
          </a:p>
        </p:txBody>
      </p:sp>
      <p:sp>
        <p:nvSpPr>
          <p:cNvPr id="13" name="Card 3"/>
          <p:cNvSpPr/>
          <p:nvPr/>
        </p:nvSpPr>
        <p:spPr>
          <a:xfrm>
            <a:off x="457200" y="3273298"/>
            <a:ext cx="8229600" cy="585724"/>
          </a:xfrm>
          <a:prstGeom prst="roundRect">
            <a:avLst>
              <a:gd name="adj" fmla="val 12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585216" y="34107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" y="3410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" y="3273298"/>
            <a:ext cx="7498080" cy="58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Canal: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[Ponto de contato institucional a definir — ex.: ofício/memorando ao Gabinete da Coger, ou sistema interno específico]</a:t>
            </a:r>
            <a:endParaRPr lang="en-US" sz="1300" dirty="0"/>
          </a:p>
        </p:txBody>
      </p:sp>
      <p:sp>
        <p:nvSpPr>
          <p:cNvPr id="17" name="Card 4"/>
          <p:cNvSpPr/>
          <p:nvPr/>
        </p:nvSpPr>
        <p:spPr>
          <a:xfrm>
            <a:off x="457200" y="4077716"/>
            <a:ext cx="8229600" cy="585724"/>
          </a:xfrm>
          <a:prstGeom prst="roundRect">
            <a:avLst>
              <a:gd name="adj" fmla="val 124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 4"/>
          <p:cNvSpPr/>
          <p:nvPr/>
        </p:nvSpPr>
        <p:spPr>
          <a:xfrm>
            <a:off x="585216" y="421513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2151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24128" y="4077716"/>
            <a:ext cx="7498080" cy="58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 que acontece depois: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indício recebido alimenta uma possível Investigação Preliminar, sigilosa — sem exposição imediata da área de origem nem da empresa (Slide 14)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CAMINHOS DE COLABORAÇÃO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Convite institucional: grupo de trabalho com as áreas de conformidade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81737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81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reflexão da mão dupla (Slide 39) não avança sem a colaboração das áreas responsáveis por Confia, Sintonia, OEA e Receita de Consenso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775204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312953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31295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775204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Convite concreto: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grupo de trabalho conjunto Coger + áreas de conformidade para estudar a viabilidade e o desenho dessa integração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CAMINHOS DE COLABORAÇÃO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Convite prático: canal permanente com Fiscalização, Aduana, Logística e Inteligência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81737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8173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Para quem representa a Subsecretaria de Fiscalização, a Suana, a Copol e a Copei: proposta de indicação de um ponto focal de contato com a Coger em cada área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775204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312953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31295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775204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Objetivo inicial modesto: canal simples e conhecido, não um novo processo burocrático — pode começar de forma informal e amadurecer com o tempo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CAMINHOS DE COLABORAÇÃO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Prevenção como eixo estratégico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67792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677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Quanto mais eficazes os programas de conformidade, menor a demanda futura por PARs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496312"/>
            <a:ext cx="8229600" cy="740664"/>
          </a:xfrm>
          <a:prstGeom prst="roundRect">
            <a:avLst>
              <a:gd name="adj" fmla="val 98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7111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7111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496312"/>
            <a:ext cx="7498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Coger não busca punir por punir — busca fortalecer a integridade do ambiente de negócios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CAMINHOS DE COLABORAÇÃO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Fechamento institucional</a:t>
            </a:r>
            <a:endParaRPr lang="en-US" sz="2400" dirty="0"/>
          </a:p>
        </p:txBody>
      </p:sp>
      <p:sp>
        <p:nvSpPr>
          <p:cNvPr id="5" name="Card 1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585216" y="15590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5590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PAR é parte de um ecossistema maior de integridade na RFB</a:t>
            </a:r>
            <a:endParaRPr lang="en-US" sz="1800" dirty="0"/>
          </a:p>
        </p:txBody>
      </p:sp>
      <p:sp>
        <p:nvSpPr>
          <p:cNvPr id="9" name="Card 2"/>
          <p:cNvSpPr/>
          <p:nvPr/>
        </p:nvSpPr>
        <p:spPr>
          <a:xfrm>
            <a:off x="457200" y="2258568"/>
            <a:ext cx="8229600" cy="1019556"/>
          </a:xfrm>
          <a:prstGeom prst="roundRect">
            <a:avLst>
              <a:gd name="adj" fmla="val 71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585216" y="261289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26128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" y="2258568"/>
            <a:ext cx="749808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Coger, Confia, Sintonia, OEA, Receita de Consenso, Fiscalização, Aduana, Logística, Inteligência: instrumentos e áreas complementares — cada um fazendo sua parte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o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PERGUNTAS E DEBATE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Perguntas e debate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[Contato institucional para dúvidas posteriores]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otivo"/>
          <p:cNvSpPr/>
          <p:nvPr/>
        </p:nvSpPr>
        <p:spPr>
          <a:xfrm>
            <a:off x="7406640" y="-822960"/>
            <a:ext cx="2926080" cy="292608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PERGUNTAS E DEBATE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Obrigado(a)!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[E-mail institucional / canal de contato da Coger]  ·  [Referência ao Manual Teórico-Prático da Calculadora de Sanções PAR, se aplicável divulgar]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 Coger">
  <a:themeElements>
    <a:clrScheme name="PAR Coger">
      <a:dk1>
        <a:srgbClr val="14213D"/>
      </a:dk1>
      <a:lt1>
        <a:srgbClr val="FFFFFF"/>
      </a:lt1>
      <a:dk2>
        <a:srgbClr val="0B1F3A"/>
      </a:dk2>
      <a:lt2>
        <a:srgbClr val="EDF1F6"/>
      </a:lt2>
      <a:accent1>
        <a:srgbClr val="0F766E"/>
      </a:accent1>
      <a:accent2>
        <a:srgbClr val="C9A227"/>
      </a:accent2>
      <a:accent3>
        <a:srgbClr val="1D4E89"/>
      </a:accent3>
      <a:accent4>
        <a:srgbClr val="B4472F"/>
      </a:accent4>
      <a:accent5>
        <a:srgbClr val="6B7A90"/>
      </a:accent5>
      <a:accent6>
        <a:srgbClr val="2E7D5B"/>
      </a:accent6>
      <a:hlink>
        <a:srgbClr val="1D4E89"/>
      </a:hlink>
      <a:folHlink>
        <a:srgbClr val="6B7A90"/>
      </a:folHlink>
    </a:clrScheme>
    <a:fontScheme name="PAR Co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Processo Administrativo de Responsabilização (PAR) na RFB — Atuação da Coger</dc:title>
  <dc:subject>PptxGenJS Presentation</dc:subject>
  <dc:creator>Coger/RFB</dc:creator>
  <cp:lastModifiedBy>Coger/RFB</cp:lastModifiedBy>
  <cp:revision>1</cp:revision>
  <dcterms:created xsi:type="dcterms:W3CDTF">2026-10-02T11:01:02Z</dcterms:created>
  <dcterms:modified xsi:type="dcterms:W3CDTF">2026-10-02T11:01:02Z</dcterms:modified>
</cp:coreProperties>
</file>